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5" r:id="rId1"/>
  </p:sldMasterIdLst>
  <p:notesMasterIdLst>
    <p:notesMasterId r:id="rId45"/>
  </p:notesMasterIdLst>
  <p:sldIdLst>
    <p:sldId id="256" r:id="rId2"/>
    <p:sldId id="257" r:id="rId3"/>
    <p:sldId id="258" r:id="rId4"/>
    <p:sldId id="259" r:id="rId5"/>
    <p:sldId id="304" r:id="rId6"/>
    <p:sldId id="260" r:id="rId7"/>
    <p:sldId id="297" r:id="rId8"/>
    <p:sldId id="261" r:id="rId9"/>
    <p:sldId id="262" r:id="rId10"/>
    <p:sldId id="264" r:id="rId11"/>
    <p:sldId id="277" r:id="rId12"/>
    <p:sldId id="298" r:id="rId13"/>
    <p:sldId id="278" r:id="rId14"/>
    <p:sldId id="279" r:id="rId15"/>
    <p:sldId id="280" r:id="rId16"/>
    <p:sldId id="299" r:id="rId17"/>
    <p:sldId id="281" r:id="rId18"/>
    <p:sldId id="292" r:id="rId19"/>
    <p:sldId id="267" r:id="rId20"/>
    <p:sldId id="282" r:id="rId21"/>
    <p:sldId id="283" r:id="rId22"/>
    <p:sldId id="293" r:id="rId23"/>
    <p:sldId id="286" r:id="rId24"/>
    <p:sldId id="294" r:id="rId25"/>
    <p:sldId id="265" r:id="rId26"/>
    <p:sldId id="295" r:id="rId27"/>
    <p:sldId id="285" r:id="rId28"/>
    <p:sldId id="284" r:id="rId29"/>
    <p:sldId id="296" r:id="rId30"/>
    <p:sldId id="303" r:id="rId31"/>
    <p:sldId id="287" r:id="rId32"/>
    <p:sldId id="288" r:id="rId33"/>
    <p:sldId id="263" r:id="rId34"/>
    <p:sldId id="266" r:id="rId35"/>
    <p:sldId id="301" r:id="rId36"/>
    <p:sldId id="305" r:id="rId37"/>
    <p:sldId id="289" r:id="rId38"/>
    <p:sldId id="306" r:id="rId39"/>
    <p:sldId id="302" r:id="rId40"/>
    <p:sldId id="275" r:id="rId41"/>
    <p:sldId id="268" r:id="rId42"/>
    <p:sldId id="269" r:id="rId43"/>
    <p:sldId id="270" r:id="rId4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5A480"/>
    <a:srgbClr val="8B8CDF"/>
    <a:srgbClr val="B5758A"/>
    <a:srgbClr val="D3B4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5740"/>
    <p:restoredTop sz="74041"/>
  </p:normalViewPr>
  <p:slideViewPr>
    <p:cSldViewPr snapToGrid="0" snapToObjects="1">
      <p:cViewPr varScale="1">
        <p:scale>
          <a:sx n="95" d="100"/>
          <a:sy n="95" d="100"/>
        </p:scale>
        <p:origin x="872"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1819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Say:
Welcome everyone to today's training on Claude Code skills. I'm [your name], and over the next session we'll explore how skills let you extend Claude Code's capabilities with reusable, shareable instruction sets. Whether you want to standardize code review, automate deployment checks, or create custom workflows, skills give you a powerful mechanism to teach Claude new behaviors. By the end, you'll be able to build, configure, and share your own skills.
Do:
- Confirm everyone has Claude Code installed and can access the CLI (approximately 2 minutes)
- Share any setup links in chat
- Mention this is a developer-focused, hands-on session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Say:
Here's our roadmap for today. We'll start with skills fundamentals — what they are, where they live, and how Claude discovers them. Then we'll move into building and configuring skills, where you'll learn about content types, frontmatter, and dynamic content. Our third section covers security and execution — the permission model, subagent sandboxing, and enterprise controls. Finally, we'll put skills in broader context by comparing them with other extension approaches and covering troubleshooting. We'll have knowledge checks throughout to keep things interactive.
Do:
- Walk through each section briefly (approximately 1 minute)
- Set time expectations — roughly 15-20 minutes per section
- Ask if anyone has specific topics they're most interested 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Say:
By the end of this session, you should be able to do four things. First, explain what skills are and how they differ from other Claude Code extension mechanisms like CLAUDE.md or MCP. Second, create a skill from scratch with proper frontmatter, content, and directory structure. Third, describe the security model — how permissions, subagent execution, and enterprise policies work together. And fourth, troubleshoot common issues using the resolution chain and debugging tools.
Do:
- Read each objective aloud (approximately 1 minute)
- Ask if there are additional learning goals from the audience
- Emphasize the hands-on exercise later in the session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Skills fundamentals
Say:
Let's start with the foundations. In this section, we'll define what skills are, understand how Claude discovers and loads them, and look at the directory structure that makes it all work. If you've ever wished you could give Claude a set of reusable instructions for a specific task, that's exactly what skills enable.
Do:
- Transition from objectives to first content section (approximately 30 seconds)
- Ask: "Has anyone already created or used custom skills in Claude Code?"
- FACILITATOR REMINDER: In Section 4, use this spaced retrieval question: "Quick — what's the resolution order for skills? Project, user, or installed first?"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placeholder
Say:
Before we dive into the concepts, let’s watch a short video that introduces skills in action. This will give you a concrete picture of what we’ll be building toward in this session.
Do:
- Play the video (approximately 2–4 minutes depending on video length)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skills concepts
Say:
A skill is a markdown file — SKILL.md — that contains instructions Claude loads on demand to handle specific tasks. Think of it as a specialized playbook. Unlike CLAUDE.md, which is always loaded for a project, skills are triggered only when relevant, keeping context efficient. Skills are discovered through the description in their frontmatter, and Claude matches them to user requests automatically. The key insight is that skills are composable — you can build small, focused skills that combine to handle complex workflows.
Do:
- Emphasize the difference between always-on (CLAUDE.md) and on-demand (skills) (approximately 3 minutes)
- Ask: "Why might on-demand loading be preferable to putting everything in CLAUDE.md?"
- Transition: "Now let's see where these skill files actually live on disk."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[Progressive Disclosure]
Say:
Skills use a three-level loading system that's key to understanding why the folder structure matters. Level 1 is your YAML frontmatter — this is ALWAYS loaded into Claude's system prompt, every conversation. That's why keeping it concise matters so much. Level 2 is the SKILL.md body — Claude only reads this when it thinks the skill is relevant. And Level 3 is everything else in the folder — scripts, references, assets — which Claude discovers and loads on demand during execution. This progressive approach means you're not burning tokens on skills that aren't needed.
Do:
- Draw the three levels as a funnel on a whiteboard if available
- Ask: "Why would loading everything into every conversation be a problem?" (answer: token budget, slower responses)
- Transition: "Now that you understand the architecture, let's look at where skills actually live on your system."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skills live
Say:
Skills live at four levels, each with a clear priority. Enterprise skills, deployed via managed settings, have the highest priority and override everything else. Next are personal skills in ~/.claude/skills/ — available across all your projects. Then project skills in .claude/skills/, scoped to a single repo. And finally plugin skills, which have the lowest priority and use a plugin-name:skill-name namespace so they never collide with other levels. When skills share the same name across levels, higher-priority locations win: enterprise over personal over project. This means an enterprise-deployed code-review skill will always take precedence over a personal one with the same name.
Do:
- Walk through each scope with the corresponding path (approximately 3 minutes)
- Emphasize the priority order: enterprise &gt; personal &gt; project &gt; plugin
- Draw the resolution order on a whiteboard or shared screen if possible
- Ask: “Which scope would you use for a team coding standard? For a personal workflow preference?”
- Transition: “Let’s look at what a skill directory actually contains.”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 directory structure
Say:
Each skill lives in its own folder under the skills directory. The required file is SKILL.md — that's what Claude reads for instructions. You can optionally include supporting files like scripts, templates, or reference data. Here's a minimal example: .claude/skills/code-review/ contains SKILL.md with the review instructions. A more complex skill might include a linting config, a template for review output, or helper scripts. The folder name becomes the skill's identifier, so keep it descriptive and kebab-case.
Do:
- Show the directory tree in a terminal or on screen (approximately 3 minutes)
- Demonstrate creating a skill folder: mkdir -p .claude/skills/code-review
- Show what happens when Claude lists available skills
- Transition: "Now that you know where skills live and what they look like, let's check your understanding."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Skill scopes
Say:
Let's do a quick knowledge check. Read the question and take a moment to think about your answer before we discuss.
Do:
- Give 30 seconds for participants to read and think (approximately 2 minutes)
- Ask for a show of hands or poll for each option
- Correct answer: B — ~/.claude/skills/ is the user scope, which makes skills available across all projects without committing to any repository
- Explain why A is wrong: project scope is tied to a specific repo
- Explain why C is wrong: there is no system-wide /etc/ config for Claude
- Explain why D is wrong: CLAUDE.md is for project-level instructions, not portable skills
- Transition: "Great. Now let's move into actually building a skill."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Building and configuring skills
Say:
Now that you understand the fundamentals, let's get hands-on with building skills. But first — turn to a neighbor and take 60 seconds to discuss: what's one repetitive task in your workflow that could become a skill? We'll share a few ideas before diving in.
Do:
- Think-pair-share: 60 seconds in pairs, then ask 2-3 people to share (approximately 3 minutes total)
- Write ideas on a shared board — these become concrete examples throughout the section
- Then transition: "Great ideas. We'll cover the content types you can use in SKILL.md, the frontmatter metadata, and substitution variables. By the end of this section, you'll have built a skill from scratch."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[Problem-First vs Tool-First]
Say:
Before you write a single line of your skill, you need to make a design decision. Think of it like Home Depot — you might walk in with a problem, "I need to fix a kitchen cabinet," and an employee points you to the right tools. Or you might pick out a new drill and ask how to use it for your specific job. Skills work the same way. Problem-first skills orchestrate tools to achieve an outcome. Tool-first skills teach Claude the best way to use tools the user already has. Most skills lean one direction — knowing which framing fits your use case helps you choose the right design pattern.
Do:
- Quick poll: "Who has an MCP server they want to enhance?" vs "Who wants to automate a multi-step workflow?"
- This maps directly to the design patterns we'll cover later
- Transition: "With your approach chosen, let's build your first skill."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your first skill
Say:
Let's walk through creating a skill step by step. First, create the directory — mkdir -p .claude/skills/my-skill. Then create SKILL.md inside it. Start with the frontmatter block: three dashes, then your description field that tells Claude when to trigger this skill. Close with three dashes. Below the frontmatter, write your instructions in markdown. The description is critical — it's how Claude decides whether to load your skill. Make it specific and action-oriented: "Use this skill when the user asks to review Python code for style and correctness" is much better than "Code review skill."
Do:
- Live demo if possible: create a skill directory and file in real time (approximately 4 minutes)
- Show the frontmatter syntax with description field
- Emphasize description quality — this is the most common mistake
- Ask: "What would happen if your description is too vague?"
- Transition: "Now let's look at the different content types you can use inside SKILL.md."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types and authoring
Say: There are four types of content you can include in a </a:t>
            </a:r>
            <a:r>
              <a:rPr lang="en-US" dirty="0" err="1"/>
              <a:t>SKILL.md</a:t>
            </a:r>
            <a:r>
              <a:rPr lang="en-US" dirty="0"/>
              <a:t> file. Let's walk through each one.</a:t>
            </a:r>
          </a:p>
          <a:p>
            <a:endParaRPr lang="en-US" b="1" dirty="0"/>
          </a:p>
          <a:p>
            <a:r>
              <a:rPr lang="en-US" b="1" dirty="0"/>
              <a:t>Reference content</a:t>
            </a:r>
            <a:r>
              <a:rPr lang="en-US" dirty="0"/>
              <a:t> is knowledge that Claude keeps available throughout the conversation — things like coding standards, API patterns, and domain conventions. It runs inline and is always active.</a:t>
            </a:r>
          </a:p>
          <a:p>
            <a:endParaRPr lang="en-US" b="1" dirty="0"/>
          </a:p>
          <a:p>
            <a:r>
              <a:rPr lang="en-US" b="1" dirty="0"/>
              <a:t>Task content</a:t>
            </a:r>
            <a:r>
              <a:rPr lang="en-US" dirty="0"/>
              <a:t> is different — these are step-by-step instructions for specific actions like deploying or committing. You'll often see these paired with </a:t>
            </a:r>
            <a:r>
              <a:rPr lang="en-US" sz="1200" kern="1200" dirty="0">
                <a:solidFill>
                  <a:schemeClr val="tx1"/>
                </a:solidFill>
                <a:latin typeface="+mn-lt"/>
                <a:ea typeface="+mn-ea"/>
                <a:cs typeface="+mn-cs"/>
              </a:rPr>
              <a:t>disable-model-invocation: true</a:t>
            </a:r>
            <a:r>
              <a:rPr lang="en-US" dirty="0"/>
              <a:t> to keep Claude focused on following the steps exactly.</a:t>
            </a:r>
          </a:p>
          <a:p>
            <a:endParaRPr lang="en-US" b="1" dirty="0"/>
          </a:p>
          <a:p>
            <a:r>
              <a:rPr lang="en-US" b="1" dirty="0"/>
              <a:t>Supporting files</a:t>
            </a:r>
            <a:r>
              <a:rPr lang="en-US" dirty="0"/>
              <a:t> are the templates, examples, and scripts that live in your skill directory alongside </a:t>
            </a:r>
            <a:r>
              <a:rPr lang="en-US" dirty="0" err="1"/>
              <a:t>SKILL.md</a:t>
            </a:r>
            <a:r>
              <a:rPr lang="en-US" dirty="0"/>
              <a:t>. They're referenced from the </a:t>
            </a:r>
            <a:r>
              <a:rPr lang="en-US" dirty="0" err="1"/>
              <a:t>SKILL.md</a:t>
            </a:r>
            <a:r>
              <a:rPr lang="en-US" dirty="0"/>
              <a:t> but only loaded on demand, which is why we recommend keeping your </a:t>
            </a:r>
            <a:r>
              <a:rPr lang="en-US" dirty="0" err="1"/>
              <a:t>SKILL.md</a:t>
            </a:r>
            <a:r>
              <a:rPr lang="en-US" dirty="0"/>
              <a:t> under 500 lines — let the supporting files carry the weight.</a:t>
            </a:r>
          </a:p>
          <a:p>
            <a:endParaRPr lang="en-US" b="1" dirty="0"/>
          </a:p>
          <a:p>
            <a:r>
              <a:rPr lang="en-US" b="1" dirty="0"/>
              <a:t>Efficient scripts</a:t>
            </a:r>
            <a:r>
              <a:rPr lang="en-US" dirty="0"/>
              <a:t> are designed to execute without being loaded into context. Only their output counts toward your token usage. The key instruction pattern here is to tell Claude to </a:t>
            </a:r>
            <a:r>
              <a:rPr lang="en-US" i="1" dirty="0"/>
              <a:t>run</a:t>
            </a:r>
            <a:r>
              <a:rPr lang="en-US" dirty="0"/>
              <a:t> the script, not </a:t>
            </a:r>
            <a:r>
              <a:rPr lang="en-US" i="1" dirty="0"/>
              <a:t>read</a:t>
            </a:r>
            <a:r>
              <a:rPr lang="en-US" dirty="0"/>
              <a:t> it."</a:t>
            </a:r>
          </a:p>
          <a:p>
            <a:endParaRPr lang="en-US" dirty="0"/>
          </a:p>
          <a:p>
            <a:r>
              <a:rPr lang="en-US" dirty="0"/>
              <a:t>Do:</a:t>
            </a:r>
          </a:p>
          <a:p>
            <a:r>
              <a:rPr lang="en-US" dirty="0"/>
              <a:t>Walk through each quadrant one at a time, pausing briefly on each (~3 minutes total)</a:t>
            </a:r>
          </a:p>
          <a:p>
            <a:r>
              <a:rPr lang="en-US" dirty="0"/>
              <a:t>Highlight the practical distinction: reference content is "always on" while task content is "on demand"</a:t>
            </a:r>
          </a:p>
          <a:p>
            <a:r>
              <a:rPr lang="en-US" dirty="0"/>
              <a:t>Ask: "What's the advantage of using code blocks versus inline descriptions for examples?"</a:t>
            </a:r>
          </a:p>
          <a:p>
            <a:r>
              <a:rPr lang="en-US" dirty="0"/>
              <a:t>Transition: "Next, let's dive deeper into the frontmatter metadata."</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Frontmatter and metadata
Say:
The frontmatter block at the top of SKILL.md controls how Claude discovers and uses your skill. The description field is the most important — it’s recommended but technically not required. If you omit it, Claude falls back to the first paragraph of your SKILL.md body, but that’s rarely what you want. All other fields shown here are optional and default to sensible values. The description should be a clear, specific statement of when the skill applies. Avoid generic descriptions like “helps with coding” — instead, say exactly what the skill does and when it should activate. Think of it as writing a function signature: precise inputs and outputs.
Do:
- Show a complete frontmatter example with all supported fields (approximately 3 minutes)
- Clarify: description is recommended, not strictly required — but always include one
- Demo: change a description and show how it affects skill matching
- Highlight common pitfalls: descriptions that are too broad or too narrow
- Transition: “Skills can also use dynamic content through substitution variables.”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Effective Descriptions]
Say:
The description field is arguably the most important part of your skill. It's the first level of progressive disclosure — what Claude reads to decide whether to load your skill. A bad description means your skill never triggers, or triggers for the wrong things. The formula is simple: what it does, when to use it, and key capabilities. Notice the good example includes specific trigger phrases users would actually say — "design specs," "component documentation." The bad examples are either too vague or too technical with no user-facing triggers. This is the number one reason skills fail in practice.
Do:
- Have participants draft a description for their own skill idea using the formula
- Share 2-3 descriptions and critique as a group: does it have triggers? Is it specific enough?
- Transition: "Now that you can write a good description, let's look at the rest of the frontmatter."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Substitutions and dynamic content
Say:
Substitution variables let your skills adapt to different contexts using dollar-sign syntax. There are two kinds on screen: user-provided arguments and environment variables. Arguments use $ARGUMENTS for the full string, $ARGUMENTS[N] for a specific positional arg, or the shorthand $0, $1, $2. These are what the user types after the slash command — for example, /migrate Button React Vue gives you $0 equals Button, $1 equals React, $2 equals Vue. Environment variables like ${CLAUDE_SESSION_ID} are resolved automatically at load time by the system. One important detail: if your SKILL.md doesn’t reference $ARGUMENTS anywhere, Claude auto-appends the user’s arguments at the end. Positional args require exact order, so document expected arguments clearly.
Do:
- Walk through each variable type on the slide (approximately 3 minutes)
- Demo: create a skill with $0 and $1, invoke it with /skill-name arg1 arg2, show resolved values
- Emphasize: arguments come from the user at invocation, environment variables come from the system at load time
- Ask: “If you wanted a skill to behave differently per-project, would you use arguments or an environment variable?”
- Transition: “Let’s put your knowledge to practice with a hands-on exercise.”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Arguments versus environment variables
Say:
This is a common source of confusion, so let's be precise. Arguments are what the user types after the slash command — /deploy staging gives you $0 equals "staging". You access them with dollar-sign-zero, dollar-sign-one, and so on, or $ARGUMENTS for the whole string. Environment variables like CLAUDE_SESSION_ID are resolved automatically at load time — you don't pass them, the system provides them. The key distinction: arguments come from the user at invocation time, environment variables come from the system at load time.
Do:
- Show a live example: invoke a skill with arguments and print them (approximately 3 minutes)
- Common mistake: using $ARGUMENTS when they meant an environment variable, or vice versa
- Ask: "If you wanted a skill to behave differently per-project, would you use arguments or an environment variable?"
- Transition: "Now let's put your Section 2 knowledge to the test with a hands-on exercise."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exercise: Build a code review skill
Say:
Time to build something. In this exercise, you'll create a code review skill from scratch. Create a new skill directory called code-review under .claude/skills/. Write a SKILL.md with a clear description and instructions that tell Claude how to review code — what to check for, how to format feedback, and any standards to apply. Then test it by asking Claude Code to review a file. You have about 10 minutes for this.
Do:
- Set a timer for 10 minutes (approximately 12 minutes total with debrief)
- Walk around or monitor chat for questions
- Common issues to watch for: missing frontmatter, vague descriptions, skill not being discovered
- After time is up, ask 2-3 participants to share their approach
- Debrief: "What was the hardest part? What would you improve?"
- Transition: "Now let's talk about something critical — security and how skills execute."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Security and execution
Say:
This section is critical for anyone deploying skills in a production or team environment. We'll cover the permission model that controls what skills can do, how subagent execution provides sandboxing, and the enterprise management options for controlling skills across an organization. Understanding security is what separates a prototype skill from a production-ready one.
Do:
- Recap Section 2: "We covered building skills, content types, frontmatter, and substitutions" (approximately 30 seconds)
- Emphasize this section's importance for enterprise developers
- Ask: "What security concerns come to mind when you think about skills executing code?"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control model
Say:
This slide covers the four specific controls you have over skill invocation and tool access. First, disable-model-invocation. Set this to true and Claude can no longer auto-load the skill — the user must invoke it manually with the slash command. This is essential for skills with side effects like /deploy or /send-slack-message where timing matters. Second, user-invocable. Set this to false to hide the skill from the slash command menu entirely. Claude can still load it as background knowledge, but users won’t see it as a command. Third, allowed-tools creates a whitelist — Claude can only use the listed tools during this skill’s execution. Set it to Read, Glob, Grep for a read-only review skill. Fourth, /permissions rules let you control skill access at the session level using Skill(name) for exact match or Skill(name *) for prefix matching.
Do:
- Walk through each of the four controls on the slide (approximately 3 minutes)
- Emphasize: disable-model-invocation and user-invocable are complementary — one blocks Claude, the other blocks the user
- Ask: “Which of these would you use for a deployment skill? For a background coding-standards skill?”
- Transition: “Let’s see these controls in a concrete before-and-after example.”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Permission rules in practice
Say:
Let's look at a concrete before-and-after. On the left, a basic code review skill with no tool restrictions — Claude can use any tool during execution, including Bash and Write. Before, the same skill with allowed-tools set to read, glob, and grep only. After, the skill is truly read-only. It can search and read code but can't modify anything. You can layer this with /permissions rules at the session level for defense in depth. This is critical for skills that other team members will run — you want to guarantee the skill can't make unintended changes.
Do:
- Walk through both versions side by side (approximately 3 minutes)
- Demo if possible: run the restricted skill and show that Bash is blocked
- Ask: "What tools would you whitelist for a deployment skill versus a review skill?"
- Transition: "Enterprise teams have additional controls at the organization level."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Enterprise skill management
Say:
For enterprise environments, administrators can manage skills centrally. This includes controlling which skills are allowed or blocked across the organization, distributing approved skills through managed configurations, and auditing skill usage. Enterprise policies can restrict skill installation to approved sources, enforce skill review before deployment, and set organization-wide permissions. This gives security teams the control they need while still letting developers benefit from skills.
Do:
- Show the enterprise configuration options (approximately 3 minutes)
- Discuss the balance between developer freedom and organizational control
- Ask: "How would you roll out skills to a team of 50 developers?"
- Mention managed-mcp.json as a parallel concept for MCP server management
- Transition: "Let's check your understanding of the security model."</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Mini-exercise: Add security controls
Say:
Quick hands-on — five minutes. Open the code review skill you built in the earlier exercise. Add allowed-tools to the frontmatter to restrict Claude to Read, Glob, and Grep. Then test it — ask Claude to review a file and see that it can read but can't write or run commands. If you have time, add disable-model-invocation: true and try invoking it with the slash command instead.
Do:
- Set timer for 5 minutes (approximately 7 minutes total with debrief)
- This is intentionally short — reinforces the security concepts just taught
- Watch for: YAML syntax errors in frontmatter, misspelled tool names
- Quick debrief: "Did anyone get blocked by a tool they expected to work?"
- Transition: "Now let's look at the advanced execution patterns that take skills to the next level."</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Security model
Say:
Here's a true/false question about skills security. Take a moment to consider your answer.</a:t>
            </a:r>
          </a:p>
          <a:p>
            <a:endParaRPr lang="en-US" dirty="0"/>
          </a:p>
          <a:p>
            <a:r>
              <a:rPr lang="en-US" dirty="0"/>
              <a:t>The answer is </a:t>
            </a:r>
            <a:r>
              <a:rPr lang="en-US" b="1" dirty="0"/>
              <a:t>TRUE</a:t>
            </a:r>
            <a:r>
              <a:rPr lang="en-US" dirty="0"/>
              <a:t> — the </a:t>
            </a:r>
            <a:r>
              <a:rPr lang="en-US" sz="1200" kern="1200" dirty="0">
                <a:solidFill>
                  <a:schemeClr val="tx1"/>
                </a:solidFill>
                <a:latin typeface="+mn-lt"/>
                <a:ea typeface="+mn-ea"/>
                <a:cs typeface="+mn-cs"/>
              </a:rPr>
              <a:t>disable-model-invocation</a:t>
            </a:r>
            <a:r>
              <a:rPr lang="en-US" dirty="0"/>
              <a:t> field only prevents Claude from automatically triggering the skill on its own; it does not remove the skill from the slash command menu, so users can still manually invoke it by typing </a:t>
            </a:r>
            <a:r>
              <a:rPr lang="en-US" sz="1200" kern="1200" dirty="0">
                <a:solidFill>
                  <a:schemeClr val="tx1"/>
                </a:solidFill>
                <a:latin typeface="+mn-lt"/>
                <a:ea typeface="+mn-ea"/>
                <a:cs typeface="+mn-cs"/>
              </a:rPr>
              <a:t>/skill-name. </a:t>
            </a:r>
            <a:r>
              <a:rPr lang="en-US" dirty="0"/>
              <a:t>
Do:
- Give 20 seconds for participants to think (approximately 2 minutes)
- Ask for responses: thumbs up for true, thumbs down for false
- Reveal the answer and explain the reasoning
- Connect back to the permission model covered earlier
- Transition: "Now let's put skills in broader context by comparing them with other approaches."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Advanced execution patterns
Say:
We've split security from advanced patterns intentionally. The previous section was about access control — who can do what. This section is about execution patterns — how skills run. We'll cover dynamic context injection with shell preprocessing, subagent isolation with context fork, and then see both combined in a production-grade example. These patterns are what separate a basic skill from one you'd deploy to a team.
Do:
- Recap Section 3: "We covered tool restrictions, permission rules, and enterprise policies" (approximately 30 seconds)
- Spaced retrieval callback: "Quick — what's the resolution order for skills? Project, user, or installed first?" (Answer: project first, then user, then installed)
- Ask for questions from Section 3 before continuing</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Subagent execution model
Say:
Some skill operations run in a subagent — a sandboxed execution context that provides isolation. The subagent has its own tool access and cannot directly modify the parent conversation state. This is particularly important for skills that execute code, run tests, or interact with external services. The subagent model means a skill that crashes or produces unexpected output doesn't corrupt your main session. Results flow back through structured outputs. Think of it as a subprocess with controlled inputs and outputs.
Do:
- Diagram the subagent model: parent session, subagent boundary, result flow (approximately 3 minutes)
- Explain when subagents are used versus inline execution
- Ask: "What kinds of skills benefit most from subagent isolation?"
- Transition: "For organizations, there are additional controls at the enterprise level."</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Dynamic context injection
Say:
This slide shows the bang-backtick syntax — the exclamation mark followed by a backtick-wrapped command. This is how you inject live data into a skill before Claude ever sees it. When Claude loads this pr-summary skill, the !`gh pr diff` and !`gh pr view --comments` commands execute immediately as preprocessing. The command output replaces the placeholder text, so Claude receives the actual PR diff and comments as part of its context — not the command itself. This is powerful because Claude starts with full context without needing to run any commands during execution. Notice the frontmatter also sets context: fork for isolation and agent: Explore for read-heavy analysis, plus allowed-tools restricted to gh commands only.
Do:
- Walk through the code example on screen, highlighting the !`command` syntax (approximately 3 minutes)
- Emphasize: this is preprocessing, not something Claude executes — commands run before Claude sees anything
- Demo if possible: create a skill with !`date` and show that Claude sees the resolved date, not the command
- Ask: “What other shell commands would be useful to preprocess into a skill’s context?”
- Transition: “Let’s look at how subagent execution adds another layer of isolation.”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Upgrading a skill with advanced patterns
Say:
Here's the same PR review skill, basic versus advanced. The basic version just has instructions. The advanced version adds three things: context fork for isolation, the Explore agent type for read-heavy tasks, and shell preprocessing with the bang-backtick syntax. The exclamation-backtick commands run at skill load time and inject their output — so gh pr diff becomes the actual diff content in Claude's context. This means Claude starts with full PR context without needing to run any commands during execution. The context fork ensures the review runs in isolation and doesn't affect your main conversation.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141413"/>
              </a:solidFill>
              <a:latin typeface="Lora" pitchFamily="34" charset="0"/>
              <a:ea typeface="Lora" pitchFamily="34" charset="-122"/>
              <a:cs typeface="Lora"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41413"/>
                </a:solidFill>
                <a:latin typeface="Lora" pitchFamily="34" charset="0"/>
                <a:ea typeface="Lora" pitchFamily="34" charset="-122"/>
                <a:cs typeface="Lora" pitchFamily="34" charset="-120"/>
              </a:rPr>
              <a:t>Adding context: fork runs the skill in an isolated subagent. The !`command` syntax preprocesses shell output into the prompt. The agent field selects a specialized execution mode.</a:t>
            </a:r>
            <a:endParaRPr lang="en-US" sz="1200" dirty="0"/>
          </a:p>
          <a:p>
            <a:r>
              <a:rPr lang="en-US" dirty="0"/>
              <a:t>
Do:
- Walk through each addition and explain why it helps (approximately 4 minutes)
- Point out: shell preprocessing runs BEFORE Claude sees the prompt
- Ask: "What other commands would you preprocess for a deployment skill?"
- Transition: "Let's move to our final section where we put everything in context."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A16B2-AF6E-A248-7EC7-EE23CC4D64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669487-330C-DF5B-2849-ABFD8BE1D9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4E2204-D98E-6A26-42DF-092683BA908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[Five Skill Design Patterns]
Say:
These five patterns emerged from skills built by early adopters and internal teams. Sequential orchestration is your classic multi-step workflow — think onboarding a customer where each step depends on the previous one. Multi-MCP coordination is when you need to pass data between services — export from Figma, store in Drive, create tasks in Linear. Iterative refinement is for quality — generate, validate, fix, repeat. Context-aware selection handles the same goal with different tools depending on the situation. And domain-specific intelligence is when your skill's value is the knowledge it embeds, not just the tool calls it makes. Most skills you'll build will map to one of these patterns.
Do:
- Ask participants which pattern best fits their skill idea
- Quick show of hands for each pattern to see the distribution
- Transition: "Now let's look at how these patterns play out in real execution."</a:t>
            </a:r>
          </a:p>
          <a:p>
            <a:endParaRPr lang="en-US" dirty="0"/>
          </a:p>
        </p:txBody>
      </p:sp>
      <p:sp>
        <p:nvSpPr>
          <p:cNvPr id="4" name="Slide Number Placeholder 3">
            <a:extLst>
              <a:ext uri="{FF2B5EF4-FFF2-40B4-BE49-F238E27FC236}">
                <a16:creationId xmlns:a16="http://schemas.microsoft.com/office/drawing/2014/main" id="{BB254781-1360-DE01-5769-8B4230E803CD}"/>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8952676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Skills in context
Say:
In our final section, we’ll zoom out and look at how skills fit into the broader Claude Code ecosystem. We’ll compare skills with other extension mechanisms, explore built-in and community skills, and cover troubleshooting techniques. This will help you make informed decisions about when to use skills versus other approaches.
Do:
- Recap Section 4: “We covered dynamic context injection with the bang-backtick syntax, subagent execution with context fork, and design patterns for production skills” (approximately 30 seconds)
- Ask for questions from Section 4
- Frame this section as practical decision-making guidance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Built-in and community skills
Say:
Claude Code comes with built-in skills for common tasks — these are maintained by the Anthropic team and are always available. Community skills are shared through plugins and repositories. You can discover skills others have built, install them, and customize them for your needs. The ecosystem is growing, so before building a skill from scratch, check if someone has already solved your problem. When evaluating community skills, review the SKILL.md content carefully — remember, skill instructions become part of Claude's context and influence its behavior.
Do:
- Show how to discover and list available skills in Claude Code (approximately 3 minutes)
- Demonstrate installing a community skill if examples are available
- Discuss trust considerations: "Would you install a skill from an unknown source"
- Transition: "Now let's compare skills with the other ways you can extend Claude Code."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Choosing the right customization tool
Say:
Let's compare the main ways to extend Claude Code. On the left, always-on and event-driven mechanisms. CLAUDE.md loads on every interaction — great for coding standards but costly in context. MCP servers maintain persistent connections to external services. Hooks are event-driven scripts that fire on lifecycle events like pre-commit or post-tool-use. On the right, on-demand tools. Skills load only when matched — no wasted context. Slash commands are quick user-triggered actions. Plugins bundle everything together.
Here's the key decision framework: use a hook when you want something to happen on every commit automatically. Use a skill when you want Claude to know how to review code on demand. Use MCP when you need a persistent connection to Postgres or Jira. And use CLAUDE.md when the instruction is short enough to always carry.
One more thing worth mentioning: the Agent Skills standard at agentskills.org is an emerging cross-tool specification. Skills you write for Claude Code may become portable to other agent tools following this standard.
Do:
- Walk through each row of the comparison (approximately 4 minutes)
- Use concrete examples: "For connecting to Postgres, use MCP. For a code review process, use a skill. For running lint on every commit, use a hook."
- Ask: "Can anyone think of a case where you'd combine skills with MCP?"
- Transition: "When things go wrong with skills, here's how to diagnose the issue."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Designing a skill strategy
Say:
Think about your current projects and development workflows. Where would skills provide the most value? Consider repetitive tasks you do frequently, team standards that are hard to enforce, complex processes with multiple steps, and knowledge that lives in people's heads rather than documentation. Take two minutes to think, then we'll share ideas.
Do:
- Give 2 minutes of quiet thinking time
- Facilitate round-robin sharing — aim for 4-5 contributions
- Write ideas on a shared board or capture in chat
- Look for common themes across responses
- Transition</a:t>
            </a:r>
            <a:r>
              <a:rPr lang="en-US"/>
              <a:t>: "Great </a:t>
            </a:r>
            <a:r>
              <a:rPr lang="en-US" dirty="0"/>
              <a:t>discussion. Let's reflect on what we've learned before wrapping </a:t>
            </a:r>
            <a:r>
              <a:rPr lang="en-US"/>
              <a: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testing approaches]
Say:
Testing skills is different from testing traditional software. You're testing an AI's behavior, which means you need both quantitative and qualitative signals. Start manual — run queries in Claude and observe. Then script repeatable tests in Claude Code. For production skills, use the API to run evaluation suites. </a:t>
            </a:r>
          </a:p>
          <a:p>
            <a:endParaRPr lang="en-US" dirty="0"/>
          </a:p>
          <a:p>
            <a:r>
              <a:rPr lang="en-US" dirty="0"/>
              <a:t>Next, what to look out for when you’re testing (next slide)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80B2A-FC45-54CF-2993-F6E46F8D80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B105DA-C1C2-15F7-8908-70549221FD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73E3EF-99BF-0AD1-37BD-F33744A5CCDC}"/>
              </a:ext>
            </a:extLst>
          </p:cNvPr>
          <p:cNvSpPr>
            <a:spLocks noGrp="1"/>
          </p:cNvSpPr>
          <p:nvPr>
            <p:ph type="body" idx="1"/>
          </p:nvPr>
        </p:nvSpPr>
        <p:spPr/>
        <p:txBody>
          <a:bodyPr/>
          <a:lstStyle/>
          <a:p>
            <a:r>
              <a:rPr lang="en-US" dirty="0"/>
              <a:t>[Testing and Iteration]
Say:
The three things to test are: does it trigger correctly, does it produce the right output, and does it actually improve over the no-skill baseline? The iteration signals are critical — if users are manually enabling your skill, your description needs more keywords. If it loads for unrelated queries, add negative triggers. The most effective skill creators iterate on a single challenging task first, then expand.
Do:
- Demo: show a quick trigger test — "What queries should trigger your skill? What should NOT?"
- Have participants write 3 should-trigger and 3 should-not-trigger queries for their skill
- Transition: "Once your skill is tested, how do you get it to users?"</a:t>
            </a:r>
          </a:p>
        </p:txBody>
      </p:sp>
      <p:sp>
        <p:nvSpPr>
          <p:cNvPr id="4" name="Slide Number Placeholder 3">
            <a:extLst>
              <a:ext uri="{FF2B5EF4-FFF2-40B4-BE49-F238E27FC236}">
                <a16:creationId xmlns:a16="http://schemas.microsoft.com/office/drawing/2014/main" id="{41A65841-DCB6-1036-A5C0-7905826245A8}"/>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7186705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Troubleshooting skills
Say:
When a skill isn't working as expected, follow this debugging flow. First, check discovery — is Claude finding your skill? Use the skill list command to verify. If not, check your description and file location. Second, check loading — is the skill content being injected? Look for syntax errors in frontmatter. Third, check behavior — is the skill producing the right output? Review your instructions for ambiguity. Common issues include: descriptions that don't match user requests, frontmatter syntax errors that prevent loading, instructions that are too vague for Claude to act on, and path issues when skills reference external files.
Do:
- Walk through each troubleshooting step with examples (approximately 3 minutes)
- If time permits, demo a broken skill and fix it live
- Share the most common issues you've seen
- Ask</a:t>
            </a:r>
            <a:r>
              <a:rPr lang="en-US"/>
              <a:t>: "What </a:t>
            </a:r>
            <a:r>
              <a:rPr lang="en-US" dirty="0"/>
              <a:t>was the trickiest bug you hit during the hands-on exercise"
- Transition</a:t>
            </a:r>
            <a:r>
              <a:rPr lang="en-US"/>
              <a:t>: "Let's </a:t>
            </a:r>
            <a:r>
              <a:rPr lang="en-US" dirty="0"/>
              <a:t>wrap up this section with a </a:t>
            </a:r>
            <a:r>
              <a:rPr lang="en-US"/>
              <a:t>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Mini-exercise: Test your troubleshooting skills
Say:
Let’s put the troubleshooting techniques into practice using the code review skill you’ve been building throughout the session. First, run the agent-skills CLI validator against your skill and resolve any warnings it flags — this could be a vague description, missing frontmatter fields, or structural issues. Next, walk through the full discover, load, behave debugging flow yourself: verify Claude discovers your skill, confirm the content loads correctly, and test that it behaves as expected on a real file. Once your skill passes all three stages, intentionally break one thing — maybe corrupt the description, add a typo to allowed-tools, or move the file to the wrong directory. Then swap with a partner and try to diagnose each other’s bug using the debugging flow, without hints.
Do:
- Set timer for 10 minutes (approximately 12 minutes total with debrief)
- Remind participants to use the skill they built in the earlier exercises — it should already have frontmatter, allowed-tools, and a description
- Circulate and observe — note which debugging steps participants skip or struggle with
- Quick debrief: "Which stage of the debugging flow was most useful? Did the validator catch things you missed?"
- Transition: "Now that you can build, secure, and debug skills, let’s look at how to distribute them."</a:t>
            </a:r>
          </a:p>
        </p:txBody>
      </p:sp>
      <p:sp>
        <p:nvSpPr>
          <p:cNvPr id="4" name="Slide Number Placeholder 3"/>
          <p:cNvSpPr>
            <a:spLocks noGrp="1"/>
          </p:cNvSpPr>
          <p:nvPr>
            <p:ph type="sldNum" sz="quarter" idx="10"/>
          </p:nvPr>
        </p:nvSpPr>
        <p:spPr/>
        <p:txBody>
          <a:bodyPr/>
          <a:lstStyle/>
          <a:p>
            <a:fld id="{A1B2C3D4-E5F6-7890-ABCD-EF1234567890}" type="slidenum">
              <a:rPr lang="en-US"/>
              <a:t>38</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[Distribution and API]
Say:
There are several ways to get skills to users. For individual use, it's as simple as downloading the folder and uploading it through Claude settings, or placing it directly in your Claude Code skills directory. For teams, admins can deploy skills workspace-wide with automatic updates. For programmatic use, the API gives you the /v1/skills endpoint and the container.skills parameter in the Messages API — this is how you build applications that leverage skills at scale. And importantly, Anthropic has published skills as an open standard called Agent Skills. The goal is portability — the same skill should work across platforms, just like MCP servers do. Use the compatibility field in your frontmatter to note any platform-specific requirements.
Do:
- Show the Claude Settings &gt; Capabilities &gt; Skills upload flow if possible
- Mention the public skills repository at github.com/anthropics/skills for reference
- Transition: "Let's wrap up with a discussion and key takeaways."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US" dirty="0"/>
              <a:t>Reflection
Say:
Before we summarize, take a moment to reflect on these four questions. What concept was newest to you? How might you apply skills in your current project this week? What question do you still have? And what would you teach a colleague about skills? These reflections help consolidate your learning and identify areas for follow-up.
Do:
- Give 2 minutes for individual reflection (approximately 3 minutes)
- Optionally ask 2-3 volunteers to share one reflection
- Note any common remaining questions for the resources slide
- Transition</a:t>
            </a:r>
            <a:r>
              <a:rPr lang="en-US"/>
              <a:t>: "Let's </a:t>
            </a:r>
            <a:r>
              <a:rPr lang="en-US" dirty="0"/>
              <a:t>review the key takeaways from </a:t>
            </a:r>
            <a:r>
              <a:rPr lang="en-US"/>
              <a:t>today."</a:t>
            </a:r>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Say:
Here are the essential points </a:t>
            </a:r>
            <a:r>
              <a:rPr lang="en-US"/>
              <a:t>from today's </a:t>
            </a:r>
            <a:r>
              <a:rPr lang="en-US" dirty="0"/>
              <a:t>session. Skills are on-demand, reusable instruction sets stored as SKILL.md files. They follow a three-scope resolution chain: project, user, and installed. The frontmatter description is your most important metadata — it determines when Claude activates your skill. Skills inherit </a:t>
            </a:r>
            <a:r>
              <a:rPr lang="en-US"/>
              <a:t>the session's </a:t>
            </a:r>
            <a:r>
              <a:rPr lang="en-US" dirty="0"/>
              <a:t>security model with no privilege escalation. Enterprise teams can manage skills centrally with policies and approved sources. And when troubleshooting, follow the discover, load, behave debugging flow.
Do:
- Read through each takeaway, adding brief commentary (approximately 2 minutes)
- Ask</a:t>
            </a:r>
            <a:r>
              <a:rPr lang="en-US"/>
              <a:t>: "Which </a:t>
            </a:r>
            <a:r>
              <a:rPr lang="en-US" dirty="0"/>
              <a:t>takeaway is most relevant to your </a:t>
            </a:r>
            <a:r>
              <a:rPr lang="en-US"/>
              <a:t>immediate work"</a:t>
            </a:r>
            <a:r>
              <a:rPr lang="en-US" dirty="0"/>
              <a:t>
- Transition</a:t>
            </a:r>
            <a:r>
              <a:rPr lang="en-US"/>
              <a:t>: "Let </a:t>
            </a:r>
            <a:r>
              <a:rPr lang="en-US" dirty="0"/>
              <a:t>me share some resources for continuing your </a:t>
            </a:r>
            <a:r>
              <a:rPr lang="en-US"/>
              <a:t>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Resources and next steps
Say:
Here are your key resources for continuing with skills. The Claude Code documentation at docs.anthropic.com has the complete skills reference. The skills section of the Claude Code docs covers advanced topics like plugin integration and custom tool access. For hands-on practice, try converting one of your existing CLAUDE.md instruction sets into a modular skill this week. And if you build something useful, consider sharing it with the team or the broader community.
Do:
- Share links in chat or on screen (approximately 2 minutes)
- Recommend starting with one specific skill conversion as homework
- Mention the community channels for sharing and getting help
- Transition</a:t>
            </a:r>
            <a:r>
              <a:rPr lang="en-US"/>
              <a:t>: "Let's </a:t>
            </a:r>
            <a:r>
              <a:rPr lang="en-US" dirty="0"/>
              <a:t>wrap </a:t>
            </a:r>
            <a:r>
              <a:rPr lang="en-US"/>
              <a: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Say:
Thank you for your time and engagement today. You’ve learned how to build, configure, secure, and troubleshoot Claude Code skills. The most important next step is to create your first production skill this week — take a repetitive task in your workflow and encode it as a skill. If you have questions after this session, reach out through the channels listed on the previous slide. I’d love to hear what skills you build.
Do:
- Thank participants (approximately 1 minute)
- Open the floor for any final questions
- Share feedback form or survey link if applicable
- End on time</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Pr>
        <a:solidFill>
          <a:srgbClr val="FAF9F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6507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BRAND">
    <p:bg>
      <p:bgPr>
        <a:solidFill>
          <a:srgbClr val="141413"/>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D97757"/>
          </a:solidFill>
          <a:ln/>
        </p:spPr>
        <p:txBody>
          <a:bodyPr/>
          <a:lstStyle/>
          <a:p>
            <a:endParaRPr lang="en-US"/>
          </a:p>
        </p:txBody>
      </p:sp>
      <p:pic>
        <p:nvPicPr>
          <p:cNvPr id="6" name="Picture 5" descr="A white letter on a black background  AI-generated content may be incorrect.">
            <a:extLst>
              <a:ext uri="{FF2B5EF4-FFF2-40B4-BE49-F238E27FC236}">
                <a16:creationId xmlns:a16="http://schemas.microsoft.com/office/drawing/2014/main" id="{50A4B41F-2666-D493-A8B5-179058A0DF8C}"/>
              </a:ext>
            </a:extLst>
          </p:cNvPr>
          <p:cNvPicPr>
            <a:picLocks noChangeAspect="1"/>
          </p:cNvPicPr>
          <p:nvPr/>
        </p:nvPicPr>
        <p:blipFill>
          <a:blip r:embed="rId2"/>
          <a:stretch>
            <a:fillRect/>
          </a:stretch>
        </p:blipFill>
        <p:spPr>
          <a:xfrm>
            <a:off x="617482" y="366548"/>
            <a:ext cx="487680" cy="342900"/>
          </a:xfrm>
          <a:prstGeom prst="rect">
            <a:avLst/>
          </a:prstGeom>
        </p:spPr>
      </p:pic>
      <p:pic>
        <p:nvPicPr>
          <p:cNvPr id="3" name="Picture 2" descr="A white letter on a black background  AI-generated content may be incorrect.">
            <a:extLst>
              <a:ext uri="{FF2B5EF4-FFF2-40B4-BE49-F238E27FC236}">
                <a16:creationId xmlns:a16="http://schemas.microsoft.com/office/drawing/2014/main" id="{C8B91FC9-AF61-A9F8-42DD-FE0DCE44C268}"/>
              </a:ext>
            </a:extLst>
          </p:cNvPr>
          <p:cNvPicPr>
            <a:picLocks noChangeAspect="1"/>
          </p:cNvPicPr>
          <p:nvPr userDrawn="1"/>
        </p:nvPicPr>
        <p:blipFill>
          <a:blip r:embed="rId2"/>
          <a:stretch>
            <a:fillRect/>
          </a:stretch>
        </p:blipFill>
        <p:spPr>
          <a:xfrm>
            <a:off x="617482" y="366548"/>
            <a:ext cx="487680" cy="342900"/>
          </a:xfrm>
          <a:prstGeom prst="rect">
            <a:avLst/>
          </a:prstGeom>
        </p:spPr>
      </p:pic>
    </p:spTree>
    <p:extLst>
      <p:ext uri="{BB962C8B-B14F-4D97-AF65-F5344CB8AC3E}">
        <p14:creationId xmlns:p14="http://schemas.microsoft.com/office/powerpoint/2010/main" val="1810814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ORANGE">
    <p:bg>
      <p:bgPr>
        <a:solidFill>
          <a:srgbClr val="FAF9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97757"/>
          </a:solidFill>
          <a:ln/>
        </p:spPr>
        <p:txBody>
          <a:bodyPr/>
          <a:lstStyle/>
          <a:p>
            <a:endParaRPr lang="en-US"/>
          </a:p>
        </p:txBody>
      </p:sp>
    </p:spTree>
    <p:extLst>
      <p:ext uri="{BB962C8B-B14F-4D97-AF65-F5344CB8AC3E}">
        <p14:creationId xmlns:p14="http://schemas.microsoft.com/office/powerpoint/2010/main" val="2120964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_BLUE">
    <p:bg>
      <p:bgPr>
        <a:solidFill>
          <a:srgbClr val="FAF9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A9BCC"/>
          </a:solidFill>
          <a:ln/>
        </p:spPr>
        <p:txBody>
          <a:bodyPr/>
          <a:lstStyle/>
          <a:p>
            <a:endParaRPr lang="en-US"/>
          </a:p>
        </p:txBody>
      </p:sp>
    </p:spTree>
    <p:extLst>
      <p:ext uri="{BB962C8B-B14F-4D97-AF65-F5344CB8AC3E}">
        <p14:creationId xmlns:p14="http://schemas.microsoft.com/office/powerpoint/2010/main" val="2172405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IGHT_GREEN">
    <p:bg>
      <p:bgPr>
        <a:solidFill>
          <a:srgbClr val="FAF9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88C5D"/>
          </a:solidFill>
          <a:ln/>
        </p:spPr>
        <p:txBody>
          <a:bodyPr/>
          <a:lstStyle/>
          <a:p>
            <a:endParaRPr lang="en-US"/>
          </a:p>
        </p:txBody>
      </p:sp>
    </p:spTree>
    <p:extLst>
      <p:ext uri="{BB962C8B-B14F-4D97-AF65-F5344CB8AC3E}">
        <p14:creationId xmlns:p14="http://schemas.microsoft.com/office/powerpoint/2010/main" val="2329171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NOWLEDGE_CHECK">
    <p:bg>
      <p:bgPr>
        <a:solidFill>
          <a:srgbClr val="FAF9F5"/>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6A9BCC">
              <a:alpha val="12000"/>
            </a:srgbClr>
          </a:solidFill>
          <a:ln/>
        </p:spPr>
        <p:txBody>
          <a:bodyPr/>
          <a:lstStyle/>
          <a:p>
            <a:endParaRPr lang="en-US"/>
          </a:p>
        </p:txBody>
      </p:sp>
      <p:sp>
        <p:nvSpPr>
          <p:cNvPr id="3" name="Shape 1"/>
          <p:cNvSpPr/>
          <p:nvPr/>
        </p:nvSpPr>
        <p:spPr>
          <a:xfrm>
            <a:off x="0" y="0"/>
            <a:ext cx="9144000" cy="54864"/>
          </a:xfrm>
          <a:prstGeom prst="rect">
            <a:avLst/>
          </a:prstGeom>
          <a:solidFill>
            <a:srgbClr val="6A9BCC"/>
          </a:solidFill>
          <a:ln/>
        </p:spPr>
        <p:txBody>
          <a:bodyPr/>
          <a:lstStyle/>
          <a:p>
            <a:endParaRPr lang="en-US"/>
          </a:p>
        </p:txBody>
      </p:sp>
    </p:spTree>
    <p:extLst>
      <p:ext uri="{BB962C8B-B14F-4D97-AF65-F5344CB8AC3E}">
        <p14:creationId xmlns:p14="http://schemas.microsoft.com/office/powerpoint/2010/main" val="29705757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USTY_ROSE">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E6A7FC5B-156D-1A83-F47D-E4D81743D2CB}"/>
              </a:ext>
            </a:extLst>
          </p:cNvPr>
          <p:cNvSpPr/>
          <p:nvPr userDrawn="1"/>
        </p:nvSpPr>
        <p:spPr>
          <a:xfrm>
            <a:off x="0" y="0"/>
            <a:ext cx="9144000" cy="54864"/>
          </a:xfrm>
          <a:prstGeom prst="rect">
            <a:avLst/>
          </a:prstGeom>
          <a:solidFill>
            <a:srgbClr val="B5758A"/>
          </a:solidFill>
          <a:ln/>
        </p:spPr>
        <p:txBody>
          <a:bodyPr/>
          <a:lstStyle/>
          <a:p>
            <a:endParaRPr lang="en-US"/>
          </a:p>
        </p:txBody>
      </p:sp>
    </p:spTree>
    <p:extLst>
      <p:ext uri="{BB962C8B-B14F-4D97-AF65-F5344CB8AC3E}">
        <p14:creationId xmlns:p14="http://schemas.microsoft.com/office/powerpoint/2010/main" val="22994376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AVENDER">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E6A7FC5B-156D-1A83-F47D-E4D81743D2CB}"/>
              </a:ext>
            </a:extLst>
          </p:cNvPr>
          <p:cNvSpPr/>
          <p:nvPr userDrawn="1"/>
        </p:nvSpPr>
        <p:spPr>
          <a:xfrm>
            <a:off x="0" y="0"/>
            <a:ext cx="9144000" cy="54864"/>
          </a:xfrm>
          <a:prstGeom prst="rect">
            <a:avLst/>
          </a:prstGeom>
          <a:solidFill>
            <a:srgbClr val="8B8CDF"/>
          </a:solidFill>
          <a:ln/>
        </p:spPr>
        <p:txBody>
          <a:bodyPr/>
          <a:lstStyle/>
          <a:p>
            <a:endParaRPr lang="en-US"/>
          </a:p>
        </p:txBody>
      </p:sp>
    </p:spTree>
    <p:extLst>
      <p:ext uri="{BB962C8B-B14F-4D97-AF65-F5344CB8AC3E}">
        <p14:creationId xmlns:p14="http://schemas.microsoft.com/office/powerpoint/2010/main" val="2974018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1440110"/>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ideo" Target="https://www.youtube.com/embed/bjdBVZa66oU?feature=oembed" TargetMode="Externa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5.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8.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28.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0080" y="1931670"/>
            <a:ext cx="7315200" cy="1280160"/>
          </a:xfrm>
          <a:prstGeom prst="rect">
            <a:avLst/>
          </a:prstGeom>
          <a:noFill/>
          <a:ln/>
        </p:spPr>
        <p:txBody>
          <a:bodyPr wrap="square" lIns="0" tIns="0" rIns="0" bIns="0" rtlCol="0" anchor="ctr"/>
          <a:lstStyle/>
          <a:p>
            <a:pPr marL="0" indent="0">
              <a:buNone/>
            </a:pPr>
            <a:r>
              <a:rPr lang="en-US" sz="4000" b="1" dirty="0">
                <a:solidFill>
                  <a:srgbClr val="FAF9F5"/>
                </a:solidFill>
                <a:latin typeface="Test Tiempos Headline Light" pitchFamily="34" charset="0"/>
                <a:ea typeface="Test Tiempos Headline Light" pitchFamily="34" charset="-122"/>
                <a:cs typeface="Test Tiempos Headline Light" pitchFamily="34" charset="-120"/>
              </a:rPr>
              <a:t>Extend Claude with skills</a:t>
            </a:r>
            <a:endParaRPr lang="en-US" sz="4000" dirty="0"/>
          </a:p>
        </p:txBody>
      </p:sp>
      <p:sp>
        <p:nvSpPr>
          <p:cNvPr id="3" name="Text 1"/>
          <p:cNvSpPr/>
          <p:nvPr/>
        </p:nvSpPr>
        <p:spPr>
          <a:xfrm>
            <a:off x="640080" y="2876550"/>
            <a:ext cx="7315200" cy="548640"/>
          </a:xfrm>
          <a:prstGeom prst="rect">
            <a:avLst/>
          </a:prstGeom>
          <a:noFill/>
          <a:ln/>
        </p:spPr>
        <p:txBody>
          <a:bodyPr wrap="square" lIns="0" tIns="0" rIns="0" bIns="0" rtlCol="0" anchor="ctr"/>
          <a:lstStyle/>
          <a:p>
            <a:pPr marL="0" indent="0">
              <a:buNone/>
            </a:pPr>
            <a:r>
              <a:rPr lang="en-US" sz="1800" dirty="0">
                <a:solidFill>
                  <a:srgbClr val="D97757"/>
                </a:solidFill>
                <a:latin typeface="Lora" pitchFamily="34" charset="0"/>
                <a:ea typeface="Lora" pitchFamily="34" charset="-122"/>
                <a:cs typeface="Lora" pitchFamily="34" charset="-120"/>
              </a:rPr>
              <a:t>March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365760"/>
            <a:ext cx="7315200" cy="640080"/>
          </a:xfrm>
          <a:prstGeom prst="rect">
            <a:avLst/>
          </a:prstGeom>
          <a:noFill/>
          <a:ln/>
        </p:spPr>
        <p:txBody>
          <a:bodyPr wrap="square" lIns="0" tIns="0" rIns="0" bIns="0" rtlCol="0" anchor="ctr"/>
          <a:lstStyle/>
          <a:p>
            <a:pPr marL="0" indent="0">
              <a:buNone/>
            </a:pPr>
            <a:r>
              <a:rPr lang="en-US" sz="3600" b="1" dirty="0">
                <a:solidFill>
                  <a:srgbClr val="141413"/>
                </a:solidFill>
                <a:latin typeface="Test Tiempos Headline Light" pitchFamily="34" charset="0"/>
                <a:ea typeface="Test Tiempos Headline Light" pitchFamily="34" charset="-122"/>
                <a:cs typeface="Test Tiempos Headline Light" pitchFamily="34" charset="-120"/>
              </a:rPr>
              <a:t>Agenda</a:t>
            </a:r>
            <a:endParaRPr lang="en-US" sz="3600" dirty="0"/>
          </a:p>
        </p:txBody>
      </p:sp>
      <p:sp>
        <p:nvSpPr>
          <p:cNvPr id="3" name="Shape 1"/>
          <p:cNvSpPr/>
          <p:nvPr/>
        </p:nvSpPr>
        <p:spPr>
          <a:xfrm>
            <a:off x="640080" y="1280160"/>
            <a:ext cx="54864" cy="502920"/>
          </a:xfrm>
          <a:prstGeom prst="rect">
            <a:avLst/>
          </a:prstGeom>
          <a:solidFill>
            <a:srgbClr val="D97757"/>
          </a:solidFill>
          <a:ln/>
        </p:spPr>
        <p:txBody>
          <a:bodyPr/>
          <a:lstStyle/>
          <a:p>
            <a:endParaRPr lang="en-US"/>
          </a:p>
        </p:txBody>
      </p:sp>
      <p:sp>
        <p:nvSpPr>
          <p:cNvPr id="4" name="Text 2"/>
          <p:cNvSpPr/>
          <p:nvPr/>
        </p:nvSpPr>
        <p:spPr>
          <a:xfrm>
            <a:off x="914400" y="1280160"/>
            <a:ext cx="548640" cy="502920"/>
          </a:xfrm>
          <a:prstGeom prst="rect">
            <a:avLst/>
          </a:prstGeom>
          <a:noFill/>
          <a:ln/>
        </p:spPr>
        <p:txBody>
          <a:bodyPr wrap="square" lIns="0" tIns="0" rIns="0" bIns="0" rtlCol="0" anchor="ctr"/>
          <a:lstStyle/>
          <a:p>
            <a:pPr marL="0" indent="0">
              <a:buNone/>
            </a:pPr>
            <a:r>
              <a:rPr lang="en-US" sz="2400" b="1" dirty="0">
                <a:solidFill>
                  <a:srgbClr val="D97757"/>
                </a:solidFill>
                <a:latin typeface="Lora" pitchFamily="34" charset="0"/>
                <a:ea typeface="Lora" pitchFamily="34" charset="-122"/>
                <a:cs typeface="Lora" pitchFamily="34" charset="-120"/>
              </a:rPr>
              <a:t>01</a:t>
            </a:r>
            <a:endParaRPr lang="en-US" sz="2400" dirty="0"/>
          </a:p>
        </p:txBody>
      </p:sp>
      <p:sp>
        <p:nvSpPr>
          <p:cNvPr id="5" name="Text 3"/>
          <p:cNvSpPr/>
          <p:nvPr/>
        </p:nvSpPr>
        <p:spPr>
          <a:xfrm>
            <a:off x="1554480" y="1280160"/>
            <a:ext cx="7019134" cy="274320"/>
          </a:xfrm>
          <a:prstGeom prst="rect">
            <a:avLst/>
          </a:prstGeom>
          <a:noFill/>
          <a:ln/>
        </p:spPr>
        <p:txBody>
          <a:bodyPr wrap="square" lIns="0" tIns="0" rIns="0" bIns="0" rtlCol="0" anchor="ctr"/>
          <a:lstStyle/>
          <a:p>
            <a:pPr marL="0" indent="0">
              <a:buNone/>
            </a:pPr>
            <a:r>
              <a:rPr lang="en-US" sz="1800" b="1" dirty="0">
                <a:solidFill>
                  <a:srgbClr val="141413"/>
                </a:solidFill>
                <a:latin typeface="Lora" pitchFamily="34" charset="0"/>
                <a:ea typeface="Lora" pitchFamily="34" charset="-122"/>
                <a:cs typeface="Lora" pitchFamily="34" charset="-120"/>
              </a:rPr>
              <a:t>Skills fundamentals</a:t>
            </a:r>
            <a:endParaRPr lang="en-US" sz="1800" dirty="0"/>
          </a:p>
        </p:txBody>
      </p:sp>
      <p:sp>
        <p:nvSpPr>
          <p:cNvPr id="6" name="Text 4"/>
          <p:cNvSpPr/>
          <p:nvPr/>
        </p:nvSpPr>
        <p:spPr>
          <a:xfrm>
            <a:off x="1554480" y="1508760"/>
            <a:ext cx="5486400" cy="274320"/>
          </a:xfrm>
          <a:prstGeom prst="rect">
            <a:avLst/>
          </a:prstGeom>
          <a:noFill/>
          <a:ln/>
        </p:spPr>
        <p:txBody>
          <a:bodyPr wrap="square" lIns="0" tIns="0" rIns="0" bIns="0" rtlCol="0" anchor="ctr"/>
          <a:lstStyle/>
          <a:p>
            <a:pPr marL="0" indent="0">
              <a:buNone/>
            </a:pPr>
            <a:r>
              <a:rPr lang="en-US" sz="1300" dirty="0">
                <a:solidFill>
                  <a:srgbClr val="B0AEA5"/>
                </a:solidFill>
                <a:latin typeface="Lora" pitchFamily="34" charset="0"/>
                <a:ea typeface="Lora" pitchFamily="34" charset="-122"/>
                <a:cs typeface="Lora" pitchFamily="34" charset="-120"/>
              </a:rPr>
              <a:t>What skills are, where they live, and how matching works</a:t>
            </a:r>
            <a:endParaRPr lang="en-US" sz="1300" dirty="0"/>
          </a:p>
        </p:txBody>
      </p:sp>
      <p:sp>
        <p:nvSpPr>
          <p:cNvPr id="7" name="Shape 5"/>
          <p:cNvSpPr/>
          <p:nvPr/>
        </p:nvSpPr>
        <p:spPr>
          <a:xfrm>
            <a:off x="640080" y="1920240"/>
            <a:ext cx="54864" cy="502920"/>
          </a:xfrm>
          <a:prstGeom prst="rect">
            <a:avLst/>
          </a:prstGeom>
          <a:solidFill>
            <a:srgbClr val="6A9BCC"/>
          </a:solidFill>
          <a:ln/>
        </p:spPr>
        <p:txBody>
          <a:bodyPr/>
          <a:lstStyle/>
          <a:p>
            <a:endParaRPr lang="en-US"/>
          </a:p>
        </p:txBody>
      </p:sp>
      <p:sp>
        <p:nvSpPr>
          <p:cNvPr id="8" name="Text 6"/>
          <p:cNvSpPr/>
          <p:nvPr/>
        </p:nvSpPr>
        <p:spPr>
          <a:xfrm>
            <a:off x="914400" y="1920240"/>
            <a:ext cx="548640" cy="502920"/>
          </a:xfrm>
          <a:prstGeom prst="rect">
            <a:avLst/>
          </a:prstGeom>
          <a:noFill/>
          <a:ln/>
        </p:spPr>
        <p:txBody>
          <a:bodyPr wrap="square" lIns="0" tIns="0" rIns="0" bIns="0" rtlCol="0" anchor="ctr"/>
          <a:lstStyle/>
          <a:p>
            <a:pPr marL="0" indent="0">
              <a:buNone/>
            </a:pPr>
            <a:r>
              <a:rPr lang="en-US" sz="2400" b="1" dirty="0">
                <a:solidFill>
                  <a:srgbClr val="6A9BCC"/>
                </a:solidFill>
                <a:latin typeface="Lora" pitchFamily="34" charset="0"/>
                <a:ea typeface="Lora" pitchFamily="34" charset="-122"/>
                <a:cs typeface="Lora" pitchFamily="34" charset="-120"/>
              </a:rPr>
              <a:t>02</a:t>
            </a:r>
            <a:endParaRPr lang="en-US" sz="2400" dirty="0"/>
          </a:p>
        </p:txBody>
      </p:sp>
      <p:sp>
        <p:nvSpPr>
          <p:cNvPr id="9" name="Text 7"/>
          <p:cNvSpPr/>
          <p:nvPr/>
        </p:nvSpPr>
        <p:spPr>
          <a:xfrm>
            <a:off x="1554480" y="1920240"/>
            <a:ext cx="7019134" cy="274320"/>
          </a:xfrm>
          <a:prstGeom prst="rect">
            <a:avLst/>
          </a:prstGeom>
          <a:noFill/>
          <a:ln/>
        </p:spPr>
        <p:txBody>
          <a:bodyPr wrap="square" lIns="0" tIns="0" rIns="0" bIns="0" rtlCol="0" anchor="ctr"/>
          <a:lstStyle/>
          <a:p>
            <a:pPr marL="0" indent="0">
              <a:buNone/>
            </a:pPr>
            <a:r>
              <a:rPr lang="en-US" sz="1800" b="1" dirty="0">
                <a:solidFill>
                  <a:srgbClr val="141413"/>
                </a:solidFill>
                <a:latin typeface="Lora" pitchFamily="34" charset="0"/>
                <a:ea typeface="Lora" pitchFamily="34" charset="-122"/>
                <a:cs typeface="Lora" pitchFamily="34" charset="-120"/>
              </a:rPr>
              <a:t>Creating and configuring skills</a:t>
            </a:r>
            <a:endParaRPr lang="en-US" sz="1800" dirty="0"/>
          </a:p>
        </p:txBody>
      </p:sp>
      <p:sp>
        <p:nvSpPr>
          <p:cNvPr id="10" name="Text 8"/>
          <p:cNvSpPr/>
          <p:nvPr/>
        </p:nvSpPr>
        <p:spPr>
          <a:xfrm>
            <a:off x="1554480" y="2148840"/>
            <a:ext cx="5486400" cy="274320"/>
          </a:xfrm>
          <a:prstGeom prst="rect">
            <a:avLst/>
          </a:prstGeom>
          <a:noFill/>
          <a:ln/>
        </p:spPr>
        <p:txBody>
          <a:bodyPr wrap="square" lIns="0" tIns="0" rIns="0" bIns="0" rtlCol="0" anchor="ctr"/>
          <a:lstStyle/>
          <a:p>
            <a:pPr marL="0" indent="0">
              <a:buNone/>
            </a:pPr>
            <a:r>
              <a:rPr lang="en-US" sz="1300" dirty="0">
                <a:solidFill>
                  <a:srgbClr val="B0AEA5"/>
                </a:solidFill>
                <a:latin typeface="Lora" pitchFamily="34" charset="0"/>
                <a:ea typeface="Lora" pitchFamily="34" charset="-122"/>
                <a:cs typeface="Lora" pitchFamily="34" charset="-120"/>
              </a:rPr>
              <a:t>Your first skill, frontmatter, arguments, and content types</a:t>
            </a:r>
            <a:endParaRPr lang="en-US" sz="1300" dirty="0"/>
          </a:p>
        </p:txBody>
      </p:sp>
      <p:sp>
        <p:nvSpPr>
          <p:cNvPr id="11" name="Shape 9"/>
          <p:cNvSpPr/>
          <p:nvPr/>
        </p:nvSpPr>
        <p:spPr>
          <a:xfrm>
            <a:off x="640080" y="2560320"/>
            <a:ext cx="54864" cy="502920"/>
          </a:xfrm>
          <a:prstGeom prst="rect">
            <a:avLst/>
          </a:prstGeom>
          <a:solidFill>
            <a:srgbClr val="788C5D"/>
          </a:solidFill>
          <a:ln/>
        </p:spPr>
        <p:txBody>
          <a:bodyPr/>
          <a:lstStyle/>
          <a:p>
            <a:endParaRPr lang="en-US"/>
          </a:p>
        </p:txBody>
      </p:sp>
      <p:sp>
        <p:nvSpPr>
          <p:cNvPr id="12" name="Text 10"/>
          <p:cNvSpPr/>
          <p:nvPr/>
        </p:nvSpPr>
        <p:spPr>
          <a:xfrm>
            <a:off x="914400" y="2560320"/>
            <a:ext cx="548640" cy="502920"/>
          </a:xfrm>
          <a:prstGeom prst="rect">
            <a:avLst/>
          </a:prstGeom>
          <a:noFill/>
          <a:ln/>
        </p:spPr>
        <p:txBody>
          <a:bodyPr wrap="square" lIns="0" tIns="0" rIns="0" bIns="0" rtlCol="0" anchor="ctr"/>
          <a:lstStyle/>
          <a:p>
            <a:pPr marL="0" indent="0">
              <a:buNone/>
            </a:pPr>
            <a:r>
              <a:rPr lang="en-US" sz="2400" b="1" dirty="0">
                <a:solidFill>
                  <a:srgbClr val="788C5D"/>
                </a:solidFill>
                <a:latin typeface="Lora" pitchFamily="34" charset="0"/>
                <a:ea typeface="Lora" pitchFamily="34" charset="-122"/>
                <a:cs typeface="Lora" pitchFamily="34" charset="-120"/>
              </a:rPr>
              <a:t>03</a:t>
            </a:r>
            <a:endParaRPr lang="en-US" sz="2400" dirty="0"/>
          </a:p>
        </p:txBody>
      </p:sp>
      <p:sp>
        <p:nvSpPr>
          <p:cNvPr id="13" name="Text 11"/>
          <p:cNvSpPr/>
          <p:nvPr/>
        </p:nvSpPr>
        <p:spPr>
          <a:xfrm>
            <a:off x="1554480" y="2560320"/>
            <a:ext cx="7019134" cy="274320"/>
          </a:xfrm>
          <a:prstGeom prst="rect">
            <a:avLst/>
          </a:prstGeom>
          <a:noFill/>
          <a:ln/>
        </p:spPr>
        <p:txBody>
          <a:bodyPr wrap="square" lIns="0" tIns="0" rIns="0" bIns="0" rtlCol="0" anchor="ctr"/>
          <a:lstStyle/>
          <a:p>
            <a:pPr marL="0" indent="0">
              <a:buNone/>
            </a:pPr>
            <a:r>
              <a:rPr lang="en-US" sz="1800" b="1" dirty="0">
                <a:solidFill>
                  <a:srgbClr val="141413"/>
                </a:solidFill>
                <a:latin typeface="Lora" pitchFamily="34" charset="0"/>
                <a:ea typeface="Lora" pitchFamily="34" charset="-122"/>
                <a:cs typeface="Lora" pitchFamily="34" charset="-120"/>
              </a:rPr>
              <a:t>Security and access control</a:t>
            </a:r>
            <a:endParaRPr lang="en-US" sz="1800" dirty="0"/>
          </a:p>
        </p:txBody>
      </p:sp>
      <p:sp>
        <p:nvSpPr>
          <p:cNvPr id="14" name="Text 12"/>
          <p:cNvSpPr/>
          <p:nvPr/>
        </p:nvSpPr>
        <p:spPr>
          <a:xfrm>
            <a:off x="1554480" y="2788920"/>
            <a:ext cx="5486400" cy="274320"/>
          </a:xfrm>
          <a:prstGeom prst="rect">
            <a:avLst/>
          </a:prstGeom>
          <a:noFill/>
          <a:ln/>
        </p:spPr>
        <p:txBody>
          <a:bodyPr wrap="square" lIns="0" tIns="0" rIns="0" bIns="0" rtlCol="0" anchor="ctr"/>
          <a:lstStyle/>
          <a:p>
            <a:pPr marL="0" indent="0">
              <a:buNone/>
            </a:pPr>
            <a:r>
              <a:rPr lang="en-US" sz="1300" dirty="0">
                <a:solidFill>
                  <a:srgbClr val="B0AEA5"/>
                </a:solidFill>
                <a:latin typeface="Lora" pitchFamily="34" charset="0"/>
                <a:ea typeface="Lora" pitchFamily="34" charset="-122"/>
                <a:cs typeface="Lora" pitchFamily="34" charset="-120"/>
              </a:rPr>
              <a:t>Invocation control, tool restrictions, and permission rules</a:t>
            </a:r>
            <a:endParaRPr lang="en-US" sz="1300" dirty="0"/>
          </a:p>
        </p:txBody>
      </p:sp>
      <p:sp>
        <p:nvSpPr>
          <p:cNvPr id="15" name="Shape 13"/>
          <p:cNvSpPr/>
          <p:nvPr/>
        </p:nvSpPr>
        <p:spPr>
          <a:xfrm>
            <a:off x="640080" y="3200400"/>
            <a:ext cx="54864" cy="502920"/>
          </a:xfrm>
          <a:prstGeom prst="rect">
            <a:avLst/>
          </a:prstGeom>
          <a:solidFill>
            <a:srgbClr val="B5758A"/>
          </a:solidFill>
          <a:ln/>
        </p:spPr>
        <p:txBody>
          <a:bodyPr/>
          <a:lstStyle/>
          <a:p>
            <a:endParaRPr lang="en-US">
              <a:solidFill>
                <a:srgbClr val="B5758A"/>
              </a:solidFill>
            </a:endParaRPr>
          </a:p>
        </p:txBody>
      </p:sp>
      <p:sp>
        <p:nvSpPr>
          <p:cNvPr id="16" name="Text 14"/>
          <p:cNvSpPr/>
          <p:nvPr/>
        </p:nvSpPr>
        <p:spPr>
          <a:xfrm>
            <a:off x="914400" y="3200400"/>
            <a:ext cx="548640" cy="502920"/>
          </a:xfrm>
          <a:prstGeom prst="rect">
            <a:avLst/>
          </a:prstGeom>
          <a:noFill/>
          <a:ln/>
        </p:spPr>
        <p:txBody>
          <a:bodyPr wrap="square" lIns="0" tIns="0" rIns="0" bIns="0" rtlCol="0" anchor="ctr"/>
          <a:lstStyle/>
          <a:p>
            <a:pPr marL="0" indent="0">
              <a:buNone/>
            </a:pPr>
            <a:r>
              <a:rPr lang="en-US" sz="2400" b="1" dirty="0">
                <a:solidFill>
                  <a:srgbClr val="B5758A"/>
                </a:solidFill>
                <a:latin typeface="Lora" pitchFamily="34" charset="0"/>
                <a:ea typeface="Lora" pitchFamily="34" charset="-122"/>
                <a:cs typeface="Lora" pitchFamily="34" charset="-120"/>
              </a:rPr>
              <a:t>04</a:t>
            </a:r>
            <a:endParaRPr lang="en-US" sz="2400" dirty="0">
              <a:solidFill>
                <a:srgbClr val="B5758A"/>
              </a:solidFill>
            </a:endParaRPr>
          </a:p>
        </p:txBody>
      </p:sp>
      <p:sp>
        <p:nvSpPr>
          <p:cNvPr id="17" name="Text 15"/>
          <p:cNvSpPr/>
          <p:nvPr/>
        </p:nvSpPr>
        <p:spPr>
          <a:xfrm>
            <a:off x="1554480" y="3200400"/>
            <a:ext cx="7019134" cy="274320"/>
          </a:xfrm>
          <a:prstGeom prst="rect">
            <a:avLst/>
          </a:prstGeom>
          <a:noFill/>
          <a:ln/>
        </p:spPr>
        <p:txBody>
          <a:bodyPr wrap="square" lIns="0" tIns="0" rIns="0" bIns="0" rtlCol="0" anchor="ctr"/>
          <a:lstStyle/>
          <a:p>
            <a:pPr marL="0" indent="0">
              <a:buNone/>
            </a:pPr>
            <a:r>
              <a:rPr lang="en-US" sz="1800" b="1" dirty="0">
                <a:solidFill>
                  <a:srgbClr val="141413"/>
                </a:solidFill>
                <a:latin typeface="Lora" pitchFamily="34" charset="0"/>
                <a:ea typeface="Lora" pitchFamily="34" charset="-122"/>
                <a:cs typeface="Lora" pitchFamily="34" charset="-120"/>
              </a:rPr>
              <a:t>Advanced execution patterns</a:t>
            </a:r>
            <a:endParaRPr lang="en-US" sz="1800" dirty="0"/>
          </a:p>
        </p:txBody>
      </p:sp>
      <p:sp>
        <p:nvSpPr>
          <p:cNvPr id="18" name="Text 16"/>
          <p:cNvSpPr/>
          <p:nvPr/>
        </p:nvSpPr>
        <p:spPr>
          <a:xfrm>
            <a:off x="1554480" y="3429000"/>
            <a:ext cx="5486400" cy="274320"/>
          </a:xfrm>
          <a:prstGeom prst="rect">
            <a:avLst/>
          </a:prstGeom>
          <a:noFill/>
          <a:ln/>
        </p:spPr>
        <p:txBody>
          <a:bodyPr wrap="square" lIns="0" tIns="0" rIns="0" bIns="0" rtlCol="0" anchor="ctr"/>
          <a:lstStyle/>
          <a:p>
            <a:pPr marL="0" indent="0">
              <a:buNone/>
            </a:pPr>
            <a:r>
              <a:rPr lang="en-US" sz="1300" dirty="0">
                <a:solidFill>
                  <a:srgbClr val="B0AEA5"/>
                </a:solidFill>
                <a:latin typeface="Lora" pitchFamily="34" charset="0"/>
                <a:ea typeface="Lora" pitchFamily="34" charset="-122"/>
                <a:cs typeface="Lora" pitchFamily="34" charset="-120"/>
              </a:rPr>
              <a:t>Dynamic context, subagents, and visual output</a:t>
            </a:r>
            <a:endParaRPr lang="en-US" sz="1300" dirty="0"/>
          </a:p>
        </p:txBody>
      </p:sp>
      <p:sp>
        <p:nvSpPr>
          <p:cNvPr id="19" name="Shape 17"/>
          <p:cNvSpPr/>
          <p:nvPr/>
        </p:nvSpPr>
        <p:spPr>
          <a:xfrm>
            <a:off x="640080" y="3840480"/>
            <a:ext cx="54864" cy="502920"/>
          </a:xfrm>
          <a:prstGeom prst="rect">
            <a:avLst/>
          </a:prstGeom>
          <a:solidFill>
            <a:srgbClr val="8B8CDF"/>
          </a:solidFill>
          <a:ln/>
        </p:spPr>
        <p:txBody>
          <a:bodyPr/>
          <a:lstStyle/>
          <a:p>
            <a:endParaRPr lang="en-US"/>
          </a:p>
        </p:txBody>
      </p:sp>
      <p:sp>
        <p:nvSpPr>
          <p:cNvPr id="20" name="Text 18"/>
          <p:cNvSpPr/>
          <p:nvPr/>
        </p:nvSpPr>
        <p:spPr>
          <a:xfrm>
            <a:off x="914400" y="3840480"/>
            <a:ext cx="548640" cy="502920"/>
          </a:xfrm>
          <a:prstGeom prst="rect">
            <a:avLst/>
          </a:prstGeom>
          <a:noFill/>
          <a:ln/>
        </p:spPr>
        <p:txBody>
          <a:bodyPr wrap="square" lIns="0" tIns="0" rIns="0" bIns="0" rtlCol="0" anchor="ctr"/>
          <a:lstStyle/>
          <a:p>
            <a:pPr marL="0" indent="0">
              <a:buNone/>
            </a:pPr>
            <a:r>
              <a:rPr lang="en-US" sz="2400" b="1" dirty="0">
                <a:solidFill>
                  <a:srgbClr val="8B8CDF"/>
                </a:solidFill>
                <a:latin typeface="Lora" pitchFamily="34" charset="0"/>
                <a:ea typeface="Lora" pitchFamily="34" charset="-122"/>
                <a:cs typeface="Lora" pitchFamily="34" charset="-120"/>
              </a:rPr>
              <a:t>05</a:t>
            </a:r>
            <a:endParaRPr lang="en-US" sz="2400" dirty="0">
              <a:solidFill>
                <a:srgbClr val="8B8CDF"/>
              </a:solidFill>
            </a:endParaRPr>
          </a:p>
        </p:txBody>
      </p:sp>
      <p:sp>
        <p:nvSpPr>
          <p:cNvPr id="21" name="Text 19"/>
          <p:cNvSpPr/>
          <p:nvPr/>
        </p:nvSpPr>
        <p:spPr>
          <a:xfrm>
            <a:off x="1554480" y="3840480"/>
            <a:ext cx="7019134" cy="274320"/>
          </a:xfrm>
          <a:prstGeom prst="rect">
            <a:avLst/>
          </a:prstGeom>
          <a:noFill/>
          <a:ln/>
        </p:spPr>
        <p:txBody>
          <a:bodyPr wrap="square" lIns="0" tIns="0" rIns="0" bIns="0" rtlCol="0" anchor="ctr"/>
          <a:lstStyle/>
          <a:p>
            <a:pPr marL="0" indent="0">
              <a:buNone/>
            </a:pPr>
            <a:r>
              <a:rPr lang="en-US" sz="1800" b="1" dirty="0">
                <a:solidFill>
                  <a:srgbClr val="141413"/>
                </a:solidFill>
                <a:latin typeface="Lora" pitchFamily="34" charset="0"/>
                <a:ea typeface="Lora" pitchFamily="34" charset="-122"/>
                <a:cs typeface="Lora" pitchFamily="34" charset="-120"/>
              </a:rPr>
              <a:t>Skills in context and troubleshooting</a:t>
            </a:r>
            <a:endParaRPr lang="en-US" sz="1800" dirty="0"/>
          </a:p>
        </p:txBody>
      </p:sp>
      <p:sp>
        <p:nvSpPr>
          <p:cNvPr id="22" name="Text 20"/>
          <p:cNvSpPr/>
          <p:nvPr/>
        </p:nvSpPr>
        <p:spPr>
          <a:xfrm>
            <a:off x="1554480" y="4069080"/>
            <a:ext cx="5486400" cy="274320"/>
          </a:xfrm>
          <a:prstGeom prst="rect">
            <a:avLst/>
          </a:prstGeom>
          <a:noFill/>
          <a:ln/>
        </p:spPr>
        <p:txBody>
          <a:bodyPr wrap="square" lIns="0" tIns="0" rIns="0" bIns="0" rtlCol="0" anchor="ctr"/>
          <a:lstStyle/>
          <a:p>
            <a:pPr marL="0" indent="0">
              <a:buNone/>
            </a:pPr>
            <a:r>
              <a:rPr lang="en-US" sz="1300" dirty="0">
                <a:solidFill>
                  <a:srgbClr val="B0AEA5"/>
                </a:solidFill>
                <a:latin typeface="Lora" pitchFamily="34" charset="0"/>
                <a:ea typeface="Lora" pitchFamily="34" charset="-122"/>
                <a:cs typeface="Lora" pitchFamily="34" charset="-120"/>
              </a:rPr>
              <a:t>Built-in skills, comparisons, and debugging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640080" y="365760"/>
            <a:ext cx="7040880" cy="548640"/>
          </a:xfrm>
          <a:prstGeom prst="rect">
            <a:avLst/>
          </a:prstGeom>
          <a:noFill/>
          <a:ln/>
        </p:spPr>
        <p:txBody>
          <a:bodyPr wrap="square" lIns="0" tIns="0" rIns="0" bIns="0" rtlCol="0" anchor="ctr"/>
          <a:lstStyle/>
          <a:p>
            <a:pPr marL="0" indent="0">
              <a:buNone/>
            </a:pPr>
            <a:r>
              <a:rPr lang="en-US" sz="3200" b="1" dirty="0">
                <a:solidFill>
                  <a:srgbClr val="141413"/>
                </a:solidFill>
                <a:latin typeface="Test Tiempos Headline Light" pitchFamily="34" charset="0"/>
                <a:ea typeface="Test Tiempos Headline Light" pitchFamily="34" charset="-122"/>
                <a:cs typeface="Test Tiempos Headline Light" pitchFamily="34" charset="-120"/>
              </a:rPr>
              <a:t>Today you’ll learn...</a:t>
            </a:r>
            <a:endParaRPr lang="en-US" sz="3200" dirty="0"/>
          </a:p>
        </p:txBody>
      </p:sp>
      <p:sp>
        <p:nvSpPr>
          <p:cNvPr id="4" name="Text 1"/>
          <p:cNvSpPr/>
          <p:nvPr/>
        </p:nvSpPr>
        <p:spPr>
          <a:xfrm>
            <a:off x="640080" y="1005840"/>
            <a:ext cx="7315200" cy="365760"/>
          </a:xfrm>
          <a:prstGeom prst="rect">
            <a:avLst/>
          </a:prstGeom>
          <a:noFill/>
          <a:ln/>
        </p:spPr>
        <p:txBody>
          <a:bodyPr wrap="square" lIns="0" tIns="0" rIns="0" bIns="0" rtlCol="0" anchor="ctr"/>
          <a:lstStyle/>
          <a:p>
            <a:pPr marL="0" indent="0">
              <a:buNone/>
            </a:pPr>
            <a:r>
              <a:rPr lang="en-US" sz="1500" dirty="0">
                <a:solidFill>
                  <a:srgbClr val="B0AEA5"/>
                </a:solidFill>
                <a:latin typeface="Lora" pitchFamily="34" charset="0"/>
                <a:ea typeface="Lora" pitchFamily="34" charset="-122"/>
                <a:cs typeface="Lora" pitchFamily="34" charset="-120"/>
              </a:rPr>
              <a:t>By the end of this training, you will be able to:</a:t>
            </a:r>
            <a:endParaRPr lang="en-US" sz="1500" dirty="0"/>
          </a:p>
        </p:txBody>
      </p:sp>
      <p:sp>
        <p:nvSpPr>
          <p:cNvPr id="5" name="Shape 2"/>
          <p:cNvSpPr/>
          <p:nvPr/>
        </p:nvSpPr>
        <p:spPr>
          <a:xfrm>
            <a:off x="640080" y="1554480"/>
            <a:ext cx="7863840" cy="658368"/>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 name="Shape 3"/>
          <p:cNvSpPr/>
          <p:nvPr/>
        </p:nvSpPr>
        <p:spPr>
          <a:xfrm>
            <a:off x="640080" y="1554480"/>
            <a:ext cx="54864" cy="658368"/>
          </a:xfrm>
          <a:prstGeom prst="rect">
            <a:avLst/>
          </a:prstGeom>
          <a:solidFill>
            <a:srgbClr val="D97757"/>
          </a:solidFill>
          <a:ln/>
        </p:spPr>
        <p:txBody>
          <a:bodyPr/>
          <a:lstStyle/>
          <a:p>
            <a:endParaRPr lang="en-US"/>
          </a:p>
        </p:txBody>
      </p:sp>
      <p:sp>
        <p:nvSpPr>
          <p:cNvPr id="8" name="Text 4"/>
          <p:cNvSpPr/>
          <p:nvPr/>
        </p:nvSpPr>
        <p:spPr>
          <a:xfrm>
            <a:off x="1237742" y="1655064"/>
            <a:ext cx="7137331" cy="457200"/>
          </a:xfrm>
          <a:prstGeom prst="rect">
            <a:avLst/>
          </a:prstGeom>
          <a:noFill/>
          <a:ln/>
        </p:spPr>
        <p:txBody>
          <a:bodyPr wrap="square" lIns="0" tIns="0" rIns="0" bIns="0" rtlCol="0" anchor="ctr"/>
          <a:lstStyle/>
          <a:p>
            <a:pPr marL="0" indent="0">
              <a:buNone/>
            </a:pPr>
            <a:r>
              <a:rPr lang="en-US" sz="1400" dirty="0">
                <a:solidFill>
                  <a:srgbClr val="141413"/>
                </a:solidFill>
                <a:latin typeface="Lora" pitchFamily="34" charset="0"/>
                <a:ea typeface="Lora" pitchFamily="34" charset="-122"/>
                <a:cs typeface="Lora" pitchFamily="34" charset="-120"/>
              </a:rPr>
              <a:t>Explain what skills are, how semantic matching selects them, and where they are stored</a:t>
            </a:r>
            <a:endParaRPr lang="en-US" sz="1400" dirty="0"/>
          </a:p>
        </p:txBody>
      </p:sp>
      <p:sp>
        <p:nvSpPr>
          <p:cNvPr id="9" name="Shape 5"/>
          <p:cNvSpPr/>
          <p:nvPr/>
        </p:nvSpPr>
        <p:spPr>
          <a:xfrm>
            <a:off x="640080" y="2377440"/>
            <a:ext cx="7863840" cy="658368"/>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0" name="Shape 6"/>
          <p:cNvSpPr/>
          <p:nvPr/>
        </p:nvSpPr>
        <p:spPr>
          <a:xfrm>
            <a:off x="640080" y="2377440"/>
            <a:ext cx="54864" cy="658368"/>
          </a:xfrm>
          <a:prstGeom prst="rect">
            <a:avLst/>
          </a:prstGeom>
          <a:solidFill>
            <a:srgbClr val="D97757"/>
          </a:solidFill>
          <a:ln/>
        </p:spPr>
        <p:txBody>
          <a:bodyPr/>
          <a:lstStyle/>
          <a:p>
            <a:endParaRPr lang="en-US"/>
          </a:p>
        </p:txBody>
      </p:sp>
      <p:sp>
        <p:nvSpPr>
          <p:cNvPr id="12" name="Text 7"/>
          <p:cNvSpPr/>
          <p:nvPr/>
        </p:nvSpPr>
        <p:spPr>
          <a:xfrm>
            <a:off x="1237742" y="2478024"/>
            <a:ext cx="7137331" cy="457200"/>
          </a:xfrm>
          <a:prstGeom prst="rect">
            <a:avLst/>
          </a:prstGeom>
          <a:noFill/>
          <a:ln/>
        </p:spPr>
        <p:txBody>
          <a:bodyPr wrap="square" lIns="0" tIns="0" rIns="0" bIns="0" rtlCol="0" anchor="ctr"/>
          <a:lstStyle/>
          <a:p>
            <a:pPr marL="0" indent="0">
              <a:buNone/>
            </a:pPr>
            <a:r>
              <a:rPr lang="en-US" sz="1400" dirty="0">
                <a:solidFill>
                  <a:srgbClr val="141413"/>
                </a:solidFill>
                <a:latin typeface="Lora" pitchFamily="34" charset="0"/>
                <a:ea typeface="Lora" pitchFamily="34" charset="-122"/>
                <a:cs typeface="Lora" pitchFamily="34" charset="-120"/>
              </a:rPr>
              <a:t>Build a skill from scratch with YAML frontmatter, arguments, and supporting files</a:t>
            </a:r>
            <a:endParaRPr lang="en-US" sz="1400" dirty="0"/>
          </a:p>
        </p:txBody>
      </p:sp>
      <p:sp>
        <p:nvSpPr>
          <p:cNvPr id="13" name="Shape 8"/>
          <p:cNvSpPr/>
          <p:nvPr/>
        </p:nvSpPr>
        <p:spPr>
          <a:xfrm>
            <a:off x="640080" y="3200400"/>
            <a:ext cx="7863840" cy="658368"/>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4" name="Shape 9"/>
          <p:cNvSpPr/>
          <p:nvPr/>
        </p:nvSpPr>
        <p:spPr>
          <a:xfrm>
            <a:off x="640080" y="3200400"/>
            <a:ext cx="54864" cy="658368"/>
          </a:xfrm>
          <a:prstGeom prst="rect">
            <a:avLst/>
          </a:prstGeom>
          <a:solidFill>
            <a:srgbClr val="D97757"/>
          </a:solidFill>
          <a:ln/>
        </p:spPr>
        <p:txBody>
          <a:bodyPr/>
          <a:lstStyle/>
          <a:p>
            <a:endParaRPr lang="en-US"/>
          </a:p>
        </p:txBody>
      </p:sp>
      <p:sp>
        <p:nvSpPr>
          <p:cNvPr id="16" name="Text 10"/>
          <p:cNvSpPr/>
          <p:nvPr/>
        </p:nvSpPr>
        <p:spPr>
          <a:xfrm>
            <a:off x="1234440" y="3300984"/>
            <a:ext cx="7140633" cy="457200"/>
          </a:xfrm>
          <a:prstGeom prst="rect">
            <a:avLst/>
          </a:prstGeom>
          <a:noFill/>
          <a:ln/>
        </p:spPr>
        <p:txBody>
          <a:bodyPr wrap="square" lIns="0" tIns="0" rIns="0" bIns="0" rtlCol="0" anchor="ctr"/>
          <a:lstStyle/>
          <a:p>
            <a:pPr marL="0" indent="0">
              <a:buNone/>
            </a:pPr>
            <a:r>
              <a:rPr lang="en-US" sz="1400" dirty="0">
                <a:solidFill>
                  <a:srgbClr val="141413"/>
                </a:solidFill>
                <a:latin typeface="Lora" pitchFamily="34" charset="0"/>
                <a:ea typeface="Lora" pitchFamily="34" charset="-122"/>
                <a:cs typeface="Lora" pitchFamily="34" charset="-120"/>
              </a:rPr>
              <a:t>Configure invocation control, tool restrictions, and enterprise managed settings</a:t>
            </a:r>
            <a:endParaRPr lang="en-US" sz="1400" dirty="0"/>
          </a:p>
        </p:txBody>
      </p:sp>
      <p:sp>
        <p:nvSpPr>
          <p:cNvPr id="17" name="Shape 11"/>
          <p:cNvSpPr/>
          <p:nvPr/>
        </p:nvSpPr>
        <p:spPr>
          <a:xfrm>
            <a:off x="640080" y="4023360"/>
            <a:ext cx="7863840" cy="658368"/>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8" name="Shape 12"/>
          <p:cNvSpPr/>
          <p:nvPr/>
        </p:nvSpPr>
        <p:spPr>
          <a:xfrm>
            <a:off x="640080" y="4023360"/>
            <a:ext cx="54864" cy="658368"/>
          </a:xfrm>
          <a:prstGeom prst="rect">
            <a:avLst/>
          </a:prstGeom>
          <a:solidFill>
            <a:srgbClr val="D97757"/>
          </a:solidFill>
          <a:ln/>
        </p:spPr>
        <p:txBody>
          <a:bodyPr/>
          <a:lstStyle/>
          <a:p>
            <a:endParaRPr lang="en-US"/>
          </a:p>
        </p:txBody>
      </p:sp>
      <p:sp>
        <p:nvSpPr>
          <p:cNvPr id="20" name="Text 13"/>
          <p:cNvSpPr/>
          <p:nvPr/>
        </p:nvSpPr>
        <p:spPr>
          <a:xfrm>
            <a:off x="1234440" y="4123944"/>
            <a:ext cx="7140633" cy="457200"/>
          </a:xfrm>
          <a:prstGeom prst="rect">
            <a:avLst/>
          </a:prstGeom>
          <a:noFill/>
          <a:ln/>
        </p:spPr>
        <p:txBody>
          <a:bodyPr wrap="square" lIns="0" tIns="0" rIns="0" bIns="0" rtlCol="0" anchor="ctr"/>
          <a:lstStyle/>
          <a:p>
            <a:pPr marL="0" indent="0">
              <a:buNone/>
            </a:pPr>
            <a:r>
              <a:rPr lang="en-US" sz="1400" dirty="0">
                <a:solidFill>
                  <a:srgbClr val="141413"/>
                </a:solidFill>
                <a:latin typeface="Lora" pitchFamily="34" charset="0"/>
                <a:ea typeface="Lora" pitchFamily="34" charset="-122"/>
                <a:cs typeface="Lora" pitchFamily="34" charset="-120"/>
              </a:rPr>
              <a:t>Troubleshoot common skill issues and choose between skills, hooks, subagents, and MCP</a:t>
            </a:r>
            <a:endParaRPr lang="en-US" sz="1400" dirty="0"/>
          </a:p>
        </p:txBody>
      </p:sp>
      <p:pic>
        <p:nvPicPr>
          <p:cNvPr id="24" name="Picture 23">
            <a:extLst>
              <a:ext uri="{FF2B5EF4-FFF2-40B4-BE49-F238E27FC236}">
                <a16:creationId xmlns:a16="http://schemas.microsoft.com/office/drawing/2014/main" id="{2FB40941-33AC-23CE-FE4C-C5BC4EE48A26}"/>
              </a:ext>
            </a:extLst>
          </p:cNvPr>
          <p:cNvPicPr>
            <a:picLocks noChangeAspect="1"/>
          </p:cNvPicPr>
          <p:nvPr/>
        </p:nvPicPr>
        <p:blipFill>
          <a:blip r:embed="rId3"/>
          <a:stretch>
            <a:fillRect/>
          </a:stretch>
        </p:blipFill>
        <p:spPr>
          <a:xfrm>
            <a:off x="827532" y="2591562"/>
            <a:ext cx="271018" cy="271018"/>
          </a:xfrm>
          <a:prstGeom prst="rect">
            <a:avLst/>
          </a:prstGeom>
        </p:spPr>
      </p:pic>
      <p:pic>
        <p:nvPicPr>
          <p:cNvPr id="28" name="Picture 27" descr="A black background with a black square  AI-generated content may be incorrect.">
            <a:extLst>
              <a:ext uri="{FF2B5EF4-FFF2-40B4-BE49-F238E27FC236}">
                <a16:creationId xmlns:a16="http://schemas.microsoft.com/office/drawing/2014/main" id="{110B13F6-591E-5747-4F57-0FD3975763A9}"/>
              </a:ext>
            </a:extLst>
          </p:cNvPr>
          <p:cNvPicPr>
            <a:picLocks noChangeAspect="1"/>
          </p:cNvPicPr>
          <p:nvPr/>
        </p:nvPicPr>
        <p:blipFill>
          <a:blip r:embed="rId4"/>
          <a:stretch>
            <a:fillRect/>
          </a:stretch>
        </p:blipFill>
        <p:spPr>
          <a:xfrm>
            <a:off x="827532" y="3402076"/>
            <a:ext cx="274320" cy="274320"/>
          </a:xfrm>
          <a:prstGeom prst="rect">
            <a:avLst/>
          </a:prstGeom>
        </p:spPr>
      </p:pic>
      <p:pic>
        <p:nvPicPr>
          <p:cNvPr id="32" name="Picture 31" descr="A black background with a black square  AI-generated content may be incorrect.">
            <a:extLst>
              <a:ext uri="{FF2B5EF4-FFF2-40B4-BE49-F238E27FC236}">
                <a16:creationId xmlns:a16="http://schemas.microsoft.com/office/drawing/2014/main" id="{B3D6FEDE-7748-2DCC-DDD4-7192F9BEB6A0}"/>
              </a:ext>
            </a:extLst>
          </p:cNvPr>
          <p:cNvPicPr>
            <a:picLocks noChangeAspect="1"/>
          </p:cNvPicPr>
          <p:nvPr/>
        </p:nvPicPr>
        <p:blipFill>
          <a:blip r:embed="rId5"/>
          <a:stretch>
            <a:fillRect/>
          </a:stretch>
        </p:blipFill>
        <p:spPr>
          <a:xfrm>
            <a:off x="827532" y="4215384"/>
            <a:ext cx="274320" cy="274320"/>
          </a:xfrm>
          <a:prstGeom prst="rect">
            <a:avLst/>
          </a:prstGeom>
        </p:spPr>
      </p:pic>
      <p:pic>
        <p:nvPicPr>
          <p:cNvPr id="34" name="Picture 33" descr="A black background with a black square  AI-generated content may be incorrect.">
            <a:extLst>
              <a:ext uri="{FF2B5EF4-FFF2-40B4-BE49-F238E27FC236}">
                <a16:creationId xmlns:a16="http://schemas.microsoft.com/office/drawing/2014/main" id="{4CE821F1-65BE-9E3E-9500-7441F1A913B6}"/>
              </a:ext>
            </a:extLst>
          </p:cNvPr>
          <p:cNvPicPr>
            <a:picLocks noChangeAspect="1"/>
          </p:cNvPicPr>
          <p:nvPr/>
        </p:nvPicPr>
        <p:blipFill>
          <a:blip r:embed="rId6"/>
          <a:stretch>
            <a:fillRect/>
          </a:stretch>
        </p:blipFill>
        <p:spPr>
          <a:xfrm>
            <a:off x="827532" y="1767967"/>
            <a:ext cx="271018" cy="27101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1097280"/>
            <a:ext cx="2743200" cy="457200"/>
          </a:xfrm>
          <a:prstGeom prst="rect">
            <a:avLst/>
          </a:prstGeom>
          <a:noFill/>
          <a:ln/>
        </p:spPr>
        <p:txBody>
          <a:bodyPr wrap="square" lIns="0" tIns="0" rIns="0" bIns="0" rtlCol="0" anchor="ctr"/>
          <a:lstStyle/>
          <a:p>
            <a:pPr marL="0" indent="0">
              <a:buNone/>
            </a:pPr>
            <a:r>
              <a:rPr lang="en-US" sz="1400" b="1" dirty="0">
                <a:solidFill>
                  <a:srgbClr val="D97757"/>
                </a:solidFill>
                <a:latin typeface="Lora" pitchFamily="34" charset="0"/>
                <a:ea typeface="Lora" pitchFamily="34" charset="-122"/>
                <a:cs typeface="Lora" pitchFamily="34" charset="-120"/>
              </a:rPr>
              <a:t>SECTION 01</a:t>
            </a:r>
            <a:endParaRPr lang="en-US" sz="1400" dirty="0"/>
          </a:p>
        </p:txBody>
      </p:sp>
      <p:sp>
        <p:nvSpPr>
          <p:cNvPr id="3" name="Text 1"/>
          <p:cNvSpPr/>
          <p:nvPr/>
        </p:nvSpPr>
        <p:spPr>
          <a:xfrm>
            <a:off x="640080" y="1645920"/>
            <a:ext cx="5486400" cy="1097280"/>
          </a:xfrm>
          <a:prstGeom prst="rect">
            <a:avLst/>
          </a:prstGeom>
          <a:noFill/>
          <a:ln/>
        </p:spPr>
        <p:txBody>
          <a:bodyPr wrap="square" lIns="0" tIns="0" rIns="0" bIns="0" rtlCol="0" anchor="ctr"/>
          <a:lstStyle/>
          <a:p>
            <a:pPr marL="0" indent="0">
              <a:buNone/>
            </a:pPr>
            <a:r>
              <a:rPr lang="en-US" sz="4000" b="1" dirty="0">
                <a:solidFill>
                  <a:srgbClr val="FAF9F5"/>
                </a:solidFill>
                <a:latin typeface="Test Tiempos Headline Light" pitchFamily="34" charset="0"/>
                <a:ea typeface="Test Tiempos Headline Light" pitchFamily="34" charset="-122"/>
                <a:cs typeface="Test Tiempos Headline Light" pitchFamily="34" charset="-120"/>
              </a:rPr>
              <a:t>Skills fundamentals</a:t>
            </a:r>
            <a:endParaRPr lang="en-US" sz="4000" dirty="0"/>
          </a:p>
        </p:txBody>
      </p:sp>
      <p:sp>
        <p:nvSpPr>
          <p:cNvPr id="4" name="Text 2"/>
          <p:cNvSpPr/>
          <p:nvPr/>
        </p:nvSpPr>
        <p:spPr>
          <a:xfrm>
            <a:off x="640080" y="2926080"/>
            <a:ext cx="5486400" cy="640080"/>
          </a:xfrm>
          <a:prstGeom prst="rect">
            <a:avLst/>
          </a:prstGeom>
          <a:noFill/>
          <a:ln/>
        </p:spPr>
        <p:txBody>
          <a:bodyPr wrap="square" lIns="0" tIns="0" rIns="0" bIns="0" rtlCol="0" anchor="ctr"/>
          <a:lstStyle/>
          <a:p>
            <a:pPr marL="0" indent="0">
              <a:buNone/>
            </a:pPr>
            <a:r>
              <a:rPr lang="en-US" sz="1600" dirty="0">
                <a:solidFill>
                  <a:srgbClr val="B0AEA5"/>
                </a:solidFill>
                <a:latin typeface="Lora" pitchFamily="34" charset="0"/>
                <a:ea typeface="Lora" pitchFamily="34" charset="-122"/>
                <a:cs typeface="Lora" pitchFamily="34" charset="-120"/>
              </a:rPr>
              <a:t>Understand what skills are, where Claude Code looks for them, and how the semantic matching engine decides when to load one.</a:t>
            </a:r>
            <a:endParaRPr lang="en-US" sz="1600" dirty="0"/>
          </a:p>
        </p:txBody>
      </p:sp>
      <p:sp>
        <p:nvSpPr>
          <p:cNvPr id="5" name="Shape 3"/>
          <p:cNvSpPr/>
          <p:nvPr/>
        </p:nvSpPr>
        <p:spPr>
          <a:xfrm>
            <a:off x="640080" y="3931920"/>
            <a:ext cx="1463040" cy="320040"/>
          </a:xfrm>
          <a:prstGeom prst="roundRect">
            <a:avLst>
              <a:gd name="adj" fmla="val 14286"/>
            </a:avLst>
          </a:prstGeom>
          <a:solidFill>
            <a:srgbClr val="D97757">
              <a:alpha val="20000"/>
            </a:srgbClr>
          </a:solidFill>
          <a:ln/>
        </p:spPr>
        <p:txBody>
          <a:bodyPr/>
          <a:lstStyle/>
          <a:p>
            <a:endParaRPr lang="en-US"/>
          </a:p>
        </p:txBody>
      </p:sp>
      <p:sp>
        <p:nvSpPr>
          <p:cNvPr id="6" name="Text 4"/>
          <p:cNvSpPr/>
          <p:nvPr/>
        </p:nvSpPr>
        <p:spPr>
          <a:xfrm>
            <a:off x="640080" y="3913632"/>
            <a:ext cx="1463040" cy="365760"/>
          </a:xfrm>
          <a:prstGeom prst="rect">
            <a:avLst/>
          </a:prstGeom>
          <a:noFill/>
          <a:ln/>
        </p:spPr>
        <p:txBody>
          <a:bodyPr wrap="square" lIns="0" tIns="0" rIns="0" bIns="0" rtlCol="0" anchor="ctr"/>
          <a:lstStyle/>
          <a:p>
            <a:pPr marL="0" indent="0" algn="ctr">
              <a:buNone/>
            </a:pPr>
            <a:r>
              <a:rPr lang="en-US" sz="1100" dirty="0">
                <a:solidFill>
                  <a:srgbClr val="D97757"/>
                </a:solidFill>
                <a:latin typeface="Lora" pitchFamily="34" charset="0"/>
                <a:ea typeface="Lora" pitchFamily="34" charset="-122"/>
                <a:cs typeface="Lora" pitchFamily="34" charset="-120"/>
              </a:rPr>
              <a:t>~10 minutes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9" name="Online Media 8" descr="What are skills?">
            <a:hlinkClick r:id="" action="ppaction://media"/>
            <a:extLst>
              <a:ext uri="{FF2B5EF4-FFF2-40B4-BE49-F238E27FC236}">
                <a16:creationId xmlns:a16="http://schemas.microsoft.com/office/drawing/2014/main" id="{CD62EB02-7759-F37C-3988-FE24CE86A02F}"/>
              </a:ext>
            </a:extLst>
          </p:cNvPr>
          <p:cNvPicPr>
            <a:picLocks noRot="1" noChangeAspect="1"/>
          </p:cNvPicPr>
          <p:nvPr>
            <a:videoFile r:link="rId1"/>
          </p:nvPr>
        </p:nvPicPr>
        <p:blipFill>
          <a:blip r:embed="rId4"/>
          <a:stretch>
            <a:fillRect/>
          </a:stretch>
        </p:blipFill>
        <p:spPr>
          <a:xfrm>
            <a:off x="0" y="9427"/>
            <a:ext cx="9144000" cy="51663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274320"/>
            <a:ext cx="7315200" cy="548640"/>
          </a:xfrm>
          <a:prstGeom prst="rect">
            <a:avLst/>
          </a:prstGeom>
          <a:noFill/>
          <a:ln/>
        </p:spPr>
        <p:txBody>
          <a:bodyPr wrap="square" lIns="0" tIns="0" rIns="0" bIns="0" rtlCol="0" anchor="ctr"/>
          <a:lstStyle/>
          <a:p>
            <a:pPr marL="0" indent="0">
              <a:buNone/>
            </a:pPr>
            <a:r>
              <a:rPr lang="en-US" sz="3000" b="1" dirty="0">
                <a:solidFill>
                  <a:srgbClr val="141413"/>
                </a:solidFill>
                <a:latin typeface="Test Tiempos Headline Light" pitchFamily="34" charset="0"/>
                <a:ea typeface="Test Tiempos Headline Light" pitchFamily="34" charset="-122"/>
                <a:cs typeface="Test Tiempos Headline Light" pitchFamily="34" charset="-120"/>
              </a:rPr>
              <a:t>Core skills concepts</a:t>
            </a:r>
            <a:endParaRPr lang="en-US" sz="3000" dirty="0"/>
          </a:p>
        </p:txBody>
      </p:sp>
      <p:sp>
        <p:nvSpPr>
          <p:cNvPr id="3" name="Shape 1"/>
          <p:cNvSpPr/>
          <p:nvPr/>
        </p:nvSpPr>
        <p:spPr>
          <a:xfrm>
            <a:off x="457200" y="1051560"/>
            <a:ext cx="3977640" cy="16916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4" name="Shape 2"/>
          <p:cNvSpPr/>
          <p:nvPr/>
        </p:nvSpPr>
        <p:spPr>
          <a:xfrm>
            <a:off x="457200" y="1051560"/>
            <a:ext cx="3977640" cy="54864"/>
          </a:xfrm>
          <a:prstGeom prst="rect">
            <a:avLst/>
          </a:prstGeom>
          <a:solidFill>
            <a:srgbClr val="8B8CDF"/>
          </a:solidFill>
          <a:ln/>
        </p:spPr>
        <p:txBody>
          <a:bodyPr/>
          <a:lstStyle/>
          <a:p>
            <a:endParaRPr lang="en-US"/>
          </a:p>
        </p:txBody>
      </p:sp>
      <p:sp>
        <p:nvSpPr>
          <p:cNvPr id="6" name="Text 3"/>
          <p:cNvSpPr/>
          <p:nvPr/>
        </p:nvSpPr>
        <p:spPr>
          <a:xfrm>
            <a:off x="1042797" y="1234440"/>
            <a:ext cx="3346323" cy="45720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What are skills</a:t>
            </a:r>
            <a:endParaRPr lang="en-US" sz="1600" dirty="0"/>
          </a:p>
        </p:txBody>
      </p:sp>
      <p:sp>
        <p:nvSpPr>
          <p:cNvPr id="7" name="Text 4"/>
          <p:cNvSpPr/>
          <p:nvPr/>
        </p:nvSpPr>
        <p:spPr>
          <a:xfrm>
            <a:off x="640080" y="1828800"/>
            <a:ext cx="3566160" cy="777240"/>
          </a:xfrm>
          <a:prstGeom prst="rect">
            <a:avLst/>
          </a:prstGeom>
          <a:noFill/>
          <a:ln/>
        </p:spPr>
        <p:txBody>
          <a:bodyPr wrap="square" lIns="0" tIns="0" rIns="0" bIns="0" rtlCol="0" anchor="ctr"/>
          <a:lstStyle/>
          <a:p>
            <a:pPr marL="0" indent="0">
              <a:buNone/>
            </a:pPr>
            <a:r>
              <a:rPr lang="en-US" sz="1200" dirty="0">
                <a:solidFill>
                  <a:srgbClr val="B0AEA5"/>
                </a:solidFill>
                <a:latin typeface="Lora" pitchFamily="34" charset="0"/>
                <a:ea typeface="Lora" pitchFamily="34" charset="-122"/>
                <a:cs typeface="Lora" pitchFamily="34" charset="-120"/>
              </a:rPr>
              <a:t>Extensions that teach Claude Code new capabilities. Each skill is a SKILL.md file with instructions that load on demand when relevant to a task.</a:t>
            </a:r>
            <a:endParaRPr lang="en-US" sz="1200" dirty="0"/>
          </a:p>
        </p:txBody>
      </p:sp>
      <p:sp>
        <p:nvSpPr>
          <p:cNvPr id="8" name="Shape 5"/>
          <p:cNvSpPr/>
          <p:nvPr/>
        </p:nvSpPr>
        <p:spPr>
          <a:xfrm>
            <a:off x="4709160" y="1051560"/>
            <a:ext cx="3977640" cy="16916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9" name="Shape 6"/>
          <p:cNvSpPr/>
          <p:nvPr/>
        </p:nvSpPr>
        <p:spPr>
          <a:xfrm>
            <a:off x="4709160" y="1051560"/>
            <a:ext cx="3977640" cy="54864"/>
          </a:xfrm>
          <a:prstGeom prst="rect">
            <a:avLst/>
          </a:prstGeom>
          <a:solidFill>
            <a:schemeClr val="accent3"/>
          </a:solidFill>
          <a:ln/>
        </p:spPr>
        <p:txBody>
          <a:bodyPr/>
          <a:lstStyle/>
          <a:p>
            <a:endParaRPr lang="en-US"/>
          </a:p>
        </p:txBody>
      </p:sp>
      <p:sp>
        <p:nvSpPr>
          <p:cNvPr id="11" name="Text 7"/>
          <p:cNvSpPr/>
          <p:nvPr/>
        </p:nvSpPr>
        <p:spPr>
          <a:xfrm>
            <a:off x="5262372" y="1234440"/>
            <a:ext cx="3327908" cy="45720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Semantic matching</a:t>
            </a:r>
            <a:endParaRPr lang="en-US" sz="1600" dirty="0"/>
          </a:p>
        </p:txBody>
      </p:sp>
      <p:sp>
        <p:nvSpPr>
          <p:cNvPr id="12" name="Text 8"/>
          <p:cNvSpPr/>
          <p:nvPr/>
        </p:nvSpPr>
        <p:spPr>
          <a:xfrm>
            <a:off x="4892040" y="1828800"/>
            <a:ext cx="3566160" cy="777240"/>
          </a:xfrm>
          <a:prstGeom prst="rect">
            <a:avLst/>
          </a:prstGeom>
          <a:noFill/>
          <a:ln/>
        </p:spPr>
        <p:txBody>
          <a:bodyPr wrap="square" lIns="0" tIns="0" rIns="0" bIns="0" rtlCol="0" anchor="ctr"/>
          <a:lstStyle/>
          <a:p>
            <a:pPr marL="0" indent="0">
              <a:buNone/>
            </a:pPr>
            <a:r>
              <a:rPr lang="en-US" sz="1200" dirty="0">
                <a:solidFill>
                  <a:srgbClr val="B0AEA5"/>
                </a:solidFill>
                <a:latin typeface="Lora" pitchFamily="34" charset="0"/>
                <a:ea typeface="Lora" pitchFamily="34" charset="-122"/>
                <a:cs typeface="Lora" pitchFamily="34" charset="-120"/>
              </a:rPr>
              <a:t>Claude scans skill descriptions at startup but only loads full content when your request semantically matches. Confirmation step before full load.</a:t>
            </a:r>
            <a:endParaRPr lang="en-US" sz="1200" dirty="0"/>
          </a:p>
        </p:txBody>
      </p:sp>
      <p:sp>
        <p:nvSpPr>
          <p:cNvPr id="13" name="Shape 9"/>
          <p:cNvSpPr/>
          <p:nvPr/>
        </p:nvSpPr>
        <p:spPr>
          <a:xfrm>
            <a:off x="457200" y="2971800"/>
            <a:ext cx="3977640" cy="16916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4" name="Shape 10"/>
          <p:cNvSpPr/>
          <p:nvPr/>
        </p:nvSpPr>
        <p:spPr>
          <a:xfrm>
            <a:off x="457200" y="2971800"/>
            <a:ext cx="3977640" cy="54864"/>
          </a:xfrm>
          <a:prstGeom prst="rect">
            <a:avLst/>
          </a:prstGeom>
          <a:solidFill>
            <a:srgbClr val="6A9BCC"/>
          </a:solidFill>
          <a:ln/>
        </p:spPr>
        <p:txBody>
          <a:bodyPr/>
          <a:lstStyle/>
          <a:p>
            <a:endParaRPr lang="en-US"/>
          </a:p>
        </p:txBody>
      </p:sp>
      <p:sp>
        <p:nvSpPr>
          <p:cNvPr id="16" name="Text 11"/>
          <p:cNvSpPr/>
          <p:nvPr/>
        </p:nvSpPr>
        <p:spPr>
          <a:xfrm>
            <a:off x="1078992" y="3154680"/>
            <a:ext cx="3310128" cy="45720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Storage hierarchy</a:t>
            </a:r>
            <a:endParaRPr lang="en-US" sz="1600" dirty="0"/>
          </a:p>
        </p:txBody>
      </p:sp>
      <p:sp>
        <p:nvSpPr>
          <p:cNvPr id="17" name="Text 12"/>
          <p:cNvSpPr/>
          <p:nvPr/>
        </p:nvSpPr>
        <p:spPr>
          <a:xfrm>
            <a:off x="640080" y="3749040"/>
            <a:ext cx="3566160" cy="777240"/>
          </a:xfrm>
          <a:prstGeom prst="rect">
            <a:avLst/>
          </a:prstGeom>
          <a:noFill/>
          <a:ln/>
        </p:spPr>
        <p:txBody>
          <a:bodyPr wrap="square" lIns="0" tIns="0" rIns="0" bIns="0" rtlCol="0" anchor="ctr"/>
          <a:lstStyle/>
          <a:p>
            <a:pPr marL="0" indent="0">
              <a:buNone/>
            </a:pPr>
            <a:r>
              <a:rPr lang="en-US" sz="1200" dirty="0">
                <a:solidFill>
                  <a:srgbClr val="B0AEA5"/>
                </a:solidFill>
                <a:latin typeface="Lora" pitchFamily="34" charset="0"/>
                <a:ea typeface="Lora" pitchFamily="34" charset="-122"/>
                <a:cs typeface="Lora" pitchFamily="34" charset="-120"/>
              </a:rPr>
              <a:t>Four tiers with priority: enterprise (highest), personal, project, plugin (lowest). Higher tiers supersede lower tiers with the same name.</a:t>
            </a:r>
            <a:endParaRPr lang="en-US" sz="1200" dirty="0"/>
          </a:p>
        </p:txBody>
      </p:sp>
      <p:sp>
        <p:nvSpPr>
          <p:cNvPr id="18" name="Shape 13"/>
          <p:cNvSpPr/>
          <p:nvPr/>
        </p:nvSpPr>
        <p:spPr>
          <a:xfrm>
            <a:off x="4709160" y="2971800"/>
            <a:ext cx="3977640" cy="16916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9" name="Shape 14"/>
          <p:cNvSpPr/>
          <p:nvPr/>
        </p:nvSpPr>
        <p:spPr>
          <a:xfrm>
            <a:off x="4709160" y="2971800"/>
            <a:ext cx="3977640" cy="54864"/>
          </a:xfrm>
          <a:prstGeom prst="rect">
            <a:avLst/>
          </a:prstGeom>
          <a:solidFill>
            <a:schemeClr val="accent5"/>
          </a:solidFill>
          <a:ln/>
        </p:spPr>
        <p:txBody>
          <a:bodyPr/>
          <a:lstStyle/>
          <a:p>
            <a:endParaRPr lang="en-US"/>
          </a:p>
        </p:txBody>
      </p:sp>
      <p:sp>
        <p:nvSpPr>
          <p:cNvPr id="21" name="Text 15"/>
          <p:cNvSpPr/>
          <p:nvPr/>
        </p:nvSpPr>
        <p:spPr>
          <a:xfrm>
            <a:off x="5330952" y="3154680"/>
            <a:ext cx="3310128" cy="45720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Auto-discovery</a:t>
            </a:r>
            <a:endParaRPr lang="en-US" sz="1600" dirty="0"/>
          </a:p>
        </p:txBody>
      </p:sp>
      <p:sp>
        <p:nvSpPr>
          <p:cNvPr id="22" name="Text 16"/>
          <p:cNvSpPr/>
          <p:nvPr/>
        </p:nvSpPr>
        <p:spPr>
          <a:xfrm>
            <a:off x="4892040" y="3749040"/>
            <a:ext cx="3566160" cy="777240"/>
          </a:xfrm>
          <a:prstGeom prst="rect">
            <a:avLst/>
          </a:prstGeom>
          <a:noFill/>
          <a:ln/>
        </p:spPr>
        <p:txBody>
          <a:bodyPr wrap="square" lIns="0" tIns="0" rIns="0" bIns="0" rtlCol="0" anchor="ctr"/>
          <a:lstStyle/>
          <a:p>
            <a:pPr marL="0" indent="0">
              <a:buNone/>
            </a:pPr>
            <a:r>
              <a:rPr lang="en-US" sz="1200" dirty="0">
                <a:solidFill>
                  <a:srgbClr val="B0AEA5"/>
                </a:solidFill>
                <a:latin typeface="Lora" pitchFamily="34" charset="0"/>
                <a:ea typeface="Lora" pitchFamily="34" charset="-122"/>
                <a:cs typeface="Lora" pitchFamily="34" charset="-120"/>
              </a:rPr>
              <a:t>Claude Code scans nested .claude/skills/ directories automatically. </a:t>
            </a:r>
          </a:p>
          <a:p>
            <a:pPr marL="0" indent="0">
              <a:buNone/>
            </a:pPr>
            <a:endParaRPr lang="en-US" sz="1200" dirty="0"/>
          </a:p>
        </p:txBody>
      </p:sp>
      <p:pic>
        <p:nvPicPr>
          <p:cNvPr id="25" name="Picture 24" descr="A purple and black logo  AI-generated content may be incorrect.">
            <a:extLst>
              <a:ext uri="{FF2B5EF4-FFF2-40B4-BE49-F238E27FC236}">
                <a16:creationId xmlns:a16="http://schemas.microsoft.com/office/drawing/2014/main" id="{FB21F7C6-8317-3594-7C4A-DAF5FDD25D63}"/>
              </a:ext>
            </a:extLst>
          </p:cNvPr>
          <p:cNvPicPr>
            <a:picLocks noChangeAspect="1"/>
          </p:cNvPicPr>
          <p:nvPr/>
        </p:nvPicPr>
        <p:blipFill>
          <a:blip r:embed="rId3"/>
          <a:stretch>
            <a:fillRect/>
          </a:stretch>
        </p:blipFill>
        <p:spPr>
          <a:xfrm>
            <a:off x="640080" y="1338834"/>
            <a:ext cx="256032" cy="256032"/>
          </a:xfrm>
          <a:prstGeom prst="rect">
            <a:avLst/>
          </a:prstGeom>
        </p:spPr>
      </p:pic>
      <p:pic>
        <p:nvPicPr>
          <p:cNvPr id="27" name="Picture 26" descr="A logo of a network  AI-generated content may be incorrect.">
            <a:extLst>
              <a:ext uri="{FF2B5EF4-FFF2-40B4-BE49-F238E27FC236}">
                <a16:creationId xmlns:a16="http://schemas.microsoft.com/office/drawing/2014/main" id="{8B4B857E-4628-0F54-6C1C-C75FD9BDCB60}"/>
              </a:ext>
            </a:extLst>
          </p:cNvPr>
          <p:cNvPicPr>
            <a:picLocks noChangeAspect="1"/>
          </p:cNvPicPr>
          <p:nvPr/>
        </p:nvPicPr>
        <p:blipFill>
          <a:blip r:embed="rId4"/>
          <a:stretch>
            <a:fillRect/>
          </a:stretch>
        </p:blipFill>
        <p:spPr>
          <a:xfrm>
            <a:off x="4892040" y="3266567"/>
            <a:ext cx="256032" cy="256032"/>
          </a:xfrm>
          <a:prstGeom prst="rect">
            <a:avLst/>
          </a:prstGeom>
        </p:spPr>
      </p:pic>
      <p:pic>
        <p:nvPicPr>
          <p:cNvPr id="29" name="Picture 28" descr="A blue and black logo  AI-generated content may be incorrect.">
            <a:extLst>
              <a:ext uri="{FF2B5EF4-FFF2-40B4-BE49-F238E27FC236}">
                <a16:creationId xmlns:a16="http://schemas.microsoft.com/office/drawing/2014/main" id="{F0DB1518-E8B2-AD73-D1BB-51AE1A4C91C1}"/>
              </a:ext>
            </a:extLst>
          </p:cNvPr>
          <p:cNvPicPr>
            <a:picLocks noChangeAspect="1"/>
          </p:cNvPicPr>
          <p:nvPr/>
        </p:nvPicPr>
        <p:blipFill>
          <a:blip r:embed="rId5"/>
          <a:stretch>
            <a:fillRect/>
          </a:stretch>
        </p:blipFill>
        <p:spPr>
          <a:xfrm>
            <a:off x="640080" y="3255264"/>
            <a:ext cx="256032" cy="256032"/>
          </a:xfrm>
          <a:prstGeom prst="rect">
            <a:avLst/>
          </a:prstGeom>
        </p:spPr>
      </p:pic>
      <p:pic>
        <p:nvPicPr>
          <p:cNvPr id="31" name="Picture 30" descr="A magnifying glass in a circle  AI-generated content may be incorrect.">
            <a:extLst>
              <a:ext uri="{FF2B5EF4-FFF2-40B4-BE49-F238E27FC236}">
                <a16:creationId xmlns:a16="http://schemas.microsoft.com/office/drawing/2014/main" id="{04B4D812-9AF8-BAC7-990F-8A55C46B92A6}"/>
              </a:ext>
            </a:extLst>
          </p:cNvPr>
          <p:cNvPicPr>
            <a:picLocks noChangeAspect="1"/>
          </p:cNvPicPr>
          <p:nvPr/>
        </p:nvPicPr>
        <p:blipFill>
          <a:blip r:embed="rId6"/>
          <a:stretch>
            <a:fillRect/>
          </a:stretch>
        </p:blipFill>
        <p:spPr>
          <a:xfrm>
            <a:off x="4855845" y="1347724"/>
            <a:ext cx="259842" cy="25984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640079" y="274320"/>
            <a:ext cx="7863839" cy="502920"/>
          </a:xfrm>
          <a:prstGeom prst="rect">
            <a:avLst/>
          </a:prstGeom>
          <a:noFill/>
          <a:ln/>
        </p:spPr>
        <p:txBody>
          <a:bodyPr wrap="square" lIns="0" tIns="0" rIns="0" bIns="0" rtlCol="0" anchor="ctr"/>
          <a:lstStyle/>
          <a:p>
            <a:pPr marL="0" indent="0">
              <a:buNone/>
            </a:pPr>
            <a:r>
              <a:rPr lang="en-US" sz="2800" b="1" dirty="0">
                <a:solidFill>
                  <a:srgbClr val="141413"/>
                </a:solidFill>
                <a:latin typeface="Test Tiempos Headline Light" pitchFamily="34" charset="0"/>
                <a:ea typeface="Test Tiempos Headline Light" pitchFamily="34" charset="-122"/>
                <a:cs typeface="Test Tiempos Headline Light" pitchFamily="34" charset="-120"/>
              </a:rPr>
              <a:t>Progressive disclosure: the three-level system</a:t>
            </a:r>
            <a:endParaRPr lang="en-US" sz="2800" dirty="0"/>
          </a:p>
        </p:txBody>
      </p:sp>
      <p:sp>
        <p:nvSpPr>
          <p:cNvPr id="4" name="Shape 1"/>
          <p:cNvSpPr/>
          <p:nvPr/>
        </p:nvSpPr>
        <p:spPr>
          <a:xfrm>
            <a:off x="640080" y="1005840"/>
            <a:ext cx="7863840" cy="2926080"/>
          </a:xfrm>
          <a:prstGeom prst="rect">
            <a:avLst/>
          </a:prstGeom>
          <a:solidFill>
            <a:srgbClr val="1E1E1E"/>
          </a:solidFill>
          <a:ln/>
          <a:effectLst>
            <a:outerShdw blurRad="76200" dist="25400" dir="8100000" algn="bl" rotWithShape="0">
              <a:srgbClr val="000000">
                <a:alpha val="12000"/>
              </a:srgbClr>
            </a:outerShdw>
          </a:effectLst>
        </p:spPr>
        <p:txBody>
          <a:bodyPr/>
          <a:lstStyle/>
          <a:p>
            <a:endParaRPr lang="en-US"/>
          </a:p>
        </p:txBody>
      </p:sp>
      <p:sp>
        <p:nvSpPr>
          <p:cNvPr id="5" name="Shape 2"/>
          <p:cNvSpPr/>
          <p:nvPr/>
        </p:nvSpPr>
        <p:spPr>
          <a:xfrm>
            <a:off x="640080" y="1005840"/>
            <a:ext cx="7863840" cy="320040"/>
          </a:xfrm>
          <a:prstGeom prst="rect">
            <a:avLst/>
          </a:prstGeom>
          <a:solidFill>
            <a:srgbClr val="2D2D2D"/>
          </a:solidFill>
          <a:ln/>
        </p:spPr>
        <p:txBody>
          <a:bodyPr/>
          <a:lstStyle/>
          <a:p>
            <a:endParaRPr lang="en-US"/>
          </a:p>
        </p:txBody>
      </p:sp>
      <p:sp>
        <p:nvSpPr>
          <p:cNvPr id="6" name="Shape 3"/>
          <p:cNvSpPr/>
          <p:nvPr/>
        </p:nvSpPr>
        <p:spPr>
          <a:xfrm>
            <a:off x="822960" y="1097280"/>
            <a:ext cx="118872" cy="118872"/>
          </a:xfrm>
          <a:prstGeom prst="ellipse">
            <a:avLst/>
          </a:prstGeom>
          <a:solidFill>
            <a:srgbClr val="FF5F56"/>
          </a:solidFill>
          <a:ln/>
        </p:spPr>
        <p:txBody>
          <a:bodyPr/>
          <a:lstStyle/>
          <a:p>
            <a:endParaRPr lang="en-US"/>
          </a:p>
        </p:txBody>
      </p:sp>
      <p:sp>
        <p:nvSpPr>
          <p:cNvPr id="7" name="Shape 4"/>
          <p:cNvSpPr/>
          <p:nvPr/>
        </p:nvSpPr>
        <p:spPr>
          <a:xfrm>
            <a:off x="1005840" y="1097280"/>
            <a:ext cx="118872" cy="118872"/>
          </a:xfrm>
          <a:prstGeom prst="ellipse">
            <a:avLst/>
          </a:prstGeom>
          <a:solidFill>
            <a:srgbClr val="FFBD2E"/>
          </a:solidFill>
          <a:ln/>
        </p:spPr>
        <p:txBody>
          <a:bodyPr/>
          <a:lstStyle/>
          <a:p>
            <a:endParaRPr lang="en-US"/>
          </a:p>
        </p:txBody>
      </p:sp>
      <p:sp>
        <p:nvSpPr>
          <p:cNvPr id="8" name="Shape 5"/>
          <p:cNvSpPr/>
          <p:nvPr/>
        </p:nvSpPr>
        <p:spPr>
          <a:xfrm>
            <a:off x="1188720" y="1097280"/>
            <a:ext cx="118872" cy="118872"/>
          </a:xfrm>
          <a:prstGeom prst="ellipse">
            <a:avLst/>
          </a:prstGeom>
          <a:solidFill>
            <a:srgbClr val="27C93F"/>
          </a:solidFill>
          <a:ln/>
        </p:spPr>
        <p:txBody>
          <a:bodyPr/>
          <a:lstStyle/>
          <a:p>
            <a:endParaRPr lang="en-US"/>
          </a:p>
        </p:txBody>
      </p:sp>
      <p:sp>
        <p:nvSpPr>
          <p:cNvPr id="9" name="Text 6"/>
          <p:cNvSpPr/>
          <p:nvPr/>
        </p:nvSpPr>
        <p:spPr>
          <a:xfrm>
            <a:off x="1463040" y="1005840"/>
            <a:ext cx="3657600" cy="320040"/>
          </a:xfrm>
          <a:prstGeom prst="rect">
            <a:avLst/>
          </a:prstGeom>
          <a:noFill/>
          <a:ln/>
        </p:spPr>
        <p:txBody>
          <a:bodyPr wrap="square" lIns="0" tIns="0" rIns="0" bIns="0" rtlCol="0" anchor="ctr"/>
          <a:lstStyle/>
          <a:p>
            <a:pPr marL="0" indent="0">
              <a:buNone/>
            </a:pPr>
            <a:r>
              <a:rPr lang="en-US" sz="1100" dirty="0">
                <a:solidFill>
                  <a:srgbClr val="B0AEA5"/>
                </a:solidFill>
                <a:latin typeface="Courier New" pitchFamily="34" charset="0"/>
                <a:ea typeface="Courier New" pitchFamily="34" charset="-122"/>
                <a:cs typeface="Courier New" pitchFamily="34" charset="-120"/>
              </a:rPr>
              <a:t>~/.claude/skills/explain-code/</a:t>
            </a:r>
            <a:endParaRPr lang="en-US" sz="1100" dirty="0"/>
          </a:p>
        </p:txBody>
      </p:sp>
      <p:sp>
        <p:nvSpPr>
          <p:cNvPr id="10" name="Text 7"/>
          <p:cNvSpPr/>
          <p:nvPr/>
        </p:nvSpPr>
        <p:spPr>
          <a:xfrm>
            <a:off x="822960" y="1463040"/>
            <a:ext cx="7498080" cy="2286000"/>
          </a:xfrm>
          <a:prstGeom prst="rect">
            <a:avLst/>
          </a:prstGeom>
          <a:noFill/>
          <a:ln/>
        </p:spPr>
        <p:txBody>
          <a:bodyPr wrap="square" lIns="0" tIns="0" rIns="0" bIns="0" rtlCol="0" anchor="t"/>
          <a:lstStyle/>
          <a:p>
            <a:pPr marL="0" indent="0">
              <a:buNone/>
            </a:pPr>
            <a:r>
              <a:rPr lang="en-US" sz="1300" dirty="0">
                <a:solidFill>
                  <a:srgbClr val="D4D4D4"/>
                </a:solidFill>
                <a:latin typeface="Courier New" pitchFamily="34" charset="0"/>
                <a:ea typeface="Courier New" pitchFamily="34" charset="-122"/>
                <a:cs typeface="Courier New" pitchFamily="34" charset="-120"/>
              </a:rPr>
              <a:t>LEVEL 1 — YAML frontmatter (always loaded)</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  Just enough for Claude to know WHEN to use the skill</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LEVEL 2 — SKILL.md body (loaded when relevant)</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  Step-by-step workflows, examples, error handling</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LEVEL 3 — Linked files (discovered on demand)</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  scripts/, references/, assets/ — loaded as needed</a:t>
            </a:r>
            <a:endParaRPr lang="en-US" sz="1300" dirty="0"/>
          </a:p>
        </p:txBody>
      </p:sp>
      <p:sp>
        <p:nvSpPr>
          <p:cNvPr id="11" name="Shape 8"/>
          <p:cNvSpPr/>
          <p:nvPr/>
        </p:nvSpPr>
        <p:spPr>
          <a:xfrm>
            <a:off x="640080" y="4160520"/>
            <a:ext cx="7863840" cy="640080"/>
          </a:xfrm>
          <a:prstGeom prst="rect">
            <a:avLst/>
          </a:prstGeom>
          <a:solidFill>
            <a:srgbClr val="788C5D">
              <a:alpha val="12000"/>
            </a:srgbClr>
          </a:solidFill>
          <a:ln/>
        </p:spPr>
        <p:txBody>
          <a:bodyPr/>
          <a:lstStyle/>
          <a:p>
            <a:endParaRPr lang="en-US"/>
          </a:p>
        </p:txBody>
      </p:sp>
      <p:sp>
        <p:nvSpPr>
          <p:cNvPr id="12" name="Text 9"/>
          <p:cNvSpPr/>
          <p:nvPr/>
        </p:nvSpPr>
        <p:spPr>
          <a:xfrm>
            <a:off x="868680" y="4160520"/>
            <a:ext cx="7498080" cy="640080"/>
          </a:xfrm>
          <a:prstGeom prst="rect">
            <a:avLst/>
          </a:prstGeom>
          <a:noFill/>
          <a:ln/>
        </p:spPr>
        <p:txBody>
          <a:bodyPr wrap="square" lIns="0" tIns="0" rIns="0" bIns="0" rtlCol="0" anchor="ctr"/>
          <a:lstStyle/>
          <a:p>
            <a:pPr marL="0" indent="0">
              <a:buNone/>
            </a:pPr>
            <a:r>
              <a:rPr lang="en-US" sz="1300" dirty="0">
                <a:solidFill>
                  <a:srgbClr val="141413"/>
                </a:solidFill>
                <a:latin typeface="Lora" pitchFamily="34" charset="0"/>
                <a:ea typeface="Lora" pitchFamily="34" charset="-122"/>
                <a:cs typeface="Lora" pitchFamily="34" charset="-120"/>
              </a:rPr>
              <a:t>Why this matters: minimizes token usage while maintaining specialized expertise.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274320"/>
            <a:ext cx="7315200" cy="548640"/>
          </a:xfrm>
          <a:prstGeom prst="rect">
            <a:avLst/>
          </a:prstGeom>
          <a:noFill/>
          <a:ln/>
        </p:spPr>
        <p:txBody>
          <a:bodyPr wrap="square" lIns="0" tIns="0" rIns="0" bIns="0" rtlCol="0" anchor="ctr"/>
          <a:lstStyle/>
          <a:p>
            <a:pPr marL="0" indent="0">
              <a:buNone/>
            </a:pPr>
            <a:r>
              <a:rPr lang="en-US" sz="3000" b="1" dirty="0">
                <a:solidFill>
                  <a:srgbClr val="141413"/>
                </a:solidFill>
                <a:latin typeface="Test Tiempos Headline Light" pitchFamily="34" charset="0"/>
                <a:ea typeface="Test Tiempos Headline Light" pitchFamily="34" charset="-122"/>
                <a:cs typeface="Test Tiempos Headline Light" pitchFamily="34" charset="-120"/>
              </a:rPr>
              <a:t>Where skills live</a:t>
            </a:r>
            <a:endParaRPr lang="en-US" sz="3000" dirty="0"/>
          </a:p>
        </p:txBody>
      </p:sp>
      <p:sp>
        <p:nvSpPr>
          <p:cNvPr id="3" name="Shape 1"/>
          <p:cNvSpPr/>
          <p:nvPr/>
        </p:nvSpPr>
        <p:spPr>
          <a:xfrm>
            <a:off x="640080" y="1188720"/>
            <a:ext cx="457200" cy="457200"/>
          </a:xfrm>
          <a:prstGeom prst="ellipse">
            <a:avLst/>
          </a:prstGeom>
          <a:solidFill>
            <a:schemeClr val="accent1"/>
          </a:solidFill>
          <a:ln/>
        </p:spPr>
        <p:txBody>
          <a:bodyPr/>
          <a:lstStyle/>
          <a:p>
            <a:endParaRPr lang="en-US"/>
          </a:p>
        </p:txBody>
      </p:sp>
      <p:sp>
        <p:nvSpPr>
          <p:cNvPr id="4" name="Text 2"/>
          <p:cNvSpPr/>
          <p:nvPr/>
        </p:nvSpPr>
        <p:spPr>
          <a:xfrm>
            <a:off x="640080" y="118872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Lora" pitchFamily="34" charset="0"/>
                <a:ea typeface="Lora" pitchFamily="34" charset="-122"/>
                <a:cs typeface="Lora" pitchFamily="34" charset="-120"/>
              </a:rPr>
              <a:t>1</a:t>
            </a:r>
            <a:endParaRPr lang="en-US" sz="1800" dirty="0"/>
          </a:p>
        </p:txBody>
      </p:sp>
      <p:sp>
        <p:nvSpPr>
          <p:cNvPr id="5" name="Shape 3"/>
          <p:cNvSpPr/>
          <p:nvPr/>
        </p:nvSpPr>
        <p:spPr>
          <a:xfrm>
            <a:off x="868680" y="1691640"/>
            <a:ext cx="0" cy="365760"/>
          </a:xfrm>
          <a:prstGeom prst="line">
            <a:avLst/>
          </a:prstGeom>
          <a:noFill/>
          <a:ln w="25400">
            <a:solidFill>
              <a:srgbClr val="E8E6DC"/>
            </a:solidFill>
            <a:prstDash val="solid"/>
          </a:ln>
        </p:spPr>
        <p:txBody>
          <a:bodyPr/>
          <a:lstStyle/>
          <a:p>
            <a:endParaRPr lang="en-US"/>
          </a:p>
        </p:txBody>
      </p:sp>
      <p:sp>
        <p:nvSpPr>
          <p:cNvPr id="6" name="Text 4"/>
          <p:cNvSpPr/>
          <p:nvPr/>
        </p:nvSpPr>
        <p:spPr>
          <a:xfrm>
            <a:off x="1325880" y="1143000"/>
            <a:ext cx="3657600" cy="32004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Enterprise skills</a:t>
            </a:r>
            <a:endParaRPr lang="en-US" sz="1600" dirty="0"/>
          </a:p>
        </p:txBody>
      </p:sp>
      <p:sp>
        <p:nvSpPr>
          <p:cNvPr id="7" name="Text 5"/>
          <p:cNvSpPr/>
          <p:nvPr/>
        </p:nvSpPr>
        <p:spPr>
          <a:xfrm>
            <a:off x="1325880" y="1444752"/>
            <a:ext cx="6858000" cy="320040"/>
          </a:xfrm>
          <a:prstGeom prst="rect">
            <a:avLst/>
          </a:prstGeom>
          <a:noFill/>
          <a:ln/>
        </p:spPr>
        <p:txBody>
          <a:bodyPr wrap="square" lIns="0" tIns="0" rIns="0" bIns="0" rtlCol="0" anchor="ctr"/>
          <a:lstStyle/>
          <a:p>
            <a:pPr marL="0" indent="0">
              <a:buNone/>
            </a:pPr>
            <a:r>
              <a:rPr lang="en-US" sz="1300" dirty="0">
                <a:solidFill>
                  <a:srgbClr val="B0AEA5"/>
                </a:solidFill>
                <a:latin typeface="Lora" pitchFamily="34" charset="0"/>
                <a:ea typeface="Lora" pitchFamily="34" charset="-122"/>
                <a:cs typeface="Lora" pitchFamily="34" charset="-120"/>
              </a:rPr>
              <a:t>Deployed via managed settings. Highest priority, overrides all others.</a:t>
            </a:r>
            <a:endParaRPr lang="en-US" sz="1300" dirty="0"/>
          </a:p>
        </p:txBody>
      </p:sp>
      <p:sp>
        <p:nvSpPr>
          <p:cNvPr id="8" name="Shape 6"/>
          <p:cNvSpPr/>
          <p:nvPr/>
        </p:nvSpPr>
        <p:spPr>
          <a:xfrm>
            <a:off x="640080" y="2148840"/>
            <a:ext cx="457200" cy="457200"/>
          </a:xfrm>
          <a:prstGeom prst="ellipse">
            <a:avLst/>
          </a:prstGeom>
          <a:solidFill>
            <a:schemeClr val="accent1"/>
          </a:solidFill>
          <a:ln/>
        </p:spPr>
        <p:txBody>
          <a:bodyPr/>
          <a:lstStyle/>
          <a:p>
            <a:endParaRPr lang="en-US"/>
          </a:p>
        </p:txBody>
      </p:sp>
      <p:sp>
        <p:nvSpPr>
          <p:cNvPr id="9" name="Text 7"/>
          <p:cNvSpPr/>
          <p:nvPr/>
        </p:nvSpPr>
        <p:spPr>
          <a:xfrm>
            <a:off x="640080" y="21488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Lora" pitchFamily="34" charset="0"/>
                <a:ea typeface="Lora" pitchFamily="34" charset="-122"/>
                <a:cs typeface="Lora" pitchFamily="34" charset="-120"/>
              </a:rPr>
              <a:t>2</a:t>
            </a:r>
            <a:endParaRPr lang="en-US" sz="1800" dirty="0"/>
          </a:p>
        </p:txBody>
      </p:sp>
      <p:sp>
        <p:nvSpPr>
          <p:cNvPr id="10" name="Shape 8"/>
          <p:cNvSpPr/>
          <p:nvPr/>
        </p:nvSpPr>
        <p:spPr>
          <a:xfrm>
            <a:off x="868680" y="2651760"/>
            <a:ext cx="0" cy="365760"/>
          </a:xfrm>
          <a:prstGeom prst="line">
            <a:avLst/>
          </a:prstGeom>
          <a:noFill/>
          <a:ln w="25400">
            <a:solidFill>
              <a:srgbClr val="E8E6DC"/>
            </a:solidFill>
            <a:prstDash val="solid"/>
          </a:ln>
        </p:spPr>
        <p:txBody>
          <a:bodyPr/>
          <a:lstStyle/>
          <a:p>
            <a:endParaRPr lang="en-US"/>
          </a:p>
        </p:txBody>
      </p:sp>
      <p:sp>
        <p:nvSpPr>
          <p:cNvPr id="11" name="Text 9"/>
          <p:cNvSpPr/>
          <p:nvPr/>
        </p:nvSpPr>
        <p:spPr>
          <a:xfrm>
            <a:off x="1325880" y="2103120"/>
            <a:ext cx="3657600" cy="32004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Personal skills</a:t>
            </a:r>
            <a:endParaRPr lang="en-US" sz="1600" dirty="0"/>
          </a:p>
        </p:txBody>
      </p:sp>
      <p:sp>
        <p:nvSpPr>
          <p:cNvPr id="12" name="Text 10"/>
          <p:cNvSpPr/>
          <p:nvPr/>
        </p:nvSpPr>
        <p:spPr>
          <a:xfrm>
            <a:off x="1325880" y="2404872"/>
            <a:ext cx="6858000" cy="320040"/>
          </a:xfrm>
          <a:prstGeom prst="rect">
            <a:avLst/>
          </a:prstGeom>
          <a:noFill/>
          <a:ln/>
        </p:spPr>
        <p:txBody>
          <a:bodyPr wrap="square" lIns="0" tIns="0" rIns="0" bIns="0" rtlCol="0" anchor="ctr"/>
          <a:lstStyle/>
          <a:p>
            <a:pPr marL="0" indent="0">
              <a:buNone/>
            </a:pPr>
            <a:r>
              <a:rPr lang="en-US" sz="1300" dirty="0">
                <a:solidFill>
                  <a:srgbClr val="B0AEA5"/>
                </a:solidFill>
                <a:latin typeface="Lora" pitchFamily="34" charset="0"/>
                <a:ea typeface="Lora" pitchFamily="34" charset="-122"/>
                <a:cs typeface="Lora" pitchFamily="34" charset="-120"/>
              </a:rPr>
              <a:t>~/.claude/skills/&lt;name&gt;/SKILL.md — Available in all your projects.</a:t>
            </a:r>
            <a:endParaRPr lang="en-US" sz="1300" dirty="0"/>
          </a:p>
        </p:txBody>
      </p:sp>
      <p:sp>
        <p:nvSpPr>
          <p:cNvPr id="13" name="Shape 11"/>
          <p:cNvSpPr/>
          <p:nvPr/>
        </p:nvSpPr>
        <p:spPr>
          <a:xfrm>
            <a:off x="640080" y="3108960"/>
            <a:ext cx="457200" cy="457200"/>
          </a:xfrm>
          <a:prstGeom prst="ellipse">
            <a:avLst/>
          </a:prstGeom>
          <a:solidFill>
            <a:schemeClr val="accent1"/>
          </a:solidFill>
          <a:ln/>
        </p:spPr>
        <p:txBody>
          <a:bodyPr/>
          <a:lstStyle/>
          <a:p>
            <a:endParaRPr lang="en-US"/>
          </a:p>
        </p:txBody>
      </p:sp>
      <p:sp>
        <p:nvSpPr>
          <p:cNvPr id="14" name="Text 12"/>
          <p:cNvSpPr/>
          <p:nvPr/>
        </p:nvSpPr>
        <p:spPr>
          <a:xfrm>
            <a:off x="640080" y="31089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Lora" pitchFamily="34" charset="0"/>
                <a:ea typeface="Lora" pitchFamily="34" charset="-122"/>
                <a:cs typeface="Lora" pitchFamily="34" charset="-120"/>
              </a:rPr>
              <a:t>3</a:t>
            </a:r>
            <a:endParaRPr lang="en-US" sz="1800" dirty="0"/>
          </a:p>
        </p:txBody>
      </p:sp>
      <p:sp>
        <p:nvSpPr>
          <p:cNvPr id="15" name="Shape 13"/>
          <p:cNvSpPr/>
          <p:nvPr/>
        </p:nvSpPr>
        <p:spPr>
          <a:xfrm>
            <a:off x="868680" y="3611880"/>
            <a:ext cx="0" cy="365760"/>
          </a:xfrm>
          <a:prstGeom prst="line">
            <a:avLst/>
          </a:prstGeom>
          <a:noFill/>
          <a:ln w="25400">
            <a:solidFill>
              <a:srgbClr val="E8E6DC"/>
            </a:solidFill>
            <a:prstDash val="solid"/>
          </a:ln>
        </p:spPr>
        <p:txBody>
          <a:bodyPr/>
          <a:lstStyle/>
          <a:p>
            <a:endParaRPr lang="en-US"/>
          </a:p>
        </p:txBody>
      </p:sp>
      <p:sp>
        <p:nvSpPr>
          <p:cNvPr id="16" name="Text 14"/>
          <p:cNvSpPr/>
          <p:nvPr/>
        </p:nvSpPr>
        <p:spPr>
          <a:xfrm>
            <a:off x="1325880" y="3063240"/>
            <a:ext cx="3657600" cy="32004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Project skills</a:t>
            </a:r>
            <a:endParaRPr lang="en-US" sz="1600" dirty="0"/>
          </a:p>
        </p:txBody>
      </p:sp>
      <p:sp>
        <p:nvSpPr>
          <p:cNvPr id="17" name="Text 15"/>
          <p:cNvSpPr/>
          <p:nvPr/>
        </p:nvSpPr>
        <p:spPr>
          <a:xfrm>
            <a:off x="1325880" y="3364992"/>
            <a:ext cx="6858000" cy="320040"/>
          </a:xfrm>
          <a:prstGeom prst="rect">
            <a:avLst/>
          </a:prstGeom>
          <a:noFill/>
          <a:ln/>
        </p:spPr>
        <p:txBody>
          <a:bodyPr wrap="square" lIns="0" tIns="0" rIns="0" bIns="0" rtlCol="0" anchor="ctr"/>
          <a:lstStyle/>
          <a:p>
            <a:pPr marL="0" indent="0">
              <a:buNone/>
            </a:pPr>
            <a:r>
              <a:rPr lang="en-US" sz="1300" dirty="0">
                <a:solidFill>
                  <a:srgbClr val="B0AEA5"/>
                </a:solidFill>
                <a:latin typeface="Lora" pitchFamily="34" charset="0"/>
                <a:ea typeface="Lora" pitchFamily="34" charset="-122"/>
                <a:cs typeface="Lora" pitchFamily="34" charset="-120"/>
              </a:rPr>
              <a:t>.claude/skills/&lt;name&gt;/SKILL.md — Scoped to this repository only.</a:t>
            </a:r>
            <a:endParaRPr lang="en-US" sz="1300" dirty="0"/>
          </a:p>
        </p:txBody>
      </p:sp>
      <p:sp>
        <p:nvSpPr>
          <p:cNvPr id="18" name="Shape 16"/>
          <p:cNvSpPr/>
          <p:nvPr/>
        </p:nvSpPr>
        <p:spPr>
          <a:xfrm>
            <a:off x="640080" y="4069080"/>
            <a:ext cx="457200" cy="457200"/>
          </a:xfrm>
          <a:prstGeom prst="ellipse">
            <a:avLst/>
          </a:prstGeom>
          <a:solidFill>
            <a:schemeClr val="accent1"/>
          </a:solidFill>
          <a:ln/>
        </p:spPr>
        <p:txBody>
          <a:bodyPr/>
          <a:lstStyle/>
          <a:p>
            <a:endParaRPr lang="en-US"/>
          </a:p>
        </p:txBody>
      </p:sp>
      <p:sp>
        <p:nvSpPr>
          <p:cNvPr id="19" name="Text 17"/>
          <p:cNvSpPr/>
          <p:nvPr/>
        </p:nvSpPr>
        <p:spPr>
          <a:xfrm>
            <a:off x="640080" y="40690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Lora" pitchFamily="34" charset="0"/>
                <a:ea typeface="Lora" pitchFamily="34" charset="-122"/>
                <a:cs typeface="Lora" pitchFamily="34" charset="-120"/>
              </a:rPr>
              <a:t>4</a:t>
            </a:r>
            <a:endParaRPr lang="en-US" sz="1800" dirty="0"/>
          </a:p>
        </p:txBody>
      </p:sp>
      <p:sp>
        <p:nvSpPr>
          <p:cNvPr id="20" name="Text 18"/>
          <p:cNvSpPr/>
          <p:nvPr/>
        </p:nvSpPr>
        <p:spPr>
          <a:xfrm>
            <a:off x="1325880" y="4023360"/>
            <a:ext cx="3657600" cy="32004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Plugin skills</a:t>
            </a:r>
            <a:endParaRPr lang="en-US" sz="1600" dirty="0"/>
          </a:p>
        </p:txBody>
      </p:sp>
      <p:sp>
        <p:nvSpPr>
          <p:cNvPr id="21" name="Text 19"/>
          <p:cNvSpPr/>
          <p:nvPr/>
        </p:nvSpPr>
        <p:spPr>
          <a:xfrm>
            <a:off x="1325880" y="4325112"/>
            <a:ext cx="6858000" cy="320040"/>
          </a:xfrm>
          <a:prstGeom prst="rect">
            <a:avLst/>
          </a:prstGeom>
          <a:noFill/>
          <a:ln/>
        </p:spPr>
        <p:txBody>
          <a:bodyPr wrap="square" lIns="0" tIns="0" rIns="0" bIns="0" rtlCol="0" anchor="ctr"/>
          <a:lstStyle/>
          <a:p>
            <a:pPr marL="0" indent="0">
              <a:buNone/>
            </a:pPr>
            <a:r>
              <a:rPr lang="en-US" sz="1300" dirty="0">
                <a:solidFill>
                  <a:srgbClr val="B0AEA5"/>
                </a:solidFill>
                <a:latin typeface="Lora" pitchFamily="34" charset="0"/>
                <a:ea typeface="Lora" pitchFamily="34" charset="-122"/>
                <a:cs typeface="Lora" pitchFamily="34" charset="-120"/>
              </a:rPr>
              <a:t>Installed via plugins. Namespaced as plugin-name:skill-name. Lowest priority.</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640080" y="274320"/>
            <a:ext cx="6995160" cy="502920"/>
          </a:xfrm>
          <a:prstGeom prst="rect">
            <a:avLst/>
          </a:prstGeom>
          <a:noFill/>
          <a:ln/>
        </p:spPr>
        <p:txBody>
          <a:bodyPr wrap="square" lIns="0" tIns="0" rIns="0" bIns="0" rtlCol="0" anchor="ctr"/>
          <a:lstStyle/>
          <a:p>
            <a:pPr marL="0" indent="0">
              <a:buNone/>
            </a:pPr>
            <a:r>
              <a:rPr lang="en-US" sz="2800" b="1" dirty="0">
                <a:solidFill>
                  <a:srgbClr val="141413"/>
                </a:solidFill>
                <a:latin typeface="Test Tiempos Headline Light" pitchFamily="34" charset="0"/>
                <a:ea typeface="Test Tiempos Headline Light" pitchFamily="34" charset="-122"/>
                <a:cs typeface="Test Tiempos Headline Light" pitchFamily="34" charset="-120"/>
              </a:rPr>
              <a:t>Skill directory structure</a:t>
            </a:r>
            <a:endParaRPr lang="en-US" sz="2800" dirty="0"/>
          </a:p>
        </p:txBody>
      </p:sp>
      <p:sp>
        <p:nvSpPr>
          <p:cNvPr id="4" name="Shape 1"/>
          <p:cNvSpPr/>
          <p:nvPr/>
        </p:nvSpPr>
        <p:spPr>
          <a:xfrm>
            <a:off x="640080" y="1005840"/>
            <a:ext cx="7863840" cy="2926080"/>
          </a:xfrm>
          <a:prstGeom prst="rect">
            <a:avLst/>
          </a:prstGeom>
          <a:solidFill>
            <a:srgbClr val="1E1E1E"/>
          </a:solidFill>
          <a:ln/>
          <a:effectLst>
            <a:outerShdw blurRad="76200" dist="25400" dir="8100000" algn="bl" rotWithShape="0">
              <a:srgbClr val="000000">
                <a:alpha val="12000"/>
              </a:srgbClr>
            </a:outerShdw>
          </a:effectLst>
        </p:spPr>
        <p:txBody>
          <a:bodyPr/>
          <a:lstStyle/>
          <a:p>
            <a:endParaRPr lang="en-US"/>
          </a:p>
        </p:txBody>
      </p:sp>
      <p:sp>
        <p:nvSpPr>
          <p:cNvPr id="5" name="Shape 2"/>
          <p:cNvSpPr/>
          <p:nvPr/>
        </p:nvSpPr>
        <p:spPr>
          <a:xfrm>
            <a:off x="640080" y="1005840"/>
            <a:ext cx="7863840" cy="320040"/>
          </a:xfrm>
          <a:prstGeom prst="rect">
            <a:avLst/>
          </a:prstGeom>
          <a:solidFill>
            <a:srgbClr val="2D2D2D"/>
          </a:solidFill>
          <a:ln/>
        </p:spPr>
        <p:txBody>
          <a:bodyPr/>
          <a:lstStyle/>
          <a:p>
            <a:endParaRPr lang="en-US"/>
          </a:p>
        </p:txBody>
      </p:sp>
      <p:sp>
        <p:nvSpPr>
          <p:cNvPr id="6" name="Shape 3"/>
          <p:cNvSpPr/>
          <p:nvPr/>
        </p:nvSpPr>
        <p:spPr>
          <a:xfrm>
            <a:off x="822960" y="1097280"/>
            <a:ext cx="118872" cy="118872"/>
          </a:xfrm>
          <a:prstGeom prst="ellipse">
            <a:avLst/>
          </a:prstGeom>
          <a:solidFill>
            <a:srgbClr val="FF5F56"/>
          </a:solidFill>
          <a:ln/>
        </p:spPr>
        <p:txBody>
          <a:bodyPr/>
          <a:lstStyle/>
          <a:p>
            <a:endParaRPr lang="en-US"/>
          </a:p>
        </p:txBody>
      </p:sp>
      <p:sp>
        <p:nvSpPr>
          <p:cNvPr id="7" name="Shape 4"/>
          <p:cNvSpPr/>
          <p:nvPr/>
        </p:nvSpPr>
        <p:spPr>
          <a:xfrm>
            <a:off x="1005840" y="1097280"/>
            <a:ext cx="118872" cy="118872"/>
          </a:xfrm>
          <a:prstGeom prst="ellipse">
            <a:avLst/>
          </a:prstGeom>
          <a:solidFill>
            <a:srgbClr val="FFBD2E"/>
          </a:solidFill>
          <a:ln/>
        </p:spPr>
        <p:txBody>
          <a:bodyPr/>
          <a:lstStyle/>
          <a:p>
            <a:endParaRPr lang="en-US"/>
          </a:p>
        </p:txBody>
      </p:sp>
      <p:sp>
        <p:nvSpPr>
          <p:cNvPr id="8" name="Shape 5"/>
          <p:cNvSpPr/>
          <p:nvPr/>
        </p:nvSpPr>
        <p:spPr>
          <a:xfrm>
            <a:off x="1188720" y="1097280"/>
            <a:ext cx="118872" cy="118872"/>
          </a:xfrm>
          <a:prstGeom prst="ellipse">
            <a:avLst/>
          </a:prstGeom>
          <a:solidFill>
            <a:srgbClr val="27C93F"/>
          </a:solidFill>
          <a:ln/>
        </p:spPr>
        <p:txBody>
          <a:bodyPr/>
          <a:lstStyle/>
          <a:p>
            <a:endParaRPr lang="en-US"/>
          </a:p>
        </p:txBody>
      </p:sp>
      <p:sp>
        <p:nvSpPr>
          <p:cNvPr id="9" name="Text 6"/>
          <p:cNvSpPr/>
          <p:nvPr/>
        </p:nvSpPr>
        <p:spPr>
          <a:xfrm>
            <a:off x="1463040" y="1005840"/>
            <a:ext cx="3657600" cy="320040"/>
          </a:xfrm>
          <a:prstGeom prst="rect">
            <a:avLst/>
          </a:prstGeom>
          <a:noFill/>
          <a:ln/>
        </p:spPr>
        <p:txBody>
          <a:bodyPr wrap="square" lIns="0" tIns="0" rIns="0" bIns="0" rtlCol="0" anchor="ctr"/>
          <a:lstStyle/>
          <a:p>
            <a:pPr marL="0" indent="0">
              <a:buNone/>
            </a:pPr>
            <a:r>
              <a:rPr lang="en-US" sz="1100" dirty="0">
                <a:solidFill>
                  <a:srgbClr val="B0AEA5"/>
                </a:solidFill>
                <a:latin typeface="Courier New" pitchFamily="34" charset="0"/>
                <a:ea typeface="Courier New" pitchFamily="34" charset="-122"/>
                <a:cs typeface="Courier New" pitchFamily="34" charset="-120"/>
              </a:rPr>
              <a:t>~/.claude/skills/explain-code/</a:t>
            </a:r>
            <a:endParaRPr lang="en-US" sz="1100" dirty="0"/>
          </a:p>
        </p:txBody>
      </p:sp>
      <p:sp>
        <p:nvSpPr>
          <p:cNvPr id="10" name="Text 7"/>
          <p:cNvSpPr/>
          <p:nvPr/>
        </p:nvSpPr>
        <p:spPr>
          <a:xfrm>
            <a:off x="822960" y="1463040"/>
            <a:ext cx="7498080" cy="2286000"/>
          </a:xfrm>
          <a:prstGeom prst="rect">
            <a:avLst/>
          </a:prstGeom>
          <a:noFill/>
          <a:ln/>
        </p:spPr>
        <p:txBody>
          <a:bodyPr wrap="square" lIns="0" tIns="0" rIns="0" bIns="0" rtlCol="0" anchor="t"/>
          <a:lstStyle/>
          <a:p>
            <a:pPr marL="0" indent="0">
              <a:buNone/>
            </a:pPr>
            <a:r>
              <a:rPr lang="en-US" sz="1300" dirty="0">
                <a:solidFill>
                  <a:srgbClr val="D4D4D4"/>
                </a:solidFill>
                <a:latin typeface="Courier New" pitchFamily="34" charset="0"/>
                <a:ea typeface="Courier New" pitchFamily="34" charset="-122"/>
                <a:cs typeface="Courier New" pitchFamily="34" charset="-120"/>
              </a:rPr>
              <a:t>explain-code/</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 SKILL.md          # Required: main instructions</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 template.md       # Optional: output template</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 examples/  └── sample.md     # Optional: example output</a:t>
            </a:r>
            <a:endParaRPr lang="en-US" sz="1300" dirty="0"/>
          </a:p>
        </p:txBody>
      </p:sp>
      <p:sp>
        <p:nvSpPr>
          <p:cNvPr id="11" name="Shape 8"/>
          <p:cNvSpPr/>
          <p:nvPr/>
        </p:nvSpPr>
        <p:spPr>
          <a:xfrm>
            <a:off x="640080" y="4160520"/>
            <a:ext cx="7863840" cy="640080"/>
          </a:xfrm>
          <a:prstGeom prst="rect">
            <a:avLst/>
          </a:prstGeom>
          <a:solidFill>
            <a:srgbClr val="788C5D">
              <a:alpha val="12000"/>
            </a:srgbClr>
          </a:solidFill>
          <a:ln/>
        </p:spPr>
        <p:txBody>
          <a:bodyPr/>
          <a:lstStyle/>
          <a:p>
            <a:endParaRPr lang="en-US"/>
          </a:p>
        </p:txBody>
      </p:sp>
      <p:sp>
        <p:nvSpPr>
          <p:cNvPr id="12" name="Text 9"/>
          <p:cNvSpPr/>
          <p:nvPr/>
        </p:nvSpPr>
        <p:spPr>
          <a:xfrm>
            <a:off x="868680" y="4160520"/>
            <a:ext cx="7498080" cy="640080"/>
          </a:xfrm>
          <a:prstGeom prst="rect">
            <a:avLst/>
          </a:prstGeom>
          <a:noFill/>
          <a:ln/>
        </p:spPr>
        <p:txBody>
          <a:bodyPr wrap="square" lIns="0" tIns="0" rIns="0" bIns="0" rtlCol="0" anchor="ctr"/>
          <a:lstStyle/>
          <a:p>
            <a:pPr marL="0" indent="0">
              <a:buNone/>
            </a:pPr>
            <a:r>
              <a:rPr lang="en-US" sz="1300" dirty="0">
                <a:solidFill>
                  <a:srgbClr val="141413"/>
                </a:solidFill>
                <a:latin typeface="Lora" pitchFamily="34" charset="0"/>
                <a:ea typeface="Lora" pitchFamily="34" charset="-122"/>
                <a:cs typeface="Lora" pitchFamily="34" charset="-120"/>
              </a:rPr>
              <a:t>SKILL.md is the only required file. Supporting files keep it focused. Scripts execute without loading into context.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640080" y="182880"/>
            <a:ext cx="5212080" cy="548640"/>
          </a:xfrm>
          <a:prstGeom prst="rect">
            <a:avLst/>
          </a:prstGeom>
          <a:noFill/>
          <a:ln/>
        </p:spPr>
        <p:txBody>
          <a:bodyPr wrap="square" lIns="0" tIns="0" rIns="0" bIns="0" rtlCol="0" anchor="ctr"/>
          <a:lstStyle/>
          <a:p>
            <a:pPr marL="0" indent="0">
              <a:buNone/>
            </a:pPr>
            <a:r>
              <a:rPr lang="en-US" sz="2800" b="1" dirty="0">
                <a:solidFill>
                  <a:srgbClr val="141413"/>
                </a:solidFill>
                <a:latin typeface="Test Tiempos Headline Light" pitchFamily="34" charset="0"/>
                <a:ea typeface="Test Tiempos Headline Light" pitchFamily="34" charset="-122"/>
                <a:cs typeface="Test Tiempos Headline Light" pitchFamily="34" charset="-120"/>
              </a:rPr>
              <a:t>Knowledge check</a:t>
            </a:r>
            <a:endParaRPr lang="en-US" sz="2800" dirty="0"/>
          </a:p>
        </p:txBody>
      </p:sp>
      <p:sp>
        <p:nvSpPr>
          <p:cNvPr id="4" name="Text 1"/>
          <p:cNvSpPr/>
          <p:nvPr/>
        </p:nvSpPr>
        <p:spPr>
          <a:xfrm>
            <a:off x="6858000" y="274320"/>
            <a:ext cx="1828800" cy="365760"/>
          </a:xfrm>
          <a:prstGeom prst="rect">
            <a:avLst/>
          </a:prstGeom>
          <a:noFill/>
          <a:ln/>
        </p:spPr>
        <p:txBody>
          <a:bodyPr wrap="square" lIns="0" tIns="0" rIns="0" bIns="0" rtlCol="0" anchor="ctr"/>
          <a:lstStyle/>
          <a:p>
            <a:pPr marL="0" indent="0" algn="r">
              <a:buNone/>
            </a:pPr>
            <a:r>
              <a:rPr lang="en-US" sz="1100" b="1" dirty="0">
                <a:solidFill>
                  <a:srgbClr val="6A9BCC"/>
                </a:solidFill>
                <a:latin typeface="Lora" pitchFamily="34" charset="0"/>
                <a:ea typeface="Lora" pitchFamily="34" charset="-122"/>
                <a:cs typeface="Lora" pitchFamily="34" charset="-120"/>
              </a:rPr>
              <a:t>MULTIPLE CHOICE</a:t>
            </a:r>
            <a:endParaRPr lang="en-US" sz="1100" dirty="0"/>
          </a:p>
        </p:txBody>
      </p:sp>
      <p:sp>
        <p:nvSpPr>
          <p:cNvPr id="5" name="Text 2"/>
          <p:cNvSpPr/>
          <p:nvPr/>
        </p:nvSpPr>
        <p:spPr>
          <a:xfrm>
            <a:off x="640080" y="1097280"/>
            <a:ext cx="7863840" cy="548640"/>
          </a:xfrm>
          <a:prstGeom prst="rect">
            <a:avLst/>
          </a:prstGeom>
          <a:noFill/>
          <a:ln/>
        </p:spPr>
        <p:txBody>
          <a:bodyPr wrap="square" lIns="0" tIns="0" rIns="0" bIns="0" rtlCol="0" anchor="ctr"/>
          <a:lstStyle/>
          <a:p>
            <a:pPr marL="0" indent="0">
              <a:buNone/>
            </a:pPr>
            <a:r>
              <a:rPr lang="en-US" sz="1700" b="1" dirty="0">
                <a:solidFill>
                  <a:srgbClr val="141413"/>
                </a:solidFill>
                <a:latin typeface="Lora" pitchFamily="34" charset="0"/>
                <a:ea typeface="Lora" pitchFamily="34" charset="-122"/>
                <a:cs typeface="Lora" pitchFamily="34" charset="-120"/>
              </a:rPr>
              <a:t>You want a skill to be available across all your projects without committing it to any repo. Where should you place it?</a:t>
            </a:r>
            <a:endParaRPr lang="en-US" sz="1700" dirty="0"/>
          </a:p>
        </p:txBody>
      </p:sp>
      <p:sp>
        <p:nvSpPr>
          <p:cNvPr id="6" name="Shape 3"/>
          <p:cNvSpPr/>
          <p:nvPr/>
        </p:nvSpPr>
        <p:spPr>
          <a:xfrm>
            <a:off x="640080" y="1920240"/>
            <a:ext cx="7863840" cy="5943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7" name="Shape 4"/>
          <p:cNvSpPr/>
          <p:nvPr/>
        </p:nvSpPr>
        <p:spPr>
          <a:xfrm>
            <a:off x="868680" y="2011680"/>
            <a:ext cx="411480" cy="411480"/>
          </a:xfrm>
          <a:prstGeom prst="ellipse">
            <a:avLst/>
          </a:prstGeom>
          <a:solidFill>
            <a:srgbClr val="D97757"/>
          </a:solidFill>
          <a:ln/>
        </p:spPr>
        <p:txBody>
          <a:bodyPr/>
          <a:lstStyle/>
          <a:p>
            <a:endParaRPr lang="en-US"/>
          </a:p>
        </p:txBody>
      </p:sp>
      <p:sp>
        <p:nvSpPr>
          <p:cNvPr id="8" name="Text 5"/>
          <p:cNvSpPr/>
          <p:nvPr/>
        </p:nvSpPr>
        <p:spPr>
          <a:xfrm>
            <a:off x="868680" y="20116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Lora" pitchFamily="34" charset="0"/>
                <a:ea typeface="Lora" pitchFamily="34" charset="-122"/>
                <a:cs typeface="Lora" pitchFamily="34" charset="-120"/>
              </a:rPr>
              <a:t>A</a:t>
            </a:r>
            <a:endParaRPr lang="en-US" sz="1600" dirty="0"/>
          </a:p>
        </p:txBody>
      </p:sp>
      <p:sp>
        <p:nvSpPr>
          <p:cNvPr id="9" name="Text 6"/>
          <p:cNvSpPr/>
          <p:nvPr/>
        </p:nvSpPr>
        <p:spPr>
          <a:xfrm>
            <a:off x="1463040" y="1920240"/>
            <a:ext cx="6766560" cy="594360"/>
          </a:xfrm>
          <a:prstGeom prst="rect">
            <a:avLst/>
          </a:prstGeom>
          <a:noFill/>
          <a:ln/>
        </p:spPr>
        <p:txBody>
          <a:bodyPr wrap="square" lIns="0" tIns="0" rIns="0" bIns="0" rtlCol="0" anchor="ctr"/>
          <a:lstStyle/>
          <a:p>
            <a:pPr marL="0" indent="0">
              <a:buNone/>
            </a:pPr>
            <a:r>
              <a:rPr lang="en-US" sz="1400" dirty="0">
                <a:solidFill>
                  <a:srgbClr val="141413"/>
                </a:solidFill>
                <a:latin typeface="Lora" pitchFamily="34" charset="0"/>
                <a:ea typeface="Lora" pitchFamily="34" charset="-122"/>
                <a:cs typeface="Lora" pitchFamily="34" charset="-120"/>
              </a:rPr>
              <a:t>In your project's .claude/skills/ directory</a:t>
            </a:r>
            <a:endParaRPr lang="en-US" sz="1400" dirty="0"/>
          </a:p>
        </p:txBody>
      </p:sp>
      <p:sp>
        <p:nvSpPr>
          <p:cNvPr id="10" name="Shape 7"/>
          <p:cNvSpPr/>
          <p:nvPr/>
        </p:nvSpPr>
        <p:spPr>
          <a:xfrm>
            <a:off x="640080" y="2670048"/>
            <a:ext cx="7863840" cy="5943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1" name="Shape 8"/>
          <p:cNvSpPr/>
          <p:nvPr/>
        </p:nvSpPr>
        <p:spPr>
          <a:xfrm>
            <a:off x="868680" y="2761488"/>
            <a:ext cx="411480" cy="411480"/>
          </a:xfrm>
          <a:prstGeom prst="ellipse">
            <a:avLst/>
          </a:prstGeom>
          <a:solidFill>
            <a:srgbClr val="6A9BCC"/>
          </a:solidFill>
          <a:ln/>
        </p:spPr>
        <p:txBody>
          <a:bodyPr/>
          <a:lstStyle/>
          <a:p>
            <a:endParaRPr lang="en-US"/>
          </a:p>
        </p:txBody>
      </p:sp>
      <p:sp>
        <p:nvSpPr>
          <p:cNvPr id="12" name="Text 9"/>
          <p:cNvSpPr/>
          <p:nvPr/>
        </p:nvSpPr>
        <p:spPr>
          <a:xfrm>
            <a:off x="868680" y="276148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Lora" pitchFamily="34" charset="0"/>
                <a:ea typeface="Lora" pitchFamily="34" charset="-122"/>
                <a:cs typeface="Lora" pitchFamily="34" charset="-120"/>
              </a:rPr>
              <a:t>B</a:t>
            </a:r>
            <a:endParaRPr lang="en-US" sz="1600" dirty="0"/>
          </a:p>
        </p:txBody>
      </p:sp>
      <p:sp>
        <p:nvSpPr>
          <p:cNvPr id="13" name="Text 10"/>
          <p:cNvSpPr/>
          <p:nvPr/>
        </p:nvSpPr>
        <p:spPr>
          <a:xfrm>
            <a:off x="1463040" y="2670048"/>
            <a:ext cx="6766560" cy="594360"/>
          </a:xfrm>
          <a:prstGeom prst="rect">
            <a:avLst/>
          </a:prstGeom>
          <a:noFill/>
          <a:ln/>
        </p:spPr>
        <p:txBody>
          <a:bodyPr wrap="square" lIns="0" tIns="0" rIns="0" bIns="0" rtlCol="0" anchor="ctr"/>
          <a:lstStyle/>
          <a:p>
            <a:pPr marL="0" indent="0">
              <a:buNone/>
            </a:pPr>
            <a:r>
              <a:rPr lang="en-US" sz="1400" dirty="0">
                <a:solidFill>
                  <a:srgbClr val="141413"/>
                </a:solidFill>
                <a:latin typeface="Lora" pitchFamily="34" charset="0"/>
                <a:ea typeface="Lora" pitchFamily="34" charset="-122"/>
                <a:cs typeface="Lora" pitchFamily="34" charset="-120"/>
              </a:rPr>
              <a:t>In ~/.claude/skills/ in your home directory</a:t>
            </a:r>
            <a:endParaRPr lang="en-US" sz="1400" dirty="0"/>
          </a:p>
        </p:txBody>
      </p:sp>
      <p:sp>
        <p:nvSpPr>
          <p:cNvPr id="14" name="Shape 11"/>
          <p:cNvSpPr/>
          <p:nvPr/>
        </p:nvSpPr>
        <p:spPr>
          <a:xfrm>
            <a:off x="640080" y="3419856"/>
            <a:ext cx="7863840" cy="5943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5" name="Shape 12"/>
          <p:cNvSpPr/>
          <p:nvPr/>
        </p:nvSpPr>
        <p:spPr>
          <a:xfrm>
            <a:off x="868680" y="3511296"/>
            <a:ext cx="411480" cy="411480"/>
          </a:xfrm>
          <a:prstGeom prst="ellipse">
            <a:avLst/>
          </a:prstGeom>
          <a:solidFill>
            <a:srgbClr val="788C5D"/>
          </a:solidFill>
          <a:ln/>
        </p:spPr>
        <p:txBody>
          <a:bodyPr/>
          <a:lstStyle/>
          <a:p>
            <a:endParaRPr lang="en-US"/>
          </a:p>
        </p:txBody>
      </p:sp>
      <p:sp>
        <p:nvSpPr>
          <p:cNvPr id="16" name="Text 13"/>
          <p:cNvSpPr/>
          <p:nvPr/>
        </p:nvSpPr>
        <p:spPr>
          <a:xfrm>
            <a:off x="868680" y="351129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Lora" pitchFamily="34" charset="0"/>
                <a:ea typeface="Lora" pitchFamily="34" charset="-122"/>
                <a:cs typeface="Lora" pitchFamily="34" charset="-120"/>
              </a:rPr>
              <a:t>C</a:t>
            </a:r>
            <a:endParaRPr lang="en-US" sz="1600" dirty="0"/>
          </a:p>
        </p:txBody>
      </p:sp>
      <p:sp>
        <p:nvSpPr>
          <p:cNvPr id="17" name="Text 14"/>
          <p:cNvSpPr/>
          <p:nvPr/>
        </p:nvSpPr>
        <p:spPr>
          <a:xfrm>
            <a:off x="1463040" y="3419856"/>
            <a:ext cx="6766560" cy="594360"/>
          </a:xfrm>
          <a:prstGeom prst="rect">
            <a:avLst/>
          </a:prstGeom>
          <a:noFill/>
          <a:ln/>
        </p:spPr>
        <p:txBody>
          <a:bodyPr wrap="square" lIns="0" tIns="0" rIns="0" bIns="0" rtlCol="0" anchor="ctr"/>
          <a:lstStyle/>
          <a:p>
            <a:pPr marL="0" indent="0">
              <a:buNone/>
            </a:pPr>
            <a:r>
              <a:rPr lang="en-US" sz="1400" dirty="0">
                <a:solidFill>
                  <a:srgbClr val="141413"/>
                </a:solidFill>
                <a:latin typeface="Lora" pitchFamily="34" charset="0"/>
                <a:ea typeface="Lora" pitchFamily="34" charset="-122"/>
                <a:cs typeface="Lora" pitchFamily="34" charset="-120"/>
              </a:rPr>
              <a:t>In /etc/claude/skills/ as a system-wide config</a:t>
            </a:r>
            <a:endParaRPr lang="en-US" sz="1400" dirty="0"/>
          </a:p>
        </p:txBody>
      </p:sp>
      <p:sp>
        <p:nvSpPr>
          <p:cNvPr id="18" name="Shape 15"/>
          <p:cNvSpPr/>
          <p:nvPr/>
        </p:nvSpPr>
        <p:spPr>
          <a:xfrm>
            <a:off x="640080" y="4169664"/>
            <a:ext cx="7863840" cy="5943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9" name="Shape 16"/>
          <p:cNvSpPr/>
          <p:nvPr/>
        </p:nvSpPr>
        <p:spPr>
          <a:xfrm>
            <a:off x="868680" y="4261104"/>
            <a:ext cx="411480" cy="411480"/>
          </a:xfrm>
          <a:prstGeom prst="ellipse">
            <a:avLst/>
          </a:prstGeom>
          <a:solidFill>
            <a:srgbClr val="B0AEA5"/>
          </a:solidFill>
          <a:ln/>
        </p:spPr>
        <p:txBody>
          <a:bodyPr/>
          <a:lstStyle/>
          <a:p>
            <a:endParaRPr lang="en-US"/>
          </a:p>
        </p:txBody>
      </p:sp>
      <p:sp>
        <p:nvSpPr>
          <p:cNvPr id="20" name="Text 17"/>
          <p:cNvSpPr/>
          <p:nvPr/>
        </p:nvSpPr>
        <p:spPr>
          <a:xfrm>
            <a:off x="868680" y="4261104"/>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Lora" pitchFamily="34" charset="0"/>
                <a:ea typeface="Lora" pitchFamily="34" charset="-122"/>
                <a:cs typeface="Lora" pitchFamily="34" charset="-120"/>
              </a:rPr>
              <a:t>D</a:t>
            </a:r>
            <a:endParaRPr lang="en-US" sz="1600" dirty="0"/>
          </a:p>
        </p:txBody>
      </p:sp>
      <p:sp>
        <p:nvSpPr>
          <p:cNvPr id="21" name="Text 18"/>
          <p:cNvSpPr/>
          <p:nvPr/>
        </p:nvSpPr>
        <p:spPr>
          <a:xfrm>
            <a:off x="1463040" y="4169664"/>
            <a:ext cx="6766560" cy="594360"/>
          </a:xfrm>
          <a:prstGeom prst="rect">
            <a:avLst/>
          </a:prstGeom>
          <a:noFill/>
          <a:ln/>
        </p:spPr>
        <p:txBody>
          <a:bodyPr wrap="square" lIns="0" tIns="0" rIns="0" bIns="0" rtlCol="0" anchor="ctr"/>
          <a:lstStyle/>
          <a:p>
            <a:pPr marL="0" indent="0">
              <a:buNone/>
            </a:pPr>
            <a:r>
              <a:rPr lang="en-US" sz="1400" dirty="0">
                <a:solidFill>
                  <a:srgbClr val="141413"/>
                </a:solidFill>
                <a:latin typeface="Lora" pitchFamily="34" charset="0"/>
                <a:ea typeface="Lora" pitchFamily="34" charset="-122"/>
                <a:cs typeface="Lora" pitchFamily="34" charset="-120"/>
              </a:rPr>
              <a:t>In the CLAUDE.md file at the project root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100" name="Side Stripe Override"/>
          <p:cNvSpPr/>
          <p:nvPr/>
        </p:nvSpPr>
        <p:spPr>
          <a:xfrm>
            <a:off x="0" y="0"/>
            <a:ext cx="73152" cy="5143500"/>
          </a:xfrm>
          <a:prstGeom prst="rect">
            <a:avLst/>
          </a:prstGeom>
          <a:solidFill>
            <a:srgbClr val="6A9BCC"/>
          </a:solidFill>
          <a:ln/>
        </p:spPr>
        <p:txBody>
          <a:bodyPr/>
          <a:lstStyle/>
          <a:p>
            <a:endParaRPr lang="en-US"/>
          </a:p>
        </p:txBody>
      </p:sp>
      <p:sp>
        <p:nvSpPr>
          <p:cNvPr id="2" name="Text 0"/>
          <p:cNvSpPr/>
          <p:nvPr/>
        </p:nvSpPr>
        <p:spPr>
          <a:xfrm>
            <a:off x="640080" y="1097280"/>
            <a:ext cx="2743200" cy="457200"/>
          </a:xfrm>
          <a:prstGeom prst="rect">
            <a:avLst/>
          </a:prstGeom>
          <a:noFill/>
          <a:ln/>
        </p:spPr>
        <p:txBody>
          <a:bodyPr wrap="square" lIns="0" tIns="0" rIns="0" bIns="0" rtlCol="0" anchor="ctr"/>
          <a:lstStyle/>
          <a:p>
            <a:pPr marL="0" indent="0">
              <a:buNone/>
            </a:pPr>
            <a:r>
              <a:rPr lang="en-US" sz="1400" b="1" dirty="0">
                <a:solidFill>
                  <a:srgbClr val="6A9BCC"/>
                </a:solidFill>
                <a:latin typeface="Lora" pitchFamily="34" charset="0"/>
                <a:ea typeface="Lora" pitchFamily="34" charset="-122"/>
                <a:cs typeface="Lora" pitchFamily="34" charset="-120"/>
              </a:rPr>
              <a:t>SECTION 02</a:t>
            </a:r>
            <a:endParaRPr lang="en-US" sz="1400" dirty="0"/>
          </a:p>
        </p:txBody>
      </p:sp>
      <p:sp>
        <p:nvSpPr>
          <p:cNvPr id="3" name="Text 1"/>
          <p:cNvSpPr/>
          <p:nvPr/>
        </p:nvSpPr>
        <p:spPr>
          <a:xfrm>
            <a:off x="640080" y="1645920"/>
            <a:ext cx="5486400" cy="1097280"/>
          </a:xfrm>
          <a:prstGeom prst="rect">
            <a:avLst/>
          </a:prstGeom>
          <a:noFill/>
          <a:ln/>
        </p:spPr>
        <p:txBody>
          <a:bodyPr wrap="square" lIns="0" tIns="0" rIns="0" bIns="0" rtlCol="0" anchor="ctr"/>
          <a:lstStyle/>
          <a:p>
            <a:pPr marL="0" indent="0">
              <a:buNone/>
            </a:pPr>
            <a:r>
              <a:rPr lang="en-US" sz="4000" b="1" dirty="0">
                <a:solidFill>
                  <a:srgbClr val="FAF9F5"/>
                </a:solidFill>
                <a:latin typeface="Test Tiempos Headline Light" pitchFamily="34" charset="0"/>
                <a:ea typeface="Test Tiempos Headline Light" pitchFamily="34" charset="-122"/>
                <a:cs typeface="Test Tiempos Headline Light" pitchFamily="34" charset="-120"/>
              </a:rPr>
              <a:t>Building and configuring skills</a:t>
            </a:r>
            <a:endParaRPr lang="en-US" sz="4000" dirty="0"/>
          </a:p>
        </p:txBody>
      </p:sp>
      <p:sp>
        <p:nvSpPr>
          <p:cNvPr id="4" name="Text 2"/>
          <p:cNvSpPr/>
          <p:nvPr/>
        </p:nvSpPr>
        <p:spPr>
          <a:xfrm>
            <a:off x="640080" y="2926080"/>
            <a:ext cx="5486400" cy="640080"/>
          </a:xfrm>
          <a:prstGeom prst="rect">
            <a:avLst/>
          </a:prstGeom>
          <a:noFill/>
          <a:ln/>
        </p:spPr>
        <p:txBody>
          <a:bodyPr wrap="square" lIns="0" tIns="0" rIns="0" bIns="0" rtlCol="0" anchor="ctr"/>
          <a:lstStyle/>
          <a:p>
            <a:pPr marL="0" indent="0">
              <a:buNone/>
            </a:pPr>
            <a:r>
              <a:rPr lang="en-US" sz="1600" dirty="0">
                <a:solidFill>
                  <a:srgbClr val="B0AEA5"/>
                </a:solidFill>
                <a:latin typeface="Lora" pitchFamily="34" charset="0"/>
                <a:ea typeface="Lora" pitchFamily="34" charset="-122"/>
                <a:cs typeface="Lora" pitchFamily="34" charset="-120"/>
              </a:rPr>
              <a:t>Walk through creating a skill from scratch, then explore configuration options including frontmatter, arguments, content types, and supporting files.</a:t>
            </a:r>
            <a:endParaRPr lang="en-US" sz="1600" dirty="0"/>
          </a:p>
        </p:txBody>
      </p:sp>
      <p:sp>
        <p:nvSpPr>
          <p:cNvPr id="5" name="Shape 3"/>
          <p:cNvSpPr/>
          <p:nvPr/>
        </p:nvSpPr>
        <p:spPr>
          <a:xfrm>
            <a:off x="640080" y="3931920"/>
            <a:ext cx="1463040" cy="320040"/>
          </a:xfrm>
          <a:prstGeom prst="roundRect">
            <a:avLst>
              <a:gd name="adj" fmla="val 14286"/>
            </a:avLst>
          </a:prstGeom>
          <a:solidFill>
            <a:srgbClr val="6A9BCC">
              <a:alpha val="20000"/>
            </a:srgbClr>
          </a:solidFill>
          <a:ln/>
        </p:spPr>
        <p:txBody>
          <a:bodyPr/>
          <a:lstStyle/>
          <a:p>
            <a:endParaRPr lang="en-US"/>
          </a:p>
        </p:txBody>
      </p:sp>
      <p:sp>
        <p:nvSpPr>
          <p:cNvPr id="6" name="Text 4"/>
          <p:cNvSpPr/>
          <p:nvPr/>
        </p:nvSpPr>
        <p:spPr>
          <a:xfrm>
            <a:off x="640080" y="3913632"/>
            <a:ext cx="1463040" cy="365760"/>
          </a:xfrm>
          <a:prstGeom prst="rect">
            <a:avLst/>
          </a:prstGeom>
          <a:noFill/>
          <a:ln/>
        </p:spPr>
        <p:txBody>
          <a:bodyPr wrap="square" lIns="0" tIns="0" rIns="0" bIns="0" rtlCol="0" anchor="ctr"/>
          <a:lstStyle/>
          <a:p>
            <a:pPr marL="0" indent="0" algn="ctr">
              <a:buNone/>
            </a:pPr>
            <a:r>
              <a:rPr lang="en-US" sz="1100" dirty="0">
                <a:solidFill>
                  <a:srgbClr val="6A9BCC"/>
                </a:solidFill>
                <a:latin typeface="Lora" pitchFamily="34" charset="0"/>
                <a:ea typeface="Lora" pitchFamily="34" charset="-122"/>
                <a:cs typeface="Lora" pitchFamily="34" charset="-120"/>
              </a:rPr>
              <a:t>~15 minutes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8530046" cy="548640"/>
          </a:xfrm>
          <a:prstGeom prst="rect">
            <a:avLst/>
          </a:prstGeom>
          <a:noFill/>
          <a:ln/>
        </p:spPr>
        <p:txBody>
          <a:bodyPr wrap="square" lIns="0" tIns="0" rIns="0" bIns="0" rtlCol="0" anchor="ctr"/>
          <a:lstStyle/>
          <a:p>
            <a:pPr marL="0" indent="0">
              <a:buNone/>
            </a:pPr>
            <a:r>
              <a:rPr lang="en-US" sz="3000" b="1" dirty="0">
                <a:solidFill>
                  <a:srgbClr val="141413"/>
                </a:solidFill>
                <a:latin typeface="Test Tiempos Headline Light" pitchFamily="34" charset="0"/>
                <a:ea typeface="Test Tiempos Headline Light" pitchFamily="34" charset="-122"/>
                <a:cs typeface="Test Tiempos Headline Light" pitchFamily="34" charset="-120"/>
              </a:rPr>
              <a:t>Choose your approach: problem-first vs tool-first</a:t>
            </a:r>
            <a:endParaRPr lang="en-US" sz="3000" dirty="0"/>
          </a:p>
        </p:txBody>
      </p:sp>
      <p:sp>
        <p:nvSpPr>
          <p:cNvPr id="3" name="Shape 1"/>
          <p:cNvSpPr/>
          <p:nvPr/>
        </p:nvSpPr>
        <p:spPr>
          <a:xfrm>
            <a:off x="457200" y="1051560"/>
            <a:ext cx="3977640" cy="2203704"/>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4" name="Shape 2"/>
          <p:cNvSpPr/>
          <p:nvPr/>
        </p:nvSpPr>
        <p:spPr>
          <a:xfrm>
            <a:off x="457200" y="1051560"/>
            <a:ext cx="3977640" cy="54864"/>
          </a:xfrm>
          <a:prstGeom prst="rect">
            <a:avLst/>
          </a:prstGeom>
          <a:solidFill>
            <a:srgbClr val="D5A480"/>
          </a:solidFill>
          <a:ln/>
        </p:spPr>
        <p:txBody>
          <a:bodyPr/>
          <a:lstStyle/>
          <a:p>
            <a:endParaRPr lang="en-US"/>
          </a:p>
        </p:txBody>
      </p:sp>
      <p:sp>
        <p:nvSpPr>
          <p:cNvPr id="6" name="Text 3"/>
          <p:cNvSpPr/>
          <p:nvPr/>
        </p:nvSpPr>
        <p:spPr>
          <a:xfrm>
            <a:off x="1042797" y="1234440"/>
            <a:ext cx="3346323" cy="45720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Problem-first approach</a:t>
            </a:r>
            <a:endParaRPr lang="en-US" sz="1600" dirty="0"/>
          </a:p>
        </p:txBody>
      </p:sp>
      <p:sp>
        <p:nvSpPr>
          <p:cNvPr id="7" name="Text 4"/>
          <p:cNvSpPr/>
          <p:nvPr/>
        </p:nvSpPr>
        <p:spPr>
          <a:xfrm>
            <a:off x="640080" y="1828800"/>
            <a:ext cx="3566160" cy="1188720"/>
          </a:xfrm>
          <a:prstGeom prst="rect">
            <a:avLst/>
          </a:prstGeom>
          <a:noFill/>
          <a:ln/>
        </p:spPr>
        <p:txBody>
          <a:bodyPr wrap="square" lIns="0" tIns="0" rIns="0" bIns="0" rtlCol="0" anchor="ctr"/>
          <a:lstStyle/>
          <a:p>
            <a:pPr marL="0" indent="0">
              <a:buNone/>
            </a:pPr>
            <a:r>
              <a:rPr lang="en-US" sz="1200" dirty="0">
                <a:solidFill>
                  <a:srgbClr val="B0AEA5"/>
                </a:solidFill>
                <a:latin typeface="Lora" pitchFamily="34" charset="0"/>
                <a:ea typeface="Lora" pitchFamily="34" charset="-122"/>
                <a:cs typeface="Lora" pitchFamily="34" charset="-120"/>
              </a:rPr>
              <a:t>Users describe outcomes; the skill handles the tools. </a:t>
            </a:r>
          </a:p>
          <a:p>
            <a:pPr marL="0" indent="0">
              <a:buNone/>
            </a:pPr>
            <a:endParaRPr lang="en-US" sz="1200" dirty="0">
              <a:solidFill>
                <a:srgbClr val="B0AEA5"/>
              </a:solidFill>
              <a:latin typeface="Lora" pitchFamily="34" charset="0"/>
              <a:ea typeface="Lora" pitchFamily="34" charset="-122"/>
              <a:cs typeface="Lora" pitchFamily="34" charset="-120"/>
            </a:endParaRPr>
          </a:p>
          <a:p>
            <a:pPr marL="0" indent="0">
              <a:buNone/>
            </a:pPr>
            <a:r>
              <a:rPr lang="en-US" sz="1200" dirty="0">
                <a:solidFill>
                  <a:srgbClr val="B0AEA5"/>
                </a:solidFill>
                <a:latin typeface="Lora" pitchFamily="34" charset="0"/>
                <a:ea typeface="Lora" pitchFamily="34" charset="-122"/>
                <a:cs typeface="Lora" pitchFamily="34" charset="-120"/>
              </a:rPr>
              <a:t>Best for: end-to-end workflows, multi-step processes.</a:t>
            </a:r>
            <a:endParaRPr lang="en-US" sz="1200" dirty="0"/>
          </a:p>
        </p:txBody>
      </p:sp>
      <p:sp>
        <p:nvSpPr>
          <p:cNvPr id="8" name="Shape 5"/>
          <p:cNvSpPr/>
          <p:nvPr/>
        </p:nvSpPr>
        <p:spPr>
          <a:xfrm>
            <a:off x="4709160" y="1051560"/>
            <a:ext cx="3977640" cy="2203704"/>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9" name="Shape 6"/>
          <p:cNvSpPr/>
          <p:nvPr/>
        </p:nvSpPr>
        <p:spPr>
          <a:xfrm>
            <a:off x="4709160" y="1051560"/>
            <a:ext cx="3977640" cy="54864"/>
          </a:xfrm>
          <a:prstGeom prst="rect">
            <a:avLst/>
          </a:prstGeom>
          <a:solidFill>
            <a:schemeClr val="accent3"/>
          </a:solidFill>
          <a:ln/>
        </p:spPr>
        <p:txBody>
          <a:bodyPr/>
          <a:lstStyle/>
          <a:p>
            <a:endParaRPr lang="en-US"/>
          </a:p>
        </p:txBody>
      </p:sp>
      <p:sp>
        <p:nvSpPr>
          <p:cNvPr id="11" name="Text 7"/>
          <p:cNvSpPr/>
          <p:nvPr/>
        </p:nvSpPr>
        <p:spPr>
          <a:xfrm>
            <a:off x="5262372" y="1234440"/>
            <a:ext cx="3327908" cy="45720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Tool-first approach</a:t>
            </a:r>
            <a:endParaRPr lang="en-US" sz="1600" dirty="0"/>
          </a:p>
        </p:txBody>
      </p:sp>
      <p:sp>
        <p:nvSpPr>
          <p:cNvPr id="12" name="Text 8"/>
          <p:cNvSpPr/>
          <p:nvPr/>
        </p:nvSpPr>
        <p:spPr>
          <a:xfrm>
            <a:off x="4892040" y="1828800"/>
            <a:ext cx="3566160" cy="1271016"/>
          </a:xfrm>
          <a:prstGeom prst="rect">
            <a:avLst/>
          </a:prstGeom>
          <a:noFill/>
          <a:ln/>
        </p:spPr>
        <p:txBody>
          <a:bodyPr wrap="square" lIns="0" tIns="0" rIns="0" bIns="0" rtlCol="0" anchor="ctr"/>
          <a:lstStyle/>
          <a:p>
            <a:pPr marL="0" indent="0">
              <a:buNone/>
            </a:pPr>
            <a:r>
              <a:rPr lang="en-US" sz="1200" dirty="0">
                <a:solidFill>
                  <a:srgbClr val="B0AEA5"/>
                </a:solidFill>
                <a:latin typeface="Lora" pitchFamily="34" charset="0"/>
                <a:ea typeface="Lora" pitchFamily="34" charset="-122"/>
                <a:cs typeface="Lora" pitchFamily="34" charset="-120"/>
              </a:rPr>
              <a:t>User has tools connected. Skill teaches optimal workflows and best practices. </a:t>
            </a:r>
          </a:p>
          <a:p>
            <a:pPr marL="0" indent="0">
              <a:buNone/>
            </a:pPr>
            <a:endParaRPr lang="en-US" sz="1200" dirty="0">
              <a:solidFill>
                <a:srgbClr val="B0AEA5"/>
              </a:solidFill>
              <a:latin typeface="Lora" pitchFamily="34" charset="0"/>
              <a:ea typeface="Lora" pitchFamily="34" charset="-122"/>
              <a:cs typeface="Lora" pitchFamily="34" charset="-120"/>
            </a:endParaRPr>
          </a:p>
          <a:p>
            <a:pPr marL="0" indent="0">
              <a:buNone/>
            </a:pPr>
            <a:r>
              <a:rPr lang="en-US" sz="1200" dirty="0">
                <a:solidFill>
                  <a:srgbClr val="B0AEA5"/>
                </a:solidFill>
                <a:latin typeface="Lora" pitchFamily="34" charset="0"/>
                <a:ea typeface="Lora" pitchFamily="34" charset="-122"/>
                <a:cs typeface="Lora" pitchFamily="34" charset="-120"/>
              </a:rPr>
              <a:t>Best for: MCP enhancement, best-practice embedding.</a:t>
            </a:r>
            <a:endParaRPr lang="en-US" sz="1200" dirty="0"/>
          </a:p>
        </p:txBody>
      </p:sp>
      <p:sp>
        <p:nvSpPr>
          <p:cNvPr id="13" name="Shape 9"/>
          <p:cNvSpPr/>
          <p:nvPr/>
        </p:nvSpPr>
        <p:spPr>
          <a:xfrm>
            <a:off x="457200" y="3483864"/>
            <a:ext cx="8229600" cy="1104138"/>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4" name="Shape 10"/>
          <p:cNvSpPr/>
          <p:nvPr/>
        </p:nvSpPr>
        <p:spPr>
          <a:xfrm>
            <a:off x="457200" y="3483864"/>
            <a:ext cx="8229600" cy="54864"/>
          </a:xfrm>
          <a:prstGeom prst="rect">
            <a:avLst/>
          </a:prstGeom>
          <a:solidFill>
            <a:srgbClr val="6A9BCC"/>
          </a:solidFill>
          <a:ln/>
        </p:spPr>
        <p:txBody>
          <a:bodyPr/>
          <a:lstStyle/>
          <a:p>
            <a:endParaRPr lang="en-US"/>
          </a:p>
        </p:txBody>
      </p:sp>
      <p:sp>
        <p:nvSpPr>
          <p:cNvPr id="16" name="Text 11"/>
          <p:cNvSpPr/>
          <p:nvPr/>
        </p:nvSpPr>
        <p:spPr>
          <a:xfrm>
            <a:off x="1078992" y="3636264"/>
            <a:ext cx="3310128" cy="45720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Design tip</a:t>
            </a:r>
            <a:endParaRPr lang="en-US" sz="1600" dirty="0"/>
          </a:p>
        </p:txBody>
      </p:sp>
      <p:sp>
        <p:nvSpPr>
          <p:cNvPr id="17" name="Text 12"/>
          <p:cNvSpPr/>
          <p:nvPr/>
        </p:nvSpPr>
        <p:spPr>
          <a:xfrm>
            <a:off x="640079" y="3912870"/>
            <a:ext cx="7885611" cy="584454"/>
          </a:xfrm>
          <a:prstGeom prst="rect">
            <a:avLst/>
          </a:prstGeom>
          <a:noFill/>
          <a:ln/>
        </p:spPr>
        <p:txBody>
          <a:bodyPr wrap="square" lIns="0" tIns="0" rIns="0" bIns="0" rtlCol="0" anchor="ctr"/>
          <a:lstStyle/>
          <a:p>
            <a:pPr marL="0" indent="0">
              <a:buNone/>
            </a:pPr>
            <a:r>
              <a:rPr lang="en-US" sz="1200" dirty="0">
                <a:solidFill>
                  <a:srgbClr val="B0AEA5"/>
                </a:solidFill>
                <a:latin typeface="Lora" pitchFamily="34" charset="0"/>
                <a:ea typeface="Lora" pitchFamily="34" charset="-122"/>
                <a:cs typeface="Lora" pitchFamily="34" charset="-120"/>
              </a:rPr>
              <a:t>Identify which framing fits your use case before writing any code.</a:t>
            </a:r>
            <a:endParaRPr lang="en-US" sz="1200" dirty="0"/>
          </a:p>
        </p:txBody>
      </p:sp>
      <p:sp>
        <p:nvSpPr>
          <p:cNvPr id="21" name="Text 15"/>
          <p:cNvSpPr/>
          <p:nvPr/>
        </p:nvSpPr>
        <p:spPr>
          <a:xfrm>
            <a:off x="5330952" y="3154680"/>
            <a:ext cx="3310128" cy="457200"/>
          </a:xfrm>
          <a:prstGeom prst="rect">
            <a:avLst/>
          </a:prstGeom>
          <a:noFill/>
          <a:ln/>
        </p:spPr>
        <p:txBody>
          <a:bodyPr wrap="square" lIns="0" tIns="0" rIns="0" bIns="0" rtlCol="0" anchor="ctr"/>
          <a:lstStyle/>
          <a:p>
            <a:pPr marL="0" indent="0">
              <a:buNone/>
            </a:pPr>
            <a:endParaRPr lang="en-US" sz="1600" dirty="0"/>
          </a:p>
        </p:txBody>
      </p:sp>
      <p:pic>
        <p:nvPicPr>
          <p:cNvPr id="25" name="Picture 24">
            <a:extLst>
              <a:ext uri="{FF2B5EF4-FFF2-40B4-BE49-F238E27FC236}">
                <a16:creationId xmlns:a16="http://schemas.microsoft.com/office/drawing/2014/main" id="{FB21F7C6-8317-3594-7C4A-DAF5FDD25D63}"/>
              </a:ext>
            </a:extLst>
          </p:cNvPr>
          <p:cNvPicPr>
            <a:picLocks noChangeAspect="1"/>
          </p:cNvPicPr>
          <p:nvPr/>
        </p:nvPicPr>
        <p:blipFill>
          <a:blip r:embed="rId3"/>
          <a:srcRect/>
          <a:stretch/>
        </p:blipFill>
        <p:spPr>
          <a:xfrm>
            <a:off x="640080" y="1338834"/>
            <a:ext cx="256032" cy="256032"/>
          </a:xfrm>
          <a:prstGeom prst="rect">
            <a:avLst/>
          </a:prstGeom>
        </p:spPr>
      </p:pic>
      <p:pic>
        <p:nvPicPr>
          <p:cNvPr id="29" name="Picture 28" descr="A blue and black logo  AI-generated content may be incorrect.">
            <a:extLst>
              <a:ext uri="{FF2B5EF4-FFF2-40B4-BE49-F238E27FC236}">
                <a16:creationId xmlns:a16="http://schemas.microsoft.com/office/drawing/2014/main" id="{F0DB1518-E8B2-AD73-D1BB-51AE1A4C91C1}"/>
              </a:ext>
            </a:extLst>
          </p:cNvPr>
          <p:cNvPicPr>
            <a:picLocks noChangeAspect="1"/>
          </p:cNvPicPr>
          <p:nvPr/>
        </p:nvPicPr>
        <p:blipFill>
          <a:blip r:embed="rId4"/>
          <a:stretch>
            <a:fillRect/>
          </a:stretch>
        </p:blipFill>
        <p:spPr>
          <a:xfrm>
            <a:off x="640080" y="3736848"/>
            <a:ext cx="256032" cy="256032"/>
          </a:xfrm>
          <a:prstGeom prst="rect">
            <a:avLst/>
          </a:prstGeom>
        </p:spPr>
      </p:pic>
      <p:pic>
        <p:nvPicPr>
          <p:cNvPr id="31" name="Picture 30" descr="A magnifying glass in a circle  AI-generated content may be incorrect.">
            <a:extLst>
              <a:ext uri="{FF2B5EF4-FFF2-40B4-BE49-F238E27FC236}">
                <a16:creationId xmlns:a16="http://schemas.microsoft.com/office/drawing/2014/main" id="{04B4D812-9AF8-BAC7-990F-8A55C46B92A6}"/>
              </a:ext>
            </a:extLst>
          </p:cNvPr>
          <p:cNvPicPr>
            <a:picLocks noChangeAspect="1"/>
          </p:cNvPicPr>
          <p:nvPr/>
        </p:nvPicPr>
        <p:blipFill>
          <a:blip r:embed="rId5"/>
          <a:stretch>
            <a:fillRect/>
          </a:stretch>
        </p:blipFill>
        <p:spPr>
          <a:xfrm>
            <a:off x="4855845" y="1347724"/>
            <a:ext cx="259842" cy="25984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274320"/>
            <a:ext cx="7315200" cy="548640"/>
          </a:xfrm>
          <a:prstGeom prst="rect">
            <a:avLst/>
          </a:prstGeom>
          <a:noFill/>
          <a:ln/>
        </p:spPr>
        <p:txBody>
          <a:bodyPr wrap="square" lIns="0" tIns="0" rIns="0" bIns="0" rtlCol="0" anchor="ctr"/>
          <a:lstStyle/>
          <a:p>
            <a:pPr marL="0" indent="0">
              <a:buNone/>
            </a:pPr>
            <a:r>
              <a:rPr lang="en-US" sz="3000" b="1" dirty="0">
                <a:solidFill>
                  <a:srgbClr val="141413"/>
                </a:solidFill>
                <a:latin typeface="Test Tiempos Headline Light" pitchFamily="34" charset="0"/>
                <a:ea typeface="Test Tiempos Headline Light" pitchFamily="34" charset="-122"/>
                <a:cs typeface="Test Tiempos Headline Light" pitchFamily="34" charset="-120"/>
              </a:rPr>
              <a:t>Create a skill</a:t>
            </a:r>
            <a:endParaRPr lang="en-US" sz="3000" dirty="0"/>
          </a:p>
        </p:txBody>
      </p:sp>
      <p:sp>
        <p:nvSpPr>
          <p:cNvPr id="3" name="Shape 1"/>
          <p:cNvSpPr/>
          <p:nvPr/>
        </p:nvSpPr>
        <p:spPr>
          <a:xfrm>
            <a:off x="640080" y="1188720"/>
            <a:ext cx="457200" cy="457200"/>
          </a:xfrm>
          <a:prstGeom prst="ellipse">
            <a:avLst/>
          </a:prstGeom>
          <a:solidFill>
            <a:srgbClr val="6A9BCC"/>
          </a:solidFill>
          <a:ln/>
        </p:spPr>
        <p:txBody>
          <a:bodyPr/>
          <a:lstStyle/>
          <a:p>
            <a:endParaRPr lang="en-US"/>
          </a:p>
        </p:txBody>
      </p:sp>
      <p:sp>
        <p:nvSpPr>
          <p:cNvPr id="4" name="Text 2"/>
          <p:cNvSpPr/>
          <p:nvPr/>
        </p:nvSpPr>
        <p:spPr>
          <a:xfrm>
            <a:off x="640080" y="118872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Lora" pitchFamily="34" charset="0"/>
                <a:ea typeface="Lora" pitchFamily="34" charset="-122"/>
                <a:cs typeface="Lora" pitchFamily="34" charset="-120"/>
              </a:rPr>
              <a:t>1</a:t>
            </a:r>
            <a:endParaRPr lang="en-US" sz="1800" dirty="0"/>
          </a:p>
        </p:txBody>
      </p:sp>
      <p:sp>
        <p:nvSpPr>
          <p:cNvPr id="5" name="Shape 3"/>
          <p:cNvSpPr/>
          <p:nvPr/>
        </p:nvSpPr>
        <p:spPr>
          <a:xfrm>
            <a:off x="868680" y="1691640"/>
            <a:ext cx="0" cy="365760"/>
          </a:xfrm>
          <a:prstGeom prst="line">
            <a:avLst/>
          </a:prstGeom>
          <a:noFill/>
          <a:ln w="25400">
            <a:solidFill>
              <a:srgbClr val="E8E6DC"/>
            </a:solidFill>
            <a:prstDash val="solid"/>
          </a:ln>
        </p:spPr>
        <p:txBody>
          <a:bodyPr/>
          <a:lstStyle/>
          <a:p>
            <a:endParaRPr lang="en-US"/>
          </a:p>
        </p:txBody>
      </p:sp>
      <p:sp>
        <p:nvSpPr>
          <p:cNvPr id="6" name="Text 4"/>
          <p:cNvSpPr/>
          <p:nvPr/>
        </p:nvSpPr>
        <p:spPr>
          <a:xfrm>
            <a:off x="1325880" y="1143000"/>
            <a:ext cx="3657600" cy="32004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Create the directory</a:t>
            </a:r>
            <a:endParaRPr lang="en-US" sz="1600" dirty="0"/>
          </a:p>
        </p:txBody>
      </p:sp>
      <p:sp>
        <p:nvSpPr>
          <p:cNvPr id="7" name="Text 5"/>
          <p:cNvSpPr/>
          <p:nvPr/>
        </p:nvSpPr>
        <p:spPr>
          <a:xfrm>
            <a:off x="1325880" y="1444752"/>
            <a:ext cx="6858000" cy="320040"/>
          </a:xfrm>
          <a:prstGeom prst="rect">
            <a:avLst/>
          </a:prstGeom>
          <a:noFill/>
          <a:ln/>
        </p:spPr>
        <p:txBody>
          <a:bodyPr wrap="square" lIns="0" tIns="0" rIns="0" bIns="0" rtlCol="0" anchor="ctr"/>
          <a:lstStyle/>
          <a:p>
            <a:pPr marL="0" indent="0">
              <a:buNone/>
            </a:pPr>
            <a:r>
              <a:rPr lang="en-US" sz="1300" dirty="0">
                <a:solidFill>
                  <a:srgbClr val="B0AEA5"/>
                </a:solidFill>
                <a:latin typeface="Lora" pitchFamily="34" charset="0"/>
                <a:ea typeface="Lora" pitchFamily="34" charset="-122"/>
                <a:cs typeface="Lora" pitchFamily="34" charset="-120"/>
              </a:rPr>
              <a:t>mkdir -p ~/.claude/skills/explain-code</a:t>
            </a:r>
            <a:endParaRPr lang="en-US" sz="1300" dirty="0"/>
          </a:p>
        </p:txBody>
      </p:sp>
      <p:sp>
        <p:nvSpPr>
          <p:cNvPr id="8" name="Shape 6"/>
          <p:cNvSpPr/>
          <p:nvPr/>
        </p:nvSpPr>
        <p:spPr>
          <a:xfrm>
            <a:off x="640080" y="2148840"/>
            <a:ext cx="457200" cy="457200"/>
          </a:xfrm>
          <a:prstGeom prst="ellipse">
            <a:avLst/>
          </a:prstGeom>
          <a:solidFill>
            <a:srgbClr val="6A9BCC"/>
          </a:solidFill>
          <a:ln/>
        </p:spPr>
        <p:txBody>
          <a:bodyPr/>
          <a:lstStyle/>
          <a:p>
            <a:endParaRPr lang="en-US"/>
          </a:p>
        </p:txBody>
      </p:sp>
      <p:sp>
        <p:nvSpPr>
          <p:cNvPr id="9" name="Text 7"/>
          <p:cNvSpPr/>
          <p:nvPr/>
        </p:nvSpPr>
        <p:spPr>
          <a:xfrm>
            <a:off x="640080" y="21488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Lora" pitchFamily="34" charset="0"/>
                <a:ea typeface="Lora" pitchFamily="34" charset="-122"/>
                <a:cs typeface="Lora" pitchFamily="34" charset="-120"/>
              </a:rPr>
              <a:t>2</a:t>
            </a:r>
            <a:endParaRPr lang="en-US" sz="1800" dirty="0"/>
          </a:p>
        </p:txBody>
      </p:sp>
      <p:sp>
        <p:nvSpPr>
          <p:cNvPr id="10" name="Shape 8"/>
          <p:cNvSpPr/>
          <p:nvPr/>
        </p:nvSpPr>
        <p:spPr>
          <a:xfrm>
            <a:off x="868680" y="2651760"/>
            <a:ext cx="0" cy="365760"/>
          </a:xfrm>
          <a:prstGeom prst="line">
            <a:avLst/>
          </a:prstGeom>
          <a:noFill/>
          <a:ln w="25400">
            <a:solidFill>
              <a:srgbClr val="E8E6DC"/>
            </a:solidFill>
            <a:prstDash val="solid"/>
          </a:ln>
        </p:spPr>
        <p:txBody>
          <a:bodyPr/>
          <a:lstStyle/>
          <a:p>
            <a:endParaRPr lang="en-US"/>
          </a:p>
        </p:txBody>
      </p:sp>
      <p:sp>
        <p:nvSpPr>
          <p:cNvPr id="11" name="Text 9"/>
          <p:cNvSpPr/>
          <p:nvPr/>
        </p:nvSpPr>
        <p:spPr>
          <a:xfrm>
            <a:off x="1325880" y="2103120"/>
            <a:ext cx="3657600" cy="32004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Write SKILL.md</a:t>
            </a:r>
            <a:endParaRPr lang="en-US" sz="1600" dirty="0"/>
          </a:p>
        </p:txBody>
      </p:sp>
      <p:sp>
        <p:nvSpPr>
          <p:cNvPr id="12" name="Text 10"/>
          <p:cNvSpPr/>
          <p:nvPr/>
        </p:nvSpPr>
        <p:spPr>
          <a:xfrm>
            <a:off x="1325880" y="2404872"/>
            <a:ext cx="6858000" cy="320040"/>
          </a:xfrm>
          <a:prstGeom prst="rect">
            <a:avLst/>
          </a:prstGeom>
          <a:noFill/>
          <a:ln/>
        </p:spPr>
        <p:txBody>
          <a:bodyPr wrap="square" lIns="0" tIns="0" rIns="0" bIns="0" rtlCol="0" anchor="ctr"/>
          <a:lstStyle/>
          <a:p>
            <a:pPr marL="0" indent="0">
              <a:buNone/>
            </a:pPr>
            <a:r>
              <a:rPr lang="en-US" sz="1300" dirty="0">
                <a:solidFill>
                  <a:srgbClr val="B0AEA5"/>
                </a:solidFill>
                <a:latin typeface="Lora" pitchFamily="34" charset="0"/>
                <a:ea typeface="Lora" pitchFamily="34" charset="-122"/>
                <a:cs typeface="Lora" pitchFamily="34" charset="-120"/>
              </a:rPr>
              <a:t>Add YAML frontmatter (name, description) plus markdown instructions</a:t>
            </a:r>
            <a:endParaRPr lang="en-US" sz="1300" dirty="0"/>
          </a:p>
        </p:txBody>
      </p:sp>
      <p:sp>
        <p:nvSpPr>
          <p:cNvPr id="13" name="Shape 11"/>
          <p:cNvSpPr/>
          <p:nvPr/>
        </p:nvSpPr>
        <p:spPr>
          <a:xfrm>
            <a:off x="640080" y="3108960"/>
            <a:ext cx="457200" cy="457200"/>
          </a:xfrm>
          <a:prstGeom prst="ellipse">
            <a:avLst/>
          </a:prstGeom>
          <a:solidFill>
            <a:srgbClr val="6A9BCC"/>
          </a:solidFill>
          <a:ln/>
        </p:spPr>
        <p:txBody>
          <a:bodyPr/>
          <a:lstStyle/>
          <a:p>
            <a:endParaRPr lang="en-US"/>
          </a:p>
        </p:txBody>
      </p:sp>
      <p:sp>
        <p:nvSpPr>
          <p:cNvPr id="14" name="Text 12"/>
          <p:cNvSpPr/>
          <p:nvPr/>
        </p:nvSpPr>
        <p:spPr>
          <a:xfrm>
            <a:off x="640080" y="31089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Lora" pitchFamily="34" charset="0"/>
                <a:ea typeface="Lora" pitchFamily="34" charset="-122"/>
                <a:cs typeface="Lora" pitchFamily="34" charset="-120"/>
              </a:rPr>
              <a:t>3</a:t>
            </a:r>
            <a:endParaRPr lang="en-US" sz="1800" dirty="0"/>
          </a:p>
        </p:txBody>
      </p:sp>
      <p:sp>
        <p:nvSpPr>
          <p:cNvPr id="15" name="Shape 13"/>
          <p:cNvSpPr/>
          <p:nvPr/>
        </p:nvSpPr>
        <p:spPr>
          <a:xfrm>
            <a:off x="868680" y="3611880"/>
            <a:ext cx="0" cy="365760"/>
          </a:xfrm>
          <a:prstGeom prst="line">
            <a:avLst/>
          </a:prstGeom>
          <a:noFill/>
          <a:ln w="25400">
            <a:solidFill>
              <a:srgbClr val="E8E6DC"/>
            </a:solidFill>
            <a:prstDash val="solid"/>
          </a:ln>
        </p:spPr>
        <p:txBody>
          <a:bodyPr/>
          <a:lstStyle/>
          <a:p>
            <a:endParaRPr lang="en-US"/>
          </a:p>
        </p:txBody>
      </p:sp>
      <p:sp>
        <p:nvSpPr>
          <p:cNvPr id="16" name="Text 14"/>
          <p:cNvSpPr/>
          <p:nvPr/>
        </p:nvSpPr>
        <p:spPr>
          <a:xfrm>
            <a:off x="1325880" y="3063240"/>
            <a:ext cx="3657600" cy="32004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Test with natural language</a:t>
            </a:r>
            <a:endParaRPr lang="en-US" sz="1600" dirty="0"/>
          </a:p>
        </p:txBody>
      </p:sp>
      <p:sp>
        <p:nvSpPr>
          <p:cNvPr id="17" name="Text 15"/>
          <p:cNvSpPr/>
          <p:nvPr/>
        </p:nvSpPr>
        <p:spPr>
          <a:xfrm>
            <a:off x="1325880" y="3364992"/>
            <a:ext cx="6858000" cy="320040"/>
          </a:xfrm>
          <a:prstGeom prst="rect">
            <a:avLst/>
          </a:prstGeom>
          <a:noFill/>
          <a:ln/>
        </p:spPr>
        <p:txBody>
          <a:bodyPr wrap="square" lIns="0" tIns="0" rIns="0" bIns="0" rtlCol="0" anchor="ctr"/>
          <a:lstStyle/>
          <a:p>
            <a:pPr marL="0" indent="0">
              <a:buNone/>
            </a:pPr>
            <a:r>
              <a:rPr lang="en-US" sz="1300" dirty="0">
                <a:solidFill>
                  <a:srgbClr val="B0AEA5"/>
                </a:solidFill>
                <a:latin typeface="Lora" pitchFamily="34" charset="0"/>
                <a:ea typeface="Lora" pitchFamily="34" charset="-122"/>
                <a:cs typeface="Lora" pitchFamily="34" charset="-120"/>
              </a:rPr>
              <a:t>Ask Claude a matching question or invoke directly with /explain-code</a:t>
            </a:r>
            <a:endParaRPr lang="en-US" sz="1300" dirty="0"/>
          </a:p>
        </p:txBody>
      </p:sp>
      <p:sp>
        <p:nvSpPr>
          <p:cNvPr id="18" name="Shape 16"/>
          <p:cNvSpPr/>
          <p:nvPr/>
        </p:nvSpPr>
        <p:spPr>
          <a:xfrm>
            <a:off x="640080" y="4069080"/>
            <a:ext cx="457200" cy="457200"/>
          </a:xfrm>
          <a:prstGeom prst="ellipse">
            <a:avLst/>
          </a:prstGeom>
          <a:solidFill>
            <a:srgbClr val="6A9BCC"/>
          </a:solidFill>
          <a:ln/>
        </p:spPr>
        <p:txBody>
          <a:bodyPr/>
          <a:lstStyle/>
          <a:p>
            <a:endParaRPr lang="en-US"/>
          </a:p>
        </p:txBody>
      </p:sp>
      <p:sp>
        <p:nvSpPr>
          <p:cNvPr id="19" name="Text 17"/>
          <p:cNvSpPr/>
          <p:nvPr/>
        </p:nvSpPr>
        <p:spPr>
          <a:xfrm>
            <a:off x="640080" y="40690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Lora" pitchFamily="34" charset="0"/>
                <a:ea typeface="Lora" pitchFamily="34" charset="-122"/>
                <a:cs typeface="Lora" pitchFamily="34" charset="-120"/>
              </a:rPr>
              <a:t>4</a:t>
            </a:r>
            <a:endParaRPr lang="en-US" sz="1800" dirty="0"/>
          </a:p>
        </p:txBody>
      </p:sp>
      <p:sp>
        <p:nvSpPr>
          <p:cNvPr id="20" name="Text 18"/>
          <p:cNvSpPr/>
          <p:nvPr/>
        </p:nvSpPr>
        <p:spPr>
          <a:xfrm>
            <a:off x="1325880" y="4023360"/>
            <a:ext cx="3657600" cy="32004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Iterate on the description</a:t>
            </a:r>
            <a:endParaRPr lang="en-US" sz="1600" dirty="0"/>
          </a:p>
        </p:txBody>
      </p:sp>
      <p:sp>
        <p:nvSpPr>
          <p:cNvPr id="21" name="Text 19"/>
          <p:cNvSpPr/>
          <p:nvPr/>
        </p:nvSpPr>
        <p:spPr>
          <a:xfrm>
            <a:off x="1325880" y="4325112"/>
            <a:ext cx="6858000" cy="320040"/>
          </a:xfrm>
          <a:prstGeom prst="rect">
            <a:avLst/>
          </a:prstGeom>
          <a:noFill/>
          <a:ln/>
        </p:spPr>
        <p:txBody>
          <a:bodyPr wrap="square" lIns="0" tIns="0" rIns="0" bIns="0" rtlCol="0" anchor="ctr"/>
          <a:lstStyle/>
          <a:p>
            <a:pPr marL="0" indent="0">
              <a:buNone/>
            </a:pPr>
            <a:r>
              <a:rPr lang="en-US" sz="1300" dirty="0">
                <a:solidFill>
                  <a:srgbClr val="B0AEA5"/>
                </a:solidFill>
                <a:latin typeface="Lora" pitchFamily="34" charset="0"/>
                <a:ea typeface="Lora" pitchFamily="34" charset="-122"/>
                <a:cs typeface="Lora" pitchFamily="34" charset="-120"/>
              </a:rPr>
              <a:t>Refine keywords so semantic matching triggers reliably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274320"/>
            <a:ext cx="7315200" cy="548640"/>
          </a:xfrm>
          <a:prstGeom prst="rect">
            <a:avLst/>
          </a:prstGeom>
          <a:noFill/>
          <a:ln/>
        </p:spPr>
        <p:txBody>
          <a:bodyPr wrap="square" lIns="0" tIns="0" rIns="0" bIns="0" rtlCol="0" anchor="ctr"/>
          <a:lstStyle/>
          <a:p>
            <a:pPr marL="0" indent="0">
              <a:buNone/>
            </a:pPr>
            <a:r>
              <a:rPr lang="en-US" sz="3000" b="1" dirty="0">
                <a:solidFill>
                  <a:srgbClr val="141413"/>
                </a:solidFill>
                <a:latin typeface="Test Tiempos Headline Light" pitchFamily="34" charset="0"/>
                <a:ea typeface="Test Tiempos Headline Light" pitchFamily="34" charset="-122"/>
                <a:cs typeface="Test Tiempos Headline Light" pitchFamily="34" charset="-120"/>
              </a:rPr>
              <a:t>Content types and supporting files</a:t>
            </a:r>
            <a:endParaRPr lang="en-US" sz="3000" dirty="0"/>
          </a:p>
        </p:txBody>
      </p:sp>
      <p:sp>
        <p:nvSpPr>
          <p:cNvPr id="3" name="Shape 1"/>
          <p:cNvSpPr/>
          <p:nvPr/>
        </p:nvSpPr>
        <p:spPr>
          <a:xfrm>
            <a:off x="457200" y="1051560"/>
            <a:ext cx="3977640" cy="16916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4" name="Shape 2"/>
          <p:cNvSpPr/>
          <p:nvPr/>
        </p:nvSpPr>
        <p:spPr>
          <a:xfrm>
            <a:off x="457200" y="1051560"/>
            <a:ext cx="3977640" cy="54864"/>
          </a:xfrm>
          <a:prstGeom prst="rect">
            <a:avLst/>
          </a:prstGeom>
          <a:solidFill>
            <a:srgbClr val="8B8CDF"/>
          </a:solidFill>
          <a:ln/>
        </p:spPr>
        <p:txBody>
          <a:bodyPr/>
          <a:lstStyle/>
          <a:p>
            <a:endParaRPr lang="en-US"/>
          </a:p>
        </p:txBody>
      </p:sp>
      <p:sp>
        <p:nvSpPr>
          <p:cNvPr id="6" name="Text 3"/>
          <p:cNvSpPr/>
          <p:nvPr/>
        </p:nvSpPr>
        <p:spPr>
          <a:xfrm>
            <a:off x="1042797" y="1234440"/>
            <a:ext cx="3346323" cy="45720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Reference content</a:t>
            </a:r>
            <a:endParaRPr lang="en-US" sz="1600" dirty="0"/>
          </a:p>
        </p:txBody>
      </p:sp>
      <p:sp>
        <p:nvSpPr>
          <p:cNvPr id="7" name="Text 4"/>
          <p:cNvSpPr/>
          <p:nvPr/>
        </p:nvSpPr>
        <p:spPr>
          <a:xfrm>
            <a:off x="640080" y="1828800"/>
            <a:ext cx="3566160" cy="777240"/>
          </a:xfrm>
          <a:prstGeom prst="rect">
            <a:avLst/>
          </a:prstGeom>
          <a:noFill/>
          <a:ln/>
        </p:spPr>
        <p:txBody>
          <a:bodyPr wrap="square" lIns="0" tIns="0" rIns="0" bIns="0" rtlCol="0" anchor="ctr"/>
          <a:lstStyle/>
          <a:p>
            <a:pPr marL="0" indent="0">
              <a:buNone/>
            </a:pPr>
            <a:r>
              <a:rPr lang="en-US" sz="1200" dirty="0">
                <a:solidFill>
                  <a:srgbClr val="B0AEA5"/>
                </a:solidFill>
                <a:latin typeface="Lora" pitchFamily="34" charset="0"/>
                <a:ea typeface="Lora" pitchFamily="34" charset="-122"/>
                <a:cs typeface="Lora" pitchFamily="34" charset="-120"/>
              </a:rPr>
              <a:t>Knowledge Claude applies alongside the conversation. Coding standards, API patterns, domain conventions. Runs inline, always on.</a:t>
            </a:r>
            <a:endParaRPr lang="en-US" sz="1200" dirty="0"/>
          </a:p>
        </p:txBody>
      </p:sp>
      <p:sp>
        <p:nvSpPr>
          <p:cNvPr id="8" name="Shape 5"/>
          <p:cNvSpPr/>
          <p:nvPr/>
        </p:nvSpPr>
        <p:spPr>
          <a:xfrm>
            <a:off x="4709160" y="1051560"/>
            <a:ext cx="3977640" cy="16916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9" name="Shape 6"/>
          <p:cNvSpPr/>
          <p:nvPr/>
        </p:nvSpPr>
        <p:spPr>
          <a:xfrm>
            <a:off x="4709160" y="1051560"/>
            <a:ext cx="3977640" cy="54864"/>
          </a:xfrm>
          <a:prstGeom prst="rect">
            <a:avLst/>
          </a:prstGeom>
          <a:solidFill>
            <a:schemeClr val="accent3"/>
          </a:solidFill>
          <a:ln/>
        </p:spPr>
        <p:txBody>
          <a:bodyPr/>
          <a:lstStyle/>
          <a:p>
            <a:endParaRPr lang="en-US"/>
          </a:p>
        </p:txBody>
      </p:sp>
      <p:sp>
        <p:nvSpPr>
          <p:cNvPr id="11" name="Text 7"/>
          <p:cNvSpPr/>
          <p:nvPr/>
        </p:nvSpPr>
        <p:spPr>
          <a:xfrm>
            <a:off x="5262372" y="1234440"/>
            <a:ext cx="3327908" cy="45720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Task content</a:t>
            </a:r>
            <a:endParaRPr lang="en-US" sz="1600" dirty="0"/>
          </a:p>
        </p:txBody>
      </p:sp>
      <p:sp>
        <p:nvSpPr>
          <p:cNvPr id="12" name="Text 8"/>
          <p:cNvSpPr/>
          <p:nvPr/>
        </p:nvSpPr>
        <p:spPr>
          <a:xfrm>
            <a:off x="4892040" y="1828800"/>
            <a:ext cx="3566160" cy="777240"/>
          </a:xfrm>
          <a:prstGeom prst="rect">
            <a:avLst/>
          </a:prstGeom>
          <a:noFill/>
          <a:ln/>
        </p:spPr>
        <p:txBody>
          <a:bodyPr wrap="square" lIns="0" tIns="0" rIns="0" bIns="0" rtlCol="0" anchor="ctr"/>
          <a:lstStyle/>
          <a:p>
            <a:pPr marL="0" indent="0">
              <a:buNone/>
            </a:pPr>
            <a:r>
              <a:rPr lang="en-US" sz="1200" dirty="0">
                <a:solidFill>
                  <a:srgbClr val="B0AEA5"/>
                </a:solidFill>
                <a:latin typeface="Lora" pitchFamily="34" charset="0"/>
                <a:ea typeface="Lora" pitchFamily="34" charset="-122"/>
                <a:cs typeface="Lora" pitchFamily="34" charset="-120"/>
              </a:rPr>
              <a:t>Step-by-step instructions for specific actions like deploy or commit. Often paired with disable-model-invocation: true.</a:t>
            </a:r>
            <a:endParaRPr lang="en-US" sz="1200" dirty="0"/>
          </a:p>
        </p:txBody>
      </p:sp>
      <p:sp>
        <p:nvSpPr>
          <p:cNvPr id="13" name="Shape 9"/>
          <p:cNvSpPr/>
          <p:nvPr/>
        </p:nvSpPr>
        <p:spPr>
          <a:xfrm>
            <a:off x="457200" y="2971800"/>
            <a:ext cx="3977640" cy="16916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4" name="Shape 10"/>
          <p:cNvSpPr/>
          <p:nvPr/>
        </p:nvSpPr>
        <p:spPr>
          <a:xfrm>
            <a:off x="457200" y="2971800"/>
            <a:ext cx="3977640" cy="54864"/>
          </a:xfrm>
          <a:prstGeom prst="rect">
            <a:avLst/>
          </a:prstGeom>
          <a:solidFill>
            <a:srgbClr val="6A9BCC"/>
          </a:solidFill>
          <a:ln/>
        </p:spPr>
        <p:txBody>
          <a:bodyPr/>
          <a:lstStyle/>
          <a:p>
            <a:endParaRPr lang="en-US"/>
          </a:p>
        </p:txBody>
      </p:sp>
      <p:sp>
        <p:nvSpPr>
          <p:cNvPr id="16" name="Text 11"/>
          <p:cNvSpPr/>
          <p:nvPr/>
        </p:nvSpPr>
        <p:spPr>
          <a:xfrm>
            <a:off x="1078992" y="3154680"/>
            <a:ext cx="3310128" cy="45720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Supporting files</a:t>
            </a:r>
            <a:endParaRPr lang="en-US" sz="1600" dirty="0"/>
          </a:p>
        </p:txBody>
      </p:sp>
      <p:sp>
        <p:nvSpPr>
          <p:cNvPr id="17" name="Text 12"/>
          <p:cNvSpPr/>
          <p:nvPr/>
        </p:nvSpPr>
        <p:spPr>
          <a:xfrm>
            <a:off x="640080" y="3749040"/>
            <a:ext cx="3566160" cy="777240"/>
          </a:xfrm>
          <a:prstGeom prst="rect">
            <a:avLst/>
          </a:prstGeom>
          <a:noFill/>
          <a:ln/>
        </p:spPr>
        <p:txBody>
          <a:bodyPr wrap="square" lIns="0" tIns="0" rIns="0" bIns="0" rtlCol="0" anchor="ctr"/>
          <a:lstStyle/>
          <a:p>
            <a:pPr marL="0" indent="0">
              <a:buNone/>
            </a:pPr>
            <a:r>
              <a:rPr lang="en-US" sz="1200" dirty="0">
                <a:solidFill>
                  <a:srgbClr val="B0AEA5"/>
                </a:solidFill>
                <a:latin typeface="Lora" pitchFamily="34" charset="0"/>
                <a:ea typeface="Lora" pitchFamily="34" charset="-122"/>
                <a:cs typeface="Lora" pitchFamily="34" charset="-120"/>
              </a:rPr>
              <a:t>Templates, examples, and scripts in the skill directory. Referenced from SKILL.md, loaded on demand. Keep SKILL.md under 500 lines.</a:t>
            </a:r>
            <a:endParaRPr lang="en-US" sz="1200" dirty="0"/>
          </a:p>
        </p:txBody>
      </p:sp>
      <p:sp>
        <p:nvSpPr>
          <p:cNvPr id="18" name="Shape 13"/>
          <p:cNvSpPr/>
          <p:nvPr/>
        </p:nvSpPr>
        <p:spPr>
          <a:xfrm>
            <a:off x="4709160" y="2971800"/>
            <a:ext cx="3977640" cy="16916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9" name="Shape 14"/>
          <p:cNvSpPr/>
          <p:nvPr/>
        </p:nvSpPr>
        <p:spPr>
          <a:xfrm>
            <a:off x="4709160" y="2971800"/>
            <a:ext cx="3977640" cy="54864"/>
          </a:xfrm>
          <a:prstGeom prst="rect">
            <a:avLst/>
          </a:prstGeom>
          <a:solidFill>
            <a:schemeClr val="accent5"/>
          </a:solidFill>
          <a:ln/>
        </p:spPr>
        <p:txBody>
          <a:bodyPr/>
          <a:lstStyle/>
          <a:p>
            <a:endParaRPr lang="en-US"/>
          </a:p>
        </p:txBody>
      </p:sp>
      <p:sp>
        <p:nvSpPr>
          <p:cNvPr id="21" name="Text 15"/>
          <p:cNvSpPr/>
          <p:nvPr/>
        </p:nvSpPr>
        <p:spPr>
          <a:xfrm>
            <a:off x="5330952" y="3154680"/>
            <a:ext cx="3310128" cy="45720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Efficient scripts</a:t>
            </a:r>
            <a:endParaRPr lang="en-US" sz="1600" dirty="0"/>
          </a:p>
        </p:txBody>
      </p:sp>
      <p:sp>
        <p:nvSpPr>
          <p:cNvPr id="22" name="Text 16"/>
          <p:cNvSpPr/>
          <p:nvPr/>
        </p:nvSpPr>
        <p:spPr>
          <a:xfrm>
            <a:off x="4892040" y="3749040"/>
            <a:ext cx="3566160" cy="777240"/>
          </a:xfrm>
          <a:prstGeom prst="rect">
            <a:avLst/>
          </a:prstGeom>
          <a:noFill/>
          <a:ln/>
        </p:spPr>
        <p:txBody>
          <a:bodyPr wrap="square" lIns="0" tIns="0" rIns="0" bIns="0" rtlCol="0" anchor="ctr"/>
          <a:lstStyle/>
          <a:p>
            <a:pPr marL="0" indent="0">
              <a:buNone/>
            </a:pPr>
            <a:r>
              <a:rPr lang="en-US" sz="1200" dirty="0">
                <a:solidFill>
                  <a:srgbClr val="B0AEA5"/>
                </a:solidFill>
                <a:latin typeface="Lora" pitchFamily="34" charset="0"/>
                <a:ea typeface="Lora" pitchFamily="34" charset="-122"/>
                <a:cs typeface="Lora" pitchFamily="34" charset="-120"/>
              </a:rPr>
              <a:t>Scripts execute without loading into context. Only output counts toward tokens. Tell Claude to run, not read.</a:t>
            </a:r>
            <a:endParaRPr lang="en-US" sz="1200" dirty="0"/>
          </a:p>
        </p:txBody>
      </p:sp>
      <p:pic>
        <p:nvPicPr>
          <p:cNvPr id="25" name="Picture 24" descr="A purple and black logo  AI-generated content may be incorrect.">
            <a:extLst>
              <a:ext uri="{FF2B5EF4-FFF2-40B4-BE49-F238E27FC236}">
                <a16:creationId xmlns:a16="http://schemas.microsoft.com/office/drawing/2014/main" id="{FB21F7C6-8317-3594-7C4A-DAF5FDD25D63}"/>
              </a:ext>
            </a:extLst>
          </p:cNvPr>
          <p:cNvPicPr>
            <a:picLocks noChangeAspect="1"/>
          </p:cNvPicPr>
          <p:nvPr/>
        </p:nvPicPr>
        <p:blipFill>
          <a:blip r:embed="rId3"/>
          <a:stretch>
            <a:fillRect/>
          </a:stretch>
        </p:blipFill>
        <p:spPr>
          <a:xfrm>
            <a:off x="640080" y="1338834"/>
            <a:ext cx="256032" cy="256032"/>
          </a:xfrm>
          <a:prstGeom prst="rect">
            <a:avLst/>
          </a:prstGeom>
        </p:spPr>
      </p:pic>
      <p:pic>
        <p:nvPicPr>
          <p:cNvPr id="27" name="Picture 26" descr="A logo of a network  AI-generated content may be incorrect.">
            <a:extLst>
              <a:ext uri="{FF2B5EF4-FFF2-40B4-BE49-F238E27FC236}">
                <a16:creationId xmlns:a16="http://schemas.microsoft.com/office/drawing/2014/main" id="{8B4B857E-4628-0F54-6C1C-C75FD9BDCB60}"/>
              </a:ext>
            </a:extLst>
          </p:cNvPr>
          <p:cNvPicPr>
            <a:picLocks noChangeAspect="1"/>
          </p:cNvPicPr>
          <p:nvPr/>
        </p:nvPicPr>
        <p:blipFill>
          <a:blip r:embed="rId4"/>
          <a:stretch>
            <a:fillRect/>
          </a:stretch>
        </p:blipFill>
        <p:spPr>
          <a:xfrm>
            <a:off x="4892040" y="3266567"/>
            <a:ext cx="256032" cy="256032"/>
          </a:xfrm>
          <a:prstGeom prst="rect">
            <a:avLst/>
          </a:prstGeom>
        </p:spPr>
      </p:pic>
      <p:pic>
        <p:nvPicPr>
          <p:cNvPr id="29" name="Picture 28" descr="A blue and black logo  AI-generated content may be incorrect.">
            <a:extLst>
              <a:ext uri="{FF2B5EF4-FFF2-40B4-BE49-F238E27FC236}">
                <a16:creationId xmlns:a16="http://schemas.microsoft.com/office/drawing/2014/main" id="{F0DB1518-E8B2-AD73-D1BB-51AE1A4C91C1}"/>
              </a:ext>
            </a:extLst>
          </p:cNvPr>
          <p:cNvPicPr>
            <a:picLocks noChangeAspect="1"/>
          </p:cNvPicPr>
          <p:nvPr/>
        </p:nvPicPr>
        <p:blipFill>
          <a:blip r:embed="rId5"/>
          <a:stretch>
            <a:fillRect/>
          </a:stretch>
        </p:blipFill>
        <p:spPr>
          <a:xfrm>
            <a:off x="640080" y="3255264"/>
            <a:ext cx="256032" cy="256032"/>
          </a:xfrm>
          <a:prstGeom prst="rect">
            <a:avLst/>
          </a:prstGeom>
        </p:spPr>
      </p:pic>
      <p:pic>
        <p:nvPicPr>
          <p:cNvPr id="31" name="Picture 30" descr="A magnifying glass in a circle  AI-generated content may be incorrect.">
            <a:extLst>
              <a:ext uri="{FF2B5EF4-FFF2-40B4-BE49-F238E27FC236}">
                <a16:creationId xmlns:a16="http://schemas.microsoft.com/office/drawing/2014/main" id="{04B4D812-9AF8-BAC7-990F-8A55C46B92A6}"/>
              </a:ext>
            </a:extLst>
          </p:cNvPr>
          <p:cNvPicPr>
            <a:picLocks noChangeAspect="1"/>
          </p:cNvPicPr>
          <p:nvPr/>
        </p:nvPicPr>
        <p:blipFill>
          <a:blip r:embed="rId6"/>
          <a:stretch>
            <a:fillRect/>
          </a:stretch>
        </p:blipFill>
        <p:spPr>
          <a:xfrm>
            <a:off x="4855845" y="1347724"/>
            <a:ext cx="259842" cy="25984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640080" y="274320"/>
            <a:ext cx="6995160" cy="502920"/>
          </a:xfrm>
          <a:prstGeom prst="rect">
            <a:avLst/>
          </a:prstGeom>
          <a:noFill/>
          <a:ln/>
        </p:spPr>
        <p:txBody>
          <a:bodyPr wrap="square" lIns="0" tIns="0" rIns="0" bIns="0" rtlCol="0" anchor="ctr"/>
          <a:lstStyle/>
          <a:p>
            <a:pPr marL="0" indent="0">
              <a:buNone/>
            </a:pPr>
            <a:r>
              <a:rPr lang="en-US" sz="2800" b="1" dirty="0">
                <a:solidFill>
                  <a:srgbClr val="141413"/>
                </a:solidFill>
                <a:latin typeface="Test Tiempos Headline Light" pitchFamily="34" charset="0"/>
                <a:ea typeface="Test Tiempos Headline Light" pitchFamily="34" charset="-122"/>
                <a:cs typeface="Test Tiempos Headline Light" pitchFamily="34" charset="-120"/>
              </a:rPr>
              <a:t>YAML frontmatter reference</a:t>
            </a:r>
            <a:endParaRPr lang="en-US" sz="2800" dirty="0"/>
          </a:p>
        </p:txBody>
      </p:sp>
      <p:sp>
        <p:nvSpPr>
          <p:cNvPr id="4" name="Shape 1"/>
          <p:cNvSpPr/>
          <p:nvPr/>
        </p:nvSpPr>
        <p:spPr>
          <a:xfrm>
            <a:off x="640080" y="1005840"/>
            <a:ext cx="7863840" cy="2926080"/>
          </a:xfrm>
          <a:prstGeom prst="rect">
            <a:avLst/>
          </a:prstGeom>
          <a:solidFill>
            <a:srgbClr val="1E1E1E"/>
          </a:solidFill>
          <a:ln/>
          <a:effectLst>
            <a:outerShdw blurRad="76200" dist="25400" dir="8100000" algn="bl" rotWithShape="0">
              <a:srgbClr val="000000">
                <a:alpha val="12000"/>
              </a:srgbClr>
            </a:outerShdw>
          </a:effectLst>
        </p:spPr>
        <p:txBody>
          <a:bodyPr/>
          <a:lstStyle/>
          <a:p>
            <a:endParaRPr lang="en-US"/>
          </a:p>
        </p:txBody>
      </p:sp>
      <p:sp>
        <p:nvSpPr>
          <p:cNvPr id="5" name="Shape 2"/>
          <p:cNvSpPr/>
          <p:nvPr/>
        </p:nvSpPr>
        <p:spPr>
          <a:xfrm>
            <a:off x="640080" y="1005840"/>
            <a:ext cx="7863840" cy="320040"/>
          </a:xfrm>
          <a:prstGeom prst="rect">
            <a:avLst/>
          </a:prstGeom>
          <a:solidFill>
            <a:srgbClr val="2D2D2D"/>
          </a:solidFill>
          <a:ln/>
        </p:spPr>
        <p:txBody>
          <a:bodyPr/>
          <a:lstStyle/>
          <a:p>
            <a:endParaRPr lang="en-US"/>
          </a:p>
        </p:txBody>
      </p:sp>
      <p:sp>
        <p:nvSpPr>
          <p:cNvPr id="6" name="Shape 3"/>
          <p:cNvSpPr/>
          <p:nvPr/>
        </p:nvSpPr>
        <p:spPr>
          <a:xfrm>
            <a:off x="822960" y="1097280"/>
            <a:ext cx="118872" cy="118872"/>
          </a:xfrm>
          <a:prstGeom prst="ellipse">
            <a:avLst/>
          </a:prstGeom>
          <a:solidFill>
            <a:srgbClr val="FF5F56"/>
          </a:solidFill>
          <a:ln/>
        </p:spPr>
        <p:txBody>
          <a:bodyPr/>
          <a:lstStyle/>
          <a:p>
            <a:endParaRPr lang="en-US"/>
          </a:p>
        </p:txBody>
      </p:sp>
      <p:sp>
        <p:nvSpPr>
          <p:cNvPr id="7" name="Shape 4"/>
          <p:cNvSpPr/>
          <p:nvPr/>
        </p:nvSpPr>
        <p:spPr>
          <a:xfrm>
            <a:off x="1005840" y="1097280"/>
            <a:ext cx="118872" cy="118872"/>
          </a:xfrm>
          <a:prstGeom prst="ellipse">
            <a:avLst/>
          </a:prstGeom>
          <a:solidFill>
            <a:srgbClr val="FFBD2E"/>
          </a:solidFill>
          <a:ln/>
        </p:spPr>
        <p:txBody>
          <a:bodyPr/>
          <a:lstStyle/>
          <a:p>
            <a:endParaRPr lang="en-US"/>
          </a:p>
        </p:txBody>
      </p:sp>
      <p:sp>
        <p:nvSpPr>
          <p:cNvPr id="8" name="Shape 5"/>
          <p:cNvSpPr/>
          <p:nvPr/>
        </p:nvSpPr>
        <p:spPr>
          <a:xfrm>
            <a:off x="1188720" y="1097280"/>
            <a:ext cx="118872" cy="118872"/>
          </a:xfrm>
          <a:prstGeom prst="ellipse">
            <a:avLst/>
          </a:prstGeom>
          <a:solidFill>
            <a:srgbClr val="27C93F"/>
          </a:solidFill>
          <a:ln/>
        </p:spPr>
        <p:txBody>
          <a:bodyPr/>
          <a:lstStyle/>
          <a:p>
            <a:endParaRPr lang="en-US"/>
          </a:p>
        </p:txBody>
      </p:sp>
      <p:sp>
        <p:nvSpPr>
          <p:cNvPr id="9" name="Text 6"/>
          <p:cNvSpPr/>
          <p:nvPr/>
        </p:nvSpPr>
        <p:spPr>
          <a:xfrm>
            <a:off x="1463040" y="1005840"/>
            <a:ext cx="3657600" cy="320040"/>
          </a:xfrm>
          <a:prstGeom prst="rect">
            <a:avLst/>
          </a:prstGeom>
          <a:noFill/>
          <a:ln/>
        </p:spPr>
        <p:txBody>
          <a:bodyPr wrap="square" lIns="0" tIns="0" rIns="0" bIns="0" rtlCol="0" anchor="ctr"/>
          <a:lstStyle/>
          <a:p>
            <a:pPr marL="0" indent="0">
              <a:buNone/>
            </a:pPr>
            <a:r>
              <a:rPr lang="en-US" sz="1100" dirty="0">
                <a:solidFill>
                  <a:srgbClr val="B0AEA5"/>
                </a:solidFill>
                <a:latin typeface="Courier New" pitchFamily="34" charset="0"/>
                <a:ea typeface="Courier New" pitchFamily="34" charset="-122"/>
                <a:cs typeface="Courier New" pitchFamily="34" charset="-120"/>
              </a:rPr>
              <a:t>SKILL.md</a:t>
            </a:r>
            <a:endParaRPr lang="en-US" sz="1100" dirty="0"/>
          </a:p>
        </p:txBody>
      </p:sp>
      <p:sp>
        <p:nvSpPr>
          <p:cNvPr id="10" name="Text 7"/>
          <p:cNvSpPr/>
          <p:nvPr/>
        </p:nvSpPr>
        <p:spPr>
          <a:xfrm>
            <a:off x="822960" y="1463040"/>
            <a:ext cx="7498080" cy="2286000"/>
          </a:xfrm>
          <a:prstGeom prst="rect">
            <a:avLst/>
          </a:prstGeom>
          <a:noFill/>
          <a:ln/>
        </p:spPr>
        <p:txBody>
          <a:bodyPr wrap="square" lIns="0" tIns="0" rIns="0" bIns="0" rtlCol="0" anchor="t"/>
          <a:lstStyle/>
          <a:p>
            <a:pPr marL="0" indent="0">
              <a:buNone/>
            </a:pP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name: deploy</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description: Deploy the app to production</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disable-model-invocation: true</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allowed-tools: Bash(npm *), Bash(docker *)</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context: fork</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agent: general-purpose</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argument-hint: [environment]</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a:t>
            </a:r>
            <a:endParaRPr lang="en-US" sz="1300" dirty="0"/>
          </a:p>
        </p:txBody>
      </p:sp>
      <p:sp>
        <p:nvSpPr>
          <p:cNvPr id="11" name="Shape 8"/>
          <p:cNvSpPr/>
          <p:nvPr/>
        </p:nvSpPr>
        <p:spPr>
          <a:xfrm>
            <a:off x="640080" y="4160520"/>
            <a:ext cx="7863840" cy="640080"/>
          </a:xfrm>
          <a:prstGeom prst="rect">
            <a:avLst/>
          </a:prstGeom>
          <a:solidFill>
            <a:srgbClr val="788C5D">
              <a:alpha val="12000"/>
            </a:srgbClr>
          </a:solidFill>
          <a:ln/>
        </p:spPr>
        <p:txBody>
          <a:bodyPr/>
          <a:lstStyle/>
          <a:p>
            <a:endParaRPr lang="en-US"/>
          </a:p>
        </p:txBody>
      </p:sp>
      <p:sp>
        <p:nvSpPr>
          <p:cNvPr id="12" name="Text 9"/>
          <p:cNvSpPr/>
          <p:nvPr/>
        </p:nvSpPr>
        <p:spPr>
          <a:xfrm>
            <a:off x="868680" y="4160520"/>
            <a:ext cx="7498080" cy="640080"/>
          </a:xfrm>
          <a:prstGeom prst="rect">
            <a:avLst/>
          </a:prstGeom>
          <a:noFill/>
          <a:ln/>
        </p:spPr>
        <p:txBody>
          <a:bodyPr wrap="square" lIns="0" tIns="0" rIns="0" bIns="0" rtlCol="0" anchor="ctr"/>
          <a:lstStyle/>
          <a:p>
            <a:pPr marL="0" indent="0">
              <a:buNone/>
            </a:pPr>
            <a:r>
              <a:rPr lang="en-US" sz="1300" dirty="0">
                <a:solidFill>
                  <a:srgbClr val="141413"/>
                </a:solidFill>
                <a:latin typeface="Lora" pitchFamily="34" charset="0"/>
                <a:ea typeface="Lora" pitchFamily="34" charset="-122"/>
                <a:cs typeface="Lora" pitchFamily="34" charset="-120"/>
              </a:rPr>
              <a:t>Only description is recommended. All other fields are optional and default to sensible values.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640080" y="274320"/>
            <a:ext cx="6995160" cy="502920"/>
          </a:xfrm>
          <a:prstGeom prst="rect">
            <a:avLst/>
          </a:prstGeom>
          <a:noFill/>
          <a:ln/>
        </p:spPr>
        <p:txBody>
          <a:bodyPr wrap="square" lIns="0" tIns="0" rIns="0" bIns="0" rtlCol="0" anchor="ctr"/>
          <a:lstStyle/>
          <a:p>
            <a:pPr marL="0" indent="0">
              <a:buNone/>
            </a:pPr>
            <a:r>
              <a:rPr lang="en-US" sz="2800" b="1" dirty="0">
                <a:solidFill>
                  <a:srgbClr val="141413"/>
                </a:solidFill>
                <a:latin typeface="Test Tiempos Headline Light" pitchFamily="34" charset="0"/>
                <a:ea typeface="Test Tiempos Headline Light" pitchFamily="34" charset="-122"/>
                <a:cs typeface="Test Tiempos Headline Light" pitchFamily="34" charset="-120"/>
              </a:rPr>
              <a:t>Writing effective skill descriptions</a:t>
            </a:r>
            <a:endParaRPr lang="en-US" sz="2800" dirty="0"/>
          </a:p>
        </p:txBody>
      </p:sp>
      <p:sp>
        <p:nvSpPr>
          <p:cNvPr id="4" name="Shape 1"/>
          <p:cNvSpPr/>
          <p:nvPr/>
        </p:nvSpPr>
        <p:spPr>
          <a:xfrm>
            <a:off x="640080" y="1005840"/>
            <a:ext cx="7863840" cy="2926080"/>
          </a:xfrm>
          <a:prstGeom prst="rect">
            <a:avLst/>
          </a:prstGeom>
          <a:solidFill>
            <a:srgbClr val="1E1E1E"/>
          </a:solidFill>
          <a:ln/>
          <a:effectLst>
            <a:outerShdw blurRad="76200" dist="25400" dir="8100000" algn="bl" rotWithShape="0">
              <a:srgbClr val="000000">
                <a:alpha val="12000"/>
              </a:srgbClr>
            </a:outerShdw>
          </a:effectLst>
        </p:spPr>
        <p:txBody>
          <a:bodyPr/>
          <a:lstStyle/>
          <a:p>
            <a:endParaRPr lang="en-US"/>
          </a:p>
        </p:txBody>
      </p:sp>
      <p:sp>
        <p:nvSpPr>
          <p:cNvPr id="5" name="Shape 2"/>
          <p:cNvSpPr/>
          <p:nvPr/>
        </p:nvSpPr>
        <p:spPr>
          <a:xfrm>
            <a:off x="640080" y="1005840"/>
            <a:ext cx="7863840" cy="320040"/>
          </a:xfrm>
          <a:prstGeom prst="rect">
            <a:avLst/>
          </a:prstGeom>
          <a:solidFill>
            <a:srgbClr val="2D2D2D"/>
          </a:solidFill>
          <a:ln/>
        </p:spPr>
        <p:txBody>
          <a:bodyPr/>
          <a:lstStyle/>
          <a:p>
            <a:endParaRPr lang="en-US"/>
          </a:p>
        </p:txBody>
      </p:sp>
      <p:sp>
        <p:nvSpPr>
          <p:cNvPr id="6" name="Shape 3"/>
          <p:cNvSpPr/>
          <p:nvPr/>
        </p:nvSpPr>
        <p:spPr>
          <a:xfrm>
            <a:off x="822960" y="1097280"/>
            <a:ext cx="118872" cy="118872"/>
          </a:xfrm>
          <a:prstGeom prst="ellipse">
            <a:avLst/>
          </a:prstGeom>
          <a:solidFill>
            <a:srgbClr val="FF5F56"/>
          </a:solidFill>
          <a:ln/>
        </p:spPr>
        <p:txBody>
          <a:bodyPr/>
          <a:lstStyle/>
          <a:p>
            <a:endParaRPr lang="en-US"/>
          </a:p>
        </p:txBody>
      </p:sp>
      <p:sp>
        <p:nvSpPr>
          <p:cNvPr id="7" name="Shape 4"/>
          <p:cNvSpPr/>
          <p:nvPr/>
        </p:nvSpPr>
        <p:spPr>
          <a:xfrm>
            <a:off x="1005840" y="1097280"/>
            <a:ext cx="118872" cy="118872"/>
          </a:xfrm>
          <a:prstGeom prst="ellipse">
            <a:avLst/>
          </a:prstGeom>
          <a:solidFill>
            <a:srgbClr val="FFBD2E"/>
          </a:solidFill>
          <a:ln/>
        </p:spPr>
        <p:txBody>
          <a:bodyPr/>
          <a:lstStyle/>
          <a:p>
            <a:endParaRPr lang="en-US"/>
          </a:p>
        </p:txBody>
      </p:sp>
      <p:sp>
        <p:nvSpPr>
          <p:cNvPr id="8" name="Shape 5"/>
          <p:cNvSpPr/>
          <p:nvPr/>
        </p:nvSpPr>
        <p:spPr>
          <a:xfrm>
            <a:off x="1188720" y="1097280"/>
            <a:ext cx="118872" cy="118872"/>
          </a:xfrm>
          <a:prstGeom prst="ellipse">
            <a:avLst/>
          </a:prstGeom>
          <a:solidFill>
            <a:srgbClr val="27C93F"/>
          </a:solidFill>
          <a:ln/>
        </p:spPr>
        <p:txBody>
          <a:bodyPr/>
          <a:lstStyle/>
          <a:p>
            <a:endParaRPr lang="en-US"/>
          </a:p>
        </p:txBody>
      </p:sp>
      <p:sp>
        <p:nvSpPr>
          <p:cNvPr id="9" name="Text 6"/>
          <p:cNvSpPr/>
          <p:nvPr/>
        </p:nvSpPr>
        <p:spPr>
          <a:xfrm>
            <a:off x="1463040" y="1005840"/>
            <a:ext cx="3657600" cy="320040"/>
          </a:xfrm>
          <a:prstGeom prst="rect">
            <a:avLst/>
          </a:prstGeom>
          <a:noFill/>
          <a:ln/>
        </p:spPr>
        <p:txBody>
          <a:bodyPr wrap="square" lIns="0" tIns="0" rIns="0" bIns="0" rtlCol="0" anchor="ctr"/>
          <a:lstStyle/>
          <a:p>
            <a:pPr marL="0" indent="0">
              <a:buNone/>
            </a:pPr>
            <a:r>
              <a:rPr lang="en-US" sz="1100" dirty="0">
                <a:solidFill>
                  <a:srgbClr val="B0AEA5"/>
                </a:solidFill>
                <a:latin typeface="Courier New" pitchFamily="34" charset="0"/>
                <a:ea typeface="Courier New" pitchFamily="34" charset="-122"/>
                <a:cs typeface="Courier New" pitchFamily="34" charset="-120"/>
              </a:rPr>
              <a:t>~/.claude/skills/explain-code/</a:t>
            </a:r>
            <a:endParaRPr lang="en-US" sz="1100" dirty="0"/>
          </a:p>
        </p:txBody>
      </p:sp>
      <p:sp>
        <p:nvSpPr>
          <p:cNvPr id="10" name="Text 7"/>
          <p:cNvSpPr/>
          <p:nvPr/>
        </p:nvSpPr>
        <p:spPr>
          <a:xfrm>
            <a:off x="822960" y="1463040"/>
            <a:ext cx="7498080" cy="2286000"/>
          </a:xfrm>
          <a:prstGeom prst="rect">
            <a:avLst/>
          </a:prstGeom>
          <a:noFill/>
          <a:ln/>
        </p:spPr>
        <p:txBody>
          <a:bodyPr wrap="square" lIns="0" tIns="0" rIns="0" bIns="0" rtlCol="0" anchor="t"/>
          <a:lstStyle/>
          <a:p>
            <a:r>
              <a:rPr lang="en-US" sz="1400" dirty="0">
                <a:solidFill>
                  <a:schemeClr val="bg1"/>
                </a:solidFill>
                <a:latin typeface="Courier New" panose="02070309020205020404" pitchFamily="49" charset="0"/>
                <a:cs typeface="Courier New" panose="02070309020205020404" pitchFamily="49" charset="0"/>
              </a:rPr>
              <a:t># Good - specific and actionable </a:t>
            </a:r>
          </a:p>
          <a:p>
            <a:r>
              <a:rPr lang="en-US" sz="1400" dirty="0">
                <a:solidFill>
                  <a:schemeClr val="bg1"/>
                </a:solidFill>
                <a:latin typeface="Courier New" panose="02070309020205020404" pitchFamily="49" charset="0"/>
                <a:cs typeface="Courier New" panose="02070309020205020404" pitchFamily="49" charset="0"/>
              </a:rPr>
              <a:t>description: Analyzes Figma design files and generates developer handoff documentation. Use when user uploads .fig files, asks for "design specs", "component documentation", or "design-to-code handoff". </a:t>
            </a:r>
            <a:br>
              <a:rPr lang="en-US" sz="1400" dirty="0">
                <a:solidFill>
                  <a:schemeClr val="bg1"/>
                </a:solidFill>
                <a:latin typeface="Courier New" panose="02070309020205020404" pitchFamily="49" charset="0"/>
                <a:cs typeface="Courier New" panose="02070309020205020404" pitchFamily="49" charset="0"/>
              </a:rPr>
            </a:br>
            <a:endParaRPr lang="en-US" sz="1400" dirty="0">
              <a:solidFill>
                <a:schemeClr val="bg1"/>
              </a:solidFill>
              <a:latin typeface="Courier New" panose="02070309020205020404" pitchFamily="49" charset="0"/>
              <a:cs typeface="Courier New" panose="02070309020205020404" pitchFamily="49" charset="0"/>
            </a:endParaRPr>
          </a:p>
          <a:p>
            <a:r>
              <a:rPr lang="en-US" sz="1400" dirty="0">
                <a:solidFill>
                  <a:schemeClr val="bg1"/>
                </a:solidFill>
                <a:latin typeface="Courier New" panose="02070309020205020404" pitchFamily="49" charset="0"/>
                <a:cs typeface="Courier New" panose="02070309020205020404" pitchFamily="49" charset="0"/>
              </a:rPr>
              <a:t># Good - includes trigger phrases </a:t>
            </a:r>
          </a:p>
          <a:p>
            <a:r>
              <a:rPr lang="en-US" sz="1400" dirty="0">
                <a:solidFill>
                  <a:schemeClr val="bg1"/>
                </a:solidFill>
                <a:latin typeface="Courier New" panose="02070309020205020404" pitchFamily="49" charset="0"/>
                <a:cs typeface="Courier New" panose="02070309020205020404" pitchFamily="49" charset="0"/>
              </a:rPr>
              <a:t>description: Manages Linear project workflows including sprint planning, task creation, and status tracking. Use when user mentions "sprint", "Linear tasks", "project planning", or asks to "create tickets". account".</a:t>
            </a:r>
            <a:endParaRPr lang="en-US" sz="1300" dirty="0">
              <a:solidFill>
                <a:schemeClr val="bg1"/>
              </a:solidFill>
              <a:latin typeface="Courier New" panose="02070309020205020404" pitchFamily="49" charset="0"/>
              <a:cs typeface="Courier New" panose="02070309020205020404" pitchFamily="49" charset="0"/>
            </a:endParaRPr>
          </a:p>
        </p:txBody>
      </p:sp>
      <p:sp>
        <p:nvSpPr>
          <p:cNvPr id="11" name="Shape 8"/>
          <p:cNvSpPr/>
          <p:nvPr/>
        </p:nvSpPr>
        <p:spPr>
          <a:xfrm>
            <a:off x="640080" y="4160520"/>
            <a:ext cx="7863840" cy="640080"/>
          </a:xfrm>
          <a:prstGeom prst="rect">
            <a:avLst/>
          </a:prstGeom>
          <a:solidFill>
            <a:srgbClr val="788C5D">
              <a:alpha val="12000"/>
            </a:srgbClr>
          </a:solidFill>
          <a:ln/>
        </p:spPr>
        <p:txBody>
          <a:bodyPr/>
          <a:lstStyle/>
          <a:p>
            <a:endParaRPr lang="en-US"/>
          </a:p>
        </p:txBody>
      </p:sp>
      <p:sp>
        <p:nvSpPr>
          <p:cNvPr id="12" name="Text 9"/>
          <p:cNvSpPr/>
          <p:nvPr/>
        </p:nvSpPr>
        <p:spPr>
          <a:xfrm>
            <a:off x="868680" y="4160520"/>
            <a:ext cx="7498080" cy="640080"/>
          </a:xfrm>
          <a:prstGeom prst="rect">
            <a:avLst/>
          </a:prstGeom>
          <a:noFill/>
          <a:ln/>
        </p:spPr>
        <p:txBody>
          <a:bodyPr wrap="square" lIns="0" tIns="0" rIns="0" bIns="0" rtlCol="0" anchor="ctr"/>
          <a:lstStyle/>
          <a:p>
            <a:r>
              <a:rPr lang="en-US" sz="1300" dirty="0">
                <a:latin typeface="Lora" pitchFamily="2" charset="77"/>
                <a:ea typeface="Courier New" pitchFamily="34" charset="-122"/>
                <a:cs typeface="Courier New" panose="02070309020205020404" pitchFamily="49" charset="0"/>
              </a:rPr>
              <a:t>The description formula:</a:t>
            </a:r>
            <a:r>
              <a:rPr lang="en-US" sz="1300" dirty="0">
                <a:latin typeface="Lora" pitchFamily="2" charset="77"/>
                <a:cs typeface="Courier New" panose="02070309020205020404" pitchFamily="49" charset="0"/>
              </a:rPr>
              <a:t> </a:t>
            </a:r>
            <a:r>
              <a:rPr lang="en-US" sz="1300" dirty="0">
                <a:latin typeface="Lora" pitchFamily="2" charset="77"/>
                <a:ea typeface="Courier New" pitchFamily="34" charset="-122"/>
                <a:cs typeface="Courier New" panose="02070309020205020404" pitchFamily="49" charset="0"/>
              </a:rPr>
              <a:t>[What it does] + [When to use it] + [Key capabilities]</a:t>
            </a:r>
            <a:endParaRPr lang="en-US" sz="1300" dirty="0">
              <a:latin typeface="Lora" pitchFamily="2" charset="77"/>
              <a:cs typeface="Courier New" panose="02070309020205020404" pitchFamily="49" charset="0"/>
            </a:endParaRPr>
          </a:p>
          <a:p>
            <a:pPr marL="0" indent="0">
              <a:buNone/>
            </a:pPr>
            <a:r>
              <a:rPr lang="en-US" sz="1300" dirty="0">
                <a:latin typeface="Lora" pitchFamily="2" charset="77"/>
                <a:ea typeface="Lora" pitchFamily="34" charset="-122"/>
                <a:cs typeface="Lora" pitchFamily="34" charset="-120"/>
              </a:rPr>
              <a:t>Include trigger phrases users would say. Under 1024 characters, no XML angle brackets.</a:t>
            </a:r>
            <a:endParaRPr lang="en-US" sz="1300" dirty="0">
              <a:latin typeface="Lora" pitchFamily="2" charset="77"/>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640080" y="274320"/>
            <a:ext cx="6995160" cy="502920"/>
          </a:xfrm>
          <a:prstGeom prst="rect">
            <a:avLst/>
          </a:prstGeom>
          <a:noFill/>
          <a:ln/>
        </p:spPr>
        <p:txBody>
          <a:bodyPr wrap="square" lIns="0" tIns="0" rIns="0" bIns="0" rtlCol="0" anchor="ctr"/>
          <a:lstStyle/>
          <a:p>
            <a:pPr marL="0" indent="0">
              <a:buNone/>
            </a:pPr>
            <a:r>
              <a:rPr lang="en-US" sz="2800" b="1" dirty="0">
                <a:solidFill>
                  <a:srgbClr val="141413"/>
                </a:solidFill>
                <a:latin typeface="Test Tiempos Headline Light" pitchFamily="34" charset="0"/>
                <a:ea typeface="Test Tiempos Headline Light" pitchFamily="34" charset="-122"/>
                <a:cs typeface="Test Tiempos Headline Light" pitchFamily="34" charset="-120"/>
              </a:rPr>
              <a:t>String substitutions and arguments</a:t>
            </a:r>
            <a:endParaRPr lang="en-US" sz="2800" dirty="0"/>
          </a:p>
        </p:txBody>
      </p:sp>
      <p:sp>
        <p:nvSpPr>
          <p:cNvPr id="4" name="Shape 1"/>
          <p:cNvSpPr/>
          <p:nvPr/>
        </p:nvSpPr>
        <p:spPr>
          <a:xfrm>
            <a:off x="640080" y="937260"/>
            <a:ext cx="7863840" cy="3154680"/>
          </a:xfrm>
          <a:prstGeom prst="rect">
            <a:avLst/>
          </a:prstGeom>
          <a:solidFill>
            <a:srgbClr val="1E1E1E"/>
          </a:solidFill>
          <a:ln/>
          <a:effectLst>
            <a:outerShdw blurRad="76200" dist="25400" dir="8100000" algn="bl" rotWithShape="0">
              <a:srgbClr val="000000">
                <a:alpha val="12000"/>
              </a:srgbClr>
            </a:outerShdw>
          </a:effectLst>
        </p:spPr>
        <p:txBody>
          <a:bodyPr/>
          <a:lstStyle/>
          <a:p>
            <a:endParaRPr lang="en-US"/>
          </a:p>
        </p:txBody>
      </p:sp>
      <p:sp>
        <p:nvSpPr>
          <p:cNvPr id="5" name="Shape 2"/>
          <p:cNvSpPr/>
          <p:nvPr/>
        </p:nvSpPr>
        <p:spPr>
          <a:xfrm>
            <a:off x="640080" y="937260"/>
            <a:ext cx="7863840" cy="320040"/>
          </a:xfrm>
          <a:prstGeom prst="rect">
            <a:avLst/>
          </a:prstGeom>
          <a:solidFill>
            <a:srgbClr val="2D2D2D"/>
          </a:solidFill>
          <a:ln/>
        </p:spPr>
        <p:txBody>
          <a:bodyPr/>
          <a:lstStyle/>
          <a:p>
            <a:endParaRPr lang="en-US"/>
          </a:p>
        </p:txBody>
      </p:sp>
      <p:sp>
        <p:nvSpPr>
          <p:cNvPr id="6" name="Shape 3"/>
          <p:cNvSpPr/>
          <p:nvPr/>
        </p:nvSpPr>
        <p:spPr>
          <a:xfrm>
            <a:off x="822960" y="1028700"/>
            <a:ext cx="118872" cy="118872"/>
          </a:xfrm>
          <a:prstGeom prst="ellipse">
            <a:avLst/>
          </a:prstGeom>
          <a:solidFill>
            <a:srgbClr val="FF5F56"/>
          </a:solidFill>
          <a:ln/>
        </p:spPr>
        <p:txBody>
          <a:bodyPr/>
          <a:lstStyle/>
          <a:p>
            <a:endParaRPr lang="en-US"/>
          </a:p>
        </p:txBody>
      </p:sp>
      <p:sp>
        <p:nvSpPr>
          <p:cNvPr id="7" name="Shape 4"/>
          <p:cNvSpPr/>
          <p:nvPr/>
        </p:nvSpPr>
        <p:spPr>
          <a:xfrm>
            <a:off x="1005840" y="1028700"/>
            <a:ext cx="118872" cy="118872"/>
          </a:xfrm>
          <a:prstGeom prst="ellipse">
            <a:avLst/>
          </a:prstGeom>
          <a:solidFill>
            <a:srgbClr val="FFBD2E"/>
          </a:solidFill>
          <a:ln/>
        </p:spPr>
        <p:txBody>
          <a:bodyPr/>
          <a:lstStyle/>
          <a:p>
            <a:endParaRPr lang="en-US"/>
          </a:p>
        </p:txBody>
      </p:sp>
      <p:sp>
        <p:nvSpPr>
          <p:cNvPr id="8" name="Shape 5"/>
          <p:cNvSpPr/>
          <p:nvPr/>
        </p:nvSpPr>
        <p:spPr>
          <a:xfrm>
            <a:off x="1188720" y="1028700"/>
            <a:ext cx="118872" cy="118872"/>
          </a:xfrm>
          <a:prstGeom prst="ellipse">
            <a:avLst/>
          </a:prstGeom>
          <a:solidFill>
            <a:srgbClr val="27C93F"/>
          </a:solidFill>
          <a:ln/>
        </p:spPr>
        <p:txBody>
          <a:bodyPr/>
          <a:lstStyle/>
          <a:p>
            <a:endParaRPr lang="en-US"/>
          </a:p>
        </p:txBody>
      </p:sp>
      <p:sp>
        <p:nvSpPr>
          <p:cNvPr id="9" name="Text 6"/>
          <p:cNvSpPr/>
          <p:nvPr/>
        </p:nvSpPr>
        <p:spPr>
          <a:xfrm>
            <a:off x="1463040" y="937260"/>
            <a:ext cx="3657600" cy="320040"/>
          </a:xfrm>
          <a:prstGeom prst="rect">
            <a:avLst/>
          </a:prstGeom>
          <a:noFill/>
          <a:ln/>
        </p:spPr>
        <p:txBody>
          <a:bodyPr wrap="square" lIns="0" tIns="0" rIns="0" bIns="0" rtlCol="0" anchor="ctr"/>
          <a:lstStyle/>
          <a:p>
            <a:pPr marL="0" indent="0">
              <a:buNone/>
            </a:pPr>
            <a:r>
              <a:rPr lang="en-US" sz="1100" dirty="0">
                <a:solidFill>
                  <a:srgbClr val="B0AEA5"/>
                </a:solidFill>
                <a:latin typeface="Courier New" pitchFamily="34" charset="0"/>
                <a:ea typeface="Courier New" pitchFamily="34" charset="-122"/>
                <a:cs typeface="Courier New" pitchFamily="34" charset="-120"/>
              </a:rPr>
              <a:t>SKILL.md</a:t>
            </a:r>
            <a:endParaRPr lang="en-US" sz="1100" dirty="0"/>
          </a:p>
        </p:txBody>
      </p:sp>
      <p:sp>
        <p:nvSpPr>
          <p:cNvPr id="10" name="Text 7"/>
          <p:cNvSpPr/>
          <p:nvPr/>
        </p:nvSpPr>
        <p:spPr>
          <a:xfrm>
            <a:off x="822960" y="1394460"/>
            <a:ext cx="7498080" cy="2286000"/>
          </a:xfrm>
          <a:prstGeom prst="rect">
            <a:avLst/>
          </a:prstGeom>
          <a:noFill/>
          <a:ln/>
        </p:spPr>
        <p:txBody>
          <a:bodyPr wrap="square" lIns="0" tIns="0" rIns="0" bIns="0" rtlCol="0" anchor="t"/>
          <a:lstStyle/>
          <a:p>
            <a:pPr marL="0" indent="0">
              <a:buNone/>
            </a:pP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name: migrate-component</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description: Migrate a component between frameworks</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buNone/>
            </a:pP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Migrate the $0 component from $1 to $2.</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Preserve all existing behavior and tests.</a:t>
            </a:r>
            <a:endParaRPr lang="en-US" sz="1300" dirty="0"/>
          </a:p>
          <a:p>
            <a:pPr marL="0" indent="0">
              <a:buNone/>
            </a:pP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 Variables available:</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 $ARGUMENTS    — all args as one string</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 $ARGUMENTS[N] — Nth arg (0-based)</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 $N            — shorthand for $ARGUMENTS[N]</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 ${CLAUDE_SESSION_ID} — current session</a:t>
            </a:r>
            <a:endParaRPr lang="en-US" sz="1300" dirty="0"/>
          </a:p>
        </p:txBody>
      </p:sp>
      <p:sp>
        <p:nvSpPr>
          <p:cNvPr id="11" name="Shape 8"/>
          <p:cNvSpPr/>
          <p:nvPr/>
        </p:nvSpPr>
        <p:spPr>
          <a:xfrm>
            <a:off x="640080" y="4229100"/>
            <a:ext cx="7863840" cy="640080"/>
          </a:xfrm>
          <a:prstGeom prst="rect">
            <a:avLst/>
          </a:prstGeom>
          <a:solidFill>
            <a:srgbClr val="788C5D">
              <a:alpha val="12000"/>
            </a:srgbClr>
          </a:solidFill>
          <a:ln/>
        </p:spPr>
        <p:txBody>
          <a:bodyPr/>
          <a:lstStyle/>
          <a:p>
            <a:endParaRPr lang="en-US"/>
          </a:p>
        </p:txBody>
      </p:sp>
      <p:sp>
        <p:nvSpPr>
          <p:cNvPr id="12" name="Text 9"/>
          <p:cNvSpPr/>
          <p:nvPr/>
        </p:nvSpPr>
        <p:spPr>
          <a:xfrm>
            <a:off x="868680" y="4229100"/>
            <a:ext cx="7498080" cy="640080"/>
          </a:xfrm>
          <a:prstGeom prst="rect">
            <a:avLst/>
          </a:prstGeom>
          <a:noFill/>
          <a:ln/>
        </p:spPr>
        <p:txBody>
          <a:bodyPr wrap="square" lIns="0" tIns="0" rIns="0" bIns="0" rtlCol="0" anchor="ctr"/>
          <a:lstStyle/>
          <a:p>
            <a:pPr marL="0" indent="0">
              <a:buNone/>
            </a:pPr>
            <a:r>
              <a:rPr lang="en-US" sz="1300" dirty="0">
                <a:solidFill>
                  <a:srgbClr val="141413"/>
                </a:solidFill>
                <a:latin typeface="Lora" pitchFamily="34" charset="0"/>
                <a:ea typeface="Lora" pitchFamily="34" charset="-122"/>
                <a:cs typeface="Lora" pitchFamily="34" charset="-120"/>
              </a:rPr>
              <a:t>If $ARGUMENTS is not in your content, it gets auto-appended. Positional args require exact order.</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640080" y="274320"/>
            <a:ext cx="6995160" cy="502920"/>
          </a:xfrm>
          <a:prstGeom prst="rect">
            <a:avLst/>
          </a:prstGeom>
          <a:noFill/>
          <a:ln/>
        </p:spPr>
        <p:txBody>
          <a:bodyPr wrap="square" lIns="0" tIns="0" rIns="0" bIns="0" rtlCol="0" anchor="ctr"/>
          <a:lstStyle/>
          <a:p>
            <a:pPr marL="0" indent="0">
              <a:buNone/>
            </a:pPr>
            <a:r>
              <a:rPr lang="en-US" sz="2800" b="1" dirty="0">
                <a:solidFill>
                  <a:srgbClr val="141413"/>
                </a:solidFill>
                <a:latin typeface="Test Tiempos Headline Light" pitchFamily="34" charset="0"/>
                <a:ea typeface="Test Tiempos Headline Light" pitchFamily="34" charset="-122"/>
                <a:cs typeface="Test Tiempos Headline Light" pitchFamily="34" charset="-120"/>
              </a:rPr>
              <a:t>Arguments versus environment variables</a:t>
            </a:r>
            <a:endParaRPr lang="en-US" sz="2800" dirty="0"/>
          </a:p>
        </p:txBody>
      </p:sp>
      <p:sp>
        <p:nvSpPr>
          <p:cNvPr id="4" name="Shape 1"/>
          <p:cNvSpPr/>
          <p:nvPr/>
        </p:nvSpPr>
        <p:spPr>
          <a:xfrm>
            <a:off x="640080" y="1005840"/>
            <a:ext cx="7863840" cy="2926080"/>
          </a:xfrm>
          <a:prstGeom prst="rect">
            <a:avLst/>
          </a:prstGeom>
          <a:solidFill>
            <a:srgbClr val="1E1E1E"/>
          </a:solidFill>
          <a:ln/>
          <a:effectLst>
            <a:outerShdw blurRad="76200" dist="25400" dir="8100000" algn="bl" rotWithShape="0">
              <a:srgbClr val="000000">
                <a:alpha val="12000"/>
              </a:srgbClr>
            </a:outerShdw>
          </a:effectLst>
        </p:spPr>
        <p:txBody>
          <a:bodyPr/>
          <a:lstStyle/>
          <a:p>
            <a:endParaRPr lang="en-US"/>
          </a:p>
        </p:txBody>
      </p:sp>
      <p:sp>
        <p:nvSpPr>
          <p:cNvPr id="5" name="Shape 2"/>
          <p:cNvSpPr/>
          <p:nvPr/>
        </p:nvSpPr>
        <p:spPr>
          <a:xfrm>
            <a:off x="640080" y="1005840"/>
            <a:ext cx="7863840" cy="320040"/>
          </a:xfrm>
          <a:prstGeom prst="rect">
            <a:avLst/>
          </a:prstGeom>
          <a:solidFill>
            <a:srgbClr val="2D2D2D"/>
          </a:solidFill>
          <a:ln/>
        </p:spPr>
        <p:txBody>
          <a:bodyPr/>
          <a:lstStyle/>
          <a:p>
            <a:endParaRPr lang="en-US"/>
          </a:p>
        </p:txBody>
      </p:sp>
      <p:sp>
        <p:nvSpPr>
          <p:cNvPr id="6" name="Shape 3"/>
          <p:cNvSpPr/>
          <p:nvPr/>
        </p:nvSpPr>
        <p:spPr>
          <a:xfrm>
            <a:off x="822960" y="1097280"/>
            <a:ext cx="118872" cy="118872"/>
          </a:xfrm>
          <a:prstGeom prst="ellipse">
            <a:avLst/>
          </a:prstGeom>
          <a:solidFill>
            <a:srgbClr val="FF5F56"/>
          </a:solidFill>
          <a:ln/>
        </p:spPr>
        <p:txBody>
          <a:bodyPr/>
          <a:lstStyle/>
          <a:p>
            <a:endParaRPr lang="en-US"/>
          </a:p>
        </p:txBody>
      </p:sp>
      <p:sp>
        <p:nvSpPr>
          <p:cNvPr id="7" name="Shape 4"/>
          <p:cNvSpPr/>
          <p:nvPr/>
        </p:nvSpPr>
        <p:spPr>
          <a:xfrm>
            <a:off x="1005840" y="1097280"/>
            <a:ext cx="118872" cy="118872"/>
          </a:xfrm>
          <a:prstGeom prst="ellipse">
            <a:avLst/>
          </a:prstGeom>
          <a:solidFill>
            <a:srgbClr val="FFBD2E"/>
          </a:solidFill>
          <a:ln/>
        </p:spPr>
        <p:txBody>
          <a:bodyPr/>
          <a:lstStyle/>
          <a:p>
            <a:endParaRPr lang="en-US"/>
          </a:p>
        </p:txBody>
      </p:sp>
      <p:sp>
        <p:nvSpPr>
          <p:cNvPr id="8" name="Shape 5"/>
          <p:cNvSpPr/>
          <p:nvPr/>
        </p:nvSpPr>
        <p:spPr>
          <a:xfrm>
            <a:off x="1188720" y="1097280"/>
            <a:ext cx="118872" cy="118872"/>
          </a:xfrm>
          <a:prstGeom prst="ellipse">
            <a:avLst/>
          </a:prstGeom>
          <a:solidFill>
            <a:srgbClr val="27C93F"/>
          </a:solidFill>
          <a:ln/>
        </p:spPr>
        <p:txBody>
          <a:bodyPr/>
          <a:lstStyle/>
          <a:p>
            <a:endParaRPr lang="en-US"/>
          </a:p>
        </p:txBody>
      </p:sp>
      <p:sp>
        <p:nvSpPr>
          <p:cNvPr id="9" name="Text 6"/>
          <p:cNvSpPr/>
          <p:nvPr/>
        </p:nvSpPr>
        <p:spPr>
          <a:xfrm>
            <a:off x="1463040" y="1005840"/>
            <a:ext cx="3657600" cy="320040"/>
          </a:xfrm>
          <a:prstGeom prst="rect">
            <a:avLst/>
          </a:prstGeom>
          <a:noFill/>
          <a:ln/>
        </p:spPr>
        <p:txBody>
          <a:bodyPr wrap="square" lIns="0" tIns="0" rIns="0" bIns="0" rtlCol="0" anchor="ctr"/>
          <a:lstStyle/>
          <a:p>
            <a:pPr marL="0" indent="0">
              <a:buNone/>
            </a:pPr>
            <a:r>
              <a:rPr lang="en-US" sz="1100" dirty="0">
                <a:solidFill>
                  <a:srgbClr val="B0AEA5"/>
                </a:solidFill>
                <a:latin typeface="Courier New" pitchFamily="34" charset="0"/>
                <a:ea typeface="Courier New" pitchFamily="34" charset="-122"/>
                <a:cs typeface="Courier New" pitchFamily="34" charset="-120"/>
              </a:rPr>
              <a:t>~/.claude/skills/explain-code/</a:t>
            </a:r>
            <a:endParaRPr lang="en-US" sz="1100" dirty="0"/>
          </a:p>
        </p:txBody>
      </p:sp>
      <p:sp>
        <p:nvSpPr>
          <p:cNvPr id="10" name="Text 7"/>
          <p:cNvSpPr/>
          <p:nvPr/>
        </p:nvSpPr>
        <p:spPr>
          <a:xfrm>
            <a:off x="822960" y="1463040"/>
            <a:ext cx="7498080" cy="2286000"/>
          </a:xfrm>
          <a:prstGeom prst="rect">
            <a:avLst/>
          </a:prstGeom>
          <a:noFill/>
          <a:ln/>
        </p:spPr>
        <p:txBody>
          <a:bodyPr wrap="square" lIns="0" tIns="0" rIns="0" bIns="0" rtlCol="0" anchor="t"/>
          <a:lstStyle/>
          <a:p>
            <a:pPr marL="0" indent="0">
              <a:buNone/>
            </a:pPr>
            <a:r>
              <a:rPr lang="en-US" sz="1300" dirty="0">
                <a:solidFill>
                  <a:srgbClr val="D4D4D4"/>
                </a:solidFill>
                <a:latin typeface="Courier New" pitchFamily="34" charset="0"/>
                <a:ea typeface="Courier New" pitchFamily="34" charset="-122"/>
                <a:cs typeface="Courier New" pitchFamily="34" charset="-120"/>
              </a:rPr>
              <a:t># User-provided arguments (passed when invoking)</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/deploy staging          →  $0 = "staging"</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/migrate Button React Vue →  $0="Button" $1="React" $2="Vue"</a:t>
            </a:r>
            <a:endParaRPr lang="en-US" sz="1300" dirty="0"/>
          </a:p>
          <a:p>
            <a:pPr marL="0" indent="0">
              <a:buNone/>
            </a:pP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 Environment variables (auto-resolved at load time)</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${CLAUDE_SESSION_ID}     →  current session identifier</a:t>
            </a:r>
            <a:endParaRPr lang="en-US" sz="1300" dirty="0"/>
          </a:p>
          <a:p>
            <a:pPr marL="0" indent="0">
              <a:buNone/>
            </a:pPr>
            <a:endParaRPr lang="en-US" sz="1300" dirty="0"/>
          </a:p>
        </p:txBody>
      </p:sp>
      <p:sp>
        <p:nvSpPr>
          <p:cNvPr id="11" name="Shape 8"/>
          <p:cNvSpPr/>
          <p:nvPr/>
        </p:nvSpPr>
        <p:spPr>
          <a:xfrm>
            <a:off x="640080" y="4160520"/>
            <a:ext cx="7863840" cy="640080"/>
          </a:xfrm>
          <a:prstGeom prst="rect">
            <a:avLst/>
          </a:prstGeom>
          <a:solidFill>
            <a:srgbClr val="788C5D">
              <a:alpha val="12000"/>
            </a:srgbClr>
          </a:solidFill>
          <a:ln/>
        </p:spPr>
        <p:txBody>
          <a:bodyPr/>
          <a:lstStyle/>
          <a:p>
            <a:endParaRPr lang="en-US"/>
          </a:p>
        </p:txBody>
      </p:sp>
      <p:sp>
        <p:nvSpPr>
          <p:cNvPr id="12" name="Text 9"/>
          <p:cNvSpPr/>
          <p:nvPr/>
        </p:nvSpPr>
        <p:spPr>
          <a:xfrm>
            <a:off x="868680" y="4160520"/>
            <a:ext cx="7498080" cy="640080"/>
          </a:xfrm>
          <a:prstGeom prst="rect">
            <a:avLst/>
          </a:prstGeom>
          <a:noFill/>
          <a:ln/>
        </p:spPr>
        <p:txBody>
          <a:bodyPr wrap="square" lIns="0" tIns="0" rIns="0" bIns="0" rtlCol="0" anchor="ctr"/>
          <a:lstStyle/>
          <a:p>
            <a:pPr marL="0" indent="0">
              <a:buNone/>
            </a:pPr>
            <a:r>
              <a:rPr lang="en-US" sz="1300" dirty="0">
                <a:solidFill>
                  <a:srgbClr val="141413"/>
                </a:solidFill>
                <a:latin typeface="Lora" pitchFamily="34" charset="0"/>
                <a:ea typeface="Lora" pitchFamily="34" charset="-122"/>
                <a:cs typeface="Lora" pitchFamily="34" charset="-120"/>
              </a:rPr>
              <a:t>$ARGUMENTS and $N capture what the user types after the slash command. Environment variables like ${CLAUDE_SESSION_ID} are resolved automatically. Don't confuse them — arguments come from the user, variables come from the system.</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nvSpPr>
        <p:spPr>
          <a:xfrm>
            <a:off x="640080" y="182880"/>
            <a:ext cx="5212080" cy="548640"/>
          </a:xfrm>
          <a:prstGeom prst="rect">
            <a:avLst/>
          </a:prstGeom>
          <a:noFill/>
          <a:ln/>
        </p:spPr>
        <p:txBody>
          <a:bodyPr wrap="square" lIns="0" tIns="0" rIns="0" bIns="0" rtlCol="0" anchor="ctr"/>
          <a:lstStyle/>
          <a:p>
            <a:pPr marL="0" indent="0">
              <a:buNone/>
            </a:pPr>
            <a:r>
              <a:rPr lang="en-US" sz="2800" b="1" dirty="0">
                <a:solidFill>
                  <a:srgbClr val="141413"/>
                </a:solidFill>
                <a:latin typeface="Test Tiempos Headline Light" pitchFamily="34" charset="0"/>
                <a:ea typeface="Test Tiempos Headline Light" pitchFamily="34" charset="-122"/>
                <a:cs typeface="Test Tiempos Headline Light" pitchFamily="34" charset="-120"/>
              </a:rPr>
              <a:t>Build a code review skill</a:t>
            </a:r>
            <a:endParaRPr lang="en-US" sz="2800" dirty="0"/>
          </a:p>
        </p:txBody>
      </p:sp>
      <p:sp>
        <p:nvSpPr>
          <p:cNvPr id="7" name="Shape 4"/>
          <p:cNvSpPr/>
          <p:nvPr/>
        </p:nvSpPr>
        <p:spPr>
          <a:xfrm>
            <a:off x="642005" y="1599686"/>
            <a:ext cx="5303520" cy="731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8" name="Shape 5"/>
          <p:cNvSpPr/>
          <p:nvPr/>
        </p:nvSpPr>
        <p:spPr>
          <a:xfrm>
            <a:off x="642005" y="1599686"/>
            <a:ext cx="54864" cy="731520"/>
          </a:xfrm>
          <a:prstGeom prst="rect">
            <a:avLst/>
          </a:prstGeom>
          <a:solidFill>
            <a:schemeClr val="accent2"/>
          </a:solidFill>
          <a:ln/>
        </p:spPr>
        <p:txBody>
          <a:bodyPr/>
          <a:lstStyle/>
          <a:p>
            <a:endParaRPr lang="en-US">
              <a:solidFill>
                <a:schemeClr val="accent2"/>
              </a:solidFill>
            </a:endParaRPr>
          </a:p>
        </p:txBody>
      </p:sp>
      <p:sp>
        <p:nvSpPr>
          <p:cNvPr id="9" name="Text 6"/>
          <p:cNvSpPr/>
          <p:nvPr/>
        </p:nvSpPr>
        <p:spPr>
          <a:xfrm>
            <a:off x="870605" y="1599686"/>
            <a:ext cx="914400" cy="731520"/>
          </a:xfrm>
          <a:prstGeom prst="rect">
            <a:avLst/>
          </a:prstGeom>
          <a:noFill/>
          <a:ln/>
        </p:spPr>
        <p:txBody>
          <a:bodyPr wrap="square" lIns="0" tIns="0" rIns="0" bIns="0" rtlCol="0" anchor="ctr"/>
          <a:lstStyle/>
          <a:p>
            <a:pPr marL="0" indent="0">
              <a:buNone/>
            </a:pPr>
            <a:r>
              <a:rPr lang="en-US" sz="1300" b="1" dirty="0">
                <a:solidFill>
                  <a:schemeClr val="accent2"/>
                </a:solidFill>
                <a:latin typeface="Lora" pitchFamily="34" charset="0"/>
                <a:ea typeface="Lora" pitchFamily="34" charset="-122"/>
                <a:cs typeface="Lora" pitchFamily="34" charset="-120"/>
              </a:rPr>
              <a:t>Task 1:</a:t>
            </a:r>
            <a:endParaRPr lang="en-US" sz="1300" dirty="0">
              <a:solidFill>
                <a:schemeClr val="accent2"/>
              </a:solidFill>
            </a:endParaRPr>
          </a:p>
        </p:txBody>
      </p:sp>
      <p:sp>
        <p:nvSpPr>
          <p:cNvPr id="10" name="Text 7"/>
          <p:cNvSpPr/>
          <p:nvPr/>
        </p:nvSpPr>
        <p:spPr>
          <a:xfrm>
            <a:off x="1594905" y="1691126"/>
            <a:ext cx="4259179" cy="548640"/>
          </a:xfrm>
          <a:prstGeom prst="rect">
            <a:avLst/>
          </a:prstGeom>
          <a:noFill/>
          <a:ln/>
        </p:spPr>
        <p:txBody>
          <a:bodyPr wrap="square" lIns="0" tIns="0" rIns="0" bIns="0" rtlCol="0" anchor="ctr"/>
          <a:lstStyle/>
          <a:p>
            <a:pPr marL="0" indent="0">
              <a:buNone/>
            </a:pPr>
            <a:r>
              <a:rPr lang="en-US" sz="1300" dirty="0">
                <a:solidFill>
                  <a:srgbClr val="141413"/>
                </a:solidFill>
                <a:latin typeface="Lora" pitchFamily="34" charset="0"/>
                <a:ea typeface="Lora" pitchFamily="34" charset="-122"/>
                <a:cs typeface="Lora" pitchFamily="34" charset="-120"/>
              </a:rPr>
              <a:t>Create the directory and SKILL.md with frontmatter</a:t>
            </a:r>
            <a:endParaRPr lang="en-US" sz="1300" dirty="0"/>
          </a:p>
        </p:txBody>
      </p:sp>
      <p:sp>
        <p:nvSpPr>
          <p:cNvPr id="11" name="Shape 8"/>
          <p:cNvSpPr/>
          <p:nvPr/>
        </p:nvSpPr>
        <p:spPr>
          <a:xfrm>
            <a:off x="642005" y="2571236"/>
            <a:ext cx="5303520" cy="731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2" name="Shape 9"/>
          <p:cNvSpPr/>
          <p:nvPr/>
        </p:nvSpPr>
        <p:spPr>
          <a:xfrm>
            <a:off x="640080" y="2571236"/>
            <a:ext cx="54864" cy="731520"/>
          </a:xfrm>
          <a:prstGeom prst="rect">
            <a:avLst/>
          </a:prstGeom>
          <a:solidFill>
            <a:schemeClr val="accent2"/>
          </a:solidFill>
          <a:ln/>
        </p:spPr>
        <p:txBody>
          <a:bodyPr/>
          <a:lstStyle/>
          <a:p>
            <a:endParaRPr lang="en-US">
              <a:solidFill>
                <a:schemeClr val="accent2"/>
              </a:solidFill>
            </a:endParaRPr>
          </a:p>
        </p:txBody>
      </p:sp>
      <p:sp>
        <p:nvSpPr>
          <p:cNvPr id="13" name="Text 10"/>
          <p:cNvSpPr/>
          <p:nvPr/>
        </p:nvSpPr>
        <p:spPr>
          <a:xfrm>
            <a:off x="822960" y="2571236"/>
            <a:ext cx="914400" cy="731520"/>
          </a:xfrm>
          <a:prstGeom prst="rect">
            <a:avLst/>
          </a:prstGeom>
          <a:noFill/>
          <a:ln/>
        </p:spPr>
        <p:txBody>
          <a:bodyPr wrap="square" lIns="0" tIns="0" rIns="0" bIns="0" rtlCol="0" anchor="ctr"/>
          <a:lstStyle/>
          <a:p>
            <a:pPr marL="0" indent="0">
              <a:buNone/>
            </a:pPr>
            <a:r>
              <a:rPr lang="en-US" sz="1300" b="1" dirty="0">
                <a:solidFill>
                  <a:schemeClr val="accent2"/>
                </a:solidFill>
                <a:latin typeface="Lora" pitchFamily="34" charset="0"/>
                <a:ea typeface="Lora" pitchFamily="34" charset="-122"/>
                <a:cs typeface="Lora" pitchFamily="34" charset="-120"/>
              </a:rPr>
              <a:t>Task 2:</a:t>
            </a:r>
            <a:endParaRPr lang="en-US" sz="1300" dirty="0">
              <a:solidFill>
                <a:schemeClr val="accent2"/>
              </a:solidFill>
            </a:endParaRPr>
          </a:p>
        </p:txBody>
      </p:sp>
      <p:sp>
        <p:nvSpPr>
          <p:cNvPr id="14" name="Text 11"/>
          <p:cNvSpPr/>
          <p:nvPr/>
        </p:nvSpPr>
        <p:spPr>
          <a:xfrm>
            <a:off x="1594905" y="2651246"/>
            <a:ext cx="4259179" cy="548640"/>
          </a:xfrm>
          <a:prstGeom prst="rect">
            <a:avLst/>
          </a:prstGeom>
          <a:noFill/>
          <a:ln/>
        </p:spPr>
        <p:txBody>
          <a:bodyPr wrap="square" lIns="0" tIns="0" rIns="0" bIns="0" rtlCol="0" anchor="ctr"/>
          <a:lstStyle/>
          <a:p>
            <a:pPr marL="0" indent="0">
              <a:buNone/>
            </a:pPr>
            <a:r>
              <a:rPr lang="en-US" sz="1300" dirty="0">
                <a:solidFill>
                  <a:srgbClr val="141413"/>
                </a:solidFill>
                <a:latin typeface="Lora" pitchFamily="34" charset="0"/>
                <a:ea typeface="Lora" pitchFamily="34" charset="-122"/>
                <a:cs typeface="Lora" pitchFamily="34" charset="-120"/>
              </a:rPr>
              <a:t>Write review instructions covering error handling, types, and test coverage</a:t>
            </a:r>
            <a:endParaRPr lang="en-US" sz="1300" dirty="0"/>
          </a:p>
        </p:txBody>
      </p:sp>
      <p:sp>
        <p:nvSpPr>
          <p:cNvPr id="15" name="Shape 12"/>
          <p:cNvSpPr/>
          <p:nvPr/>
        </p:nvSpPr>
        <p:spPr>
          <a:xfrm>
            <a:off x="642005" y="3542786"/>
            <a:ext cx="5303520" cy="731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6" name="Shape 13"/>
          <p:cNvSpPr/>
          <p:nvPr/>
        </p:nvSpPr>
        <p:spPr>
          <a:xfrm>
            <a:off x="640080" y="3542786"/>
            <a:ext cx="54864" cy="731520"/>
          </a:xfrm>
          <a:prstGeom prst="rect">
            <a:avLst/>
          </a:prstGeom>
          <a:solidFill>
            <a:schemeClr val="accent2"/>
          </a:solidFill>
          <a:ln/>
        </p:spPr>
        <p:txBody>
          <a:bodyPr/>
          <a:lstStyle/>
          <a:p>
            <a:endParaRPr lang="en-US">
              <a:solidFill>
                <a:schemeClr val="accent2"/>
              </a:solidFill>
            </a:endParaRPr>
          </a:p>
        </p:txBody>
      </p:sp>
      <p:sp>
        <p:nvSpPr>
          <p:cNvPr id="17" name="Text 14"/>
          <p:cNvSpPr/>
          <p:nvPr/>
        </p:nvSpPr>
        <p:spPr>
          <a:xfrm>
            <a:off x="870605" y="3542786"/>
            <a:ext cx="914400" cy="731520"/>
          </a:xfrm>
          <a:prstGeom prst="rect">
            <a:avLst/>
          </a:prstGeom>
          <a:noFill/>
          <a:ln/>
        </p:spPr>
        <p:txBody>
          <a:bodyPr wrap="square" lIns="0" tIns="0" rIns="0" bIns="0" rtlCol="0" anchor="ctr"/>
          <a:lstStyle/>
          <a:p>
            <a:pPr marL="0" indent="0">
              <a:buNone/>
            </a:pPr>
            <a:r>
              <a:rPr lang="en-US" sz="1300" b="1" dirty="0">
                <a:solidFill>
                  <a:schemeClr val="accent2"/>
                </a:solidFill>
                <a:latin typeface="Lora" pitchFamily="34" charset="0"/>
                <a:ea typeface="Lora" pitchFamily="34" charset="-122"/>
                <a:cs typeface="Lora" pitchFamily="34" charset="-120"/>
              </a:rPr>
              <a:t>Task 3:</a:t>
            </a:r>
            <a:endParaRPr lang="en-US" sz="1300" dirty="0">
              <a:solidFill>
                <a:schemeClr val="accent2"/>
              </a:solidFill>
            </a:endParaRPr>
          </a:p>
        </p:txBody>
      </p:sp>
      <p:sp>
        <p:nvSpPr>
          <p:cNvPr id="18" name="Text 15"/>
          <p:cNvSpPr/>
          <p:nvPr/>
        </p:nvSpPr>
        <p:spPr>
          <a:xfrm>
            <a:off x="1594905" y="3634226"/>
            <a:ext cx="4259179" cy="548640"/>
          </a:xfrm>
          <a:prstGeom prst="rect">
            <a:avLst/>
          </a:prstGeom>
          <a:noFill/>
          <a:ln/>
        </p:spPr>
        <p:txBody>
          <a:bodyPr wrap="square" lIns="0" tIns="0" rIns="0" bIns="0" rtlCol="0" anchor="ctr"/>
          <a:lstStyle/>
          <a:p>
            <a:pPr marL="0" indent="0">
              <a:buNone/>
            </a:pPr>
            <a:r>
              <a:rPr lang="en-US" sz="1300" dirty="0">
                <a:solidFill>
                  <a:srgbClr val="141413"/>
                </a:solidFill>
                <a:latin typeface="Lora" pitchFamily="34" charset="0"/>
                <a:ea typeface="Lora" pitchFamily="34" charset="-122"/>
                <a:cs typeface="Lora" pitchFamily="34" charset="-120"/>
              </a:rPr>
              <a:t>Test your skill with both /review and natural language prompts</a:t>
            </a:r>
            <a:endParaRPr lang="en-US" sz="1300" dirty="0"/>
          </a:p>
        </p:txBody>
      </p:sp>
      <p:sp>
        <p:nvSpPr>
          <p:cNvPr id="19" name="Shape 16"/>
          <p:cNvSpPr/>
          <p:nvPr/>
        </p:nvSpPr>
        <p:spPr>
          <a:xfrm>
            <a:off x="6219845" y="1599686"/>
            <a:ext cx="2286000" cy="2697480"/>
          </a:xfrm>
          <a:prstGeom prst="rect">
            <a:avLst/>
          </a:prstGeom>
          <a:solidFill>
            <a:schemeClr val="accent2">
              <a:lumMod val="20000"/>
              <a:lumOff val="80000"/>
            </a:schemeClr>
          </a:solidFill>
          <a:ln/>
        </p:spPr>
        <p:txBody>
          <a:bodyPr/>
          <a:lstStyle/>
          <a:p>
            <a:endParaRPr lang="en-US"/>
          </a:p>
        </p:txBody>
      </p:sp>
      <p:sp>
        <p:nvSpPr>
          <p:cNvPr id="20" name="Text 17"/>
          <p:cNvSpPr/>
          <p:nvPr/>
        </p:nvSpPr>
        <p:spPr>
          <a:xfrm>
            <a:off x="6219845" y="1782566"/>
            <a:ext cx="2286000" cy="274320"/>
          </a:xfrm>
          <a:prstGeom prst="rect">
            <a:avLst/>
          </a:prstGeom>
          <a:noFill/>
          <a:ln/>
        </p:spPr>
        <p:txBody>
          <a:bodyPr wrap="square" lIns="0" tIns="0" rIns="0" bIns="0" rtlCol="0" anchor="ctr"/>
          <a:lstStyle/>
          <a:p>
            <a:pPr marL="0" indent="0" algn="ctr">
              <a:buNone/>
            </a:pPr>
            <a:r>
              <a:rPr lang="en-US" sz="1100" b="1" dirty="0">
                <a:solidFill>
                  <a:schemeClr val="accent6"/>
                </a:solidFill>
                <a:latin typeface="Lora" pitchFamily="34" charset="0"/>
                <a:ea typeface="Lora" pitchFamily="34" charset="-122"/>
                <a:cs typeface="Lora" pitchFamily="34" charset="-120"/>
              </a:rPr>
              <a:t>Time</a:t>
            </a:r>
            <a:endParaRPr lang="en-US" sz="1100" dirty="0">
              <a:solidFill>
                <a:schemeClr val="accent6"/>
              </a:solidFill>
            </a:endParaRPr>
          </a:p>
        </p:txBody>
      </p:sp>
      <p:sp>
        <p:nvSpPr>
          <p:cNvPr id="21" name="Text 18"/>
          <p:cNvSpPr/>
          <p:nvPr/>
        </p:nvSpPr>
        <p:spPr>
          <a:xfrm>
            <a:off x="6219845" y="2056886"/>
            <a:ext cx="2286000" cy="365760"/>
          </a:xfrm>
          <a:prstGeom prst="rect">
            <a:avLst/>
          </a:prstGeom>
          <a:noFill/>
          <a:ln/>
        </p:spPr>
        <p:txBody>
          <a:bodyPr wrap="square" lIns="0" tIns="0" rIns="0" bIns="0" rtlCol="0" anchor="ctr"/>
          <a:lstStyle/>
          <a:p>
            <a:pPr marL="0" indent="0" algn="ctr">
              <a:buNone/>
            </a:pPr>
            <a:r>
              <a:rPr lang="en-US" sz="2200" b="1" dirty="0">
                <a:solidFill>
                  <a:schemeClr val="accent2"/>
                </a:solidFill>
                <a:latin typeface="Lora" pitchFamily="34" charset="0"/>
                <a:ea typeface="Lora" pitchFamily="34" charset="-122"/>
                <a:cs typeface="Lora" pitchFamily="34" charset="-120"/>
              </a:rPr>
              <a:t>10 min</a:t>
            </a:r>
            <a:endParaRPr lang="en-US" sz="2200" dirty="0">
              <a:solidFill>
                <a:schemeClr val="accent2"/>
              </a:solidFill>
            </a:endParaRPr>
          </a:p>
        </p:txBody>
      </p:sp>
      <p:sp>
        <p:nvSpPr>
          <p:cNvPr id="22" name="Shape 19"/>
          <p:cNvSpPr/>
          <p:nvPr/>
        </p:nvSpPr>
        <p:spPr>
          <a:xfrm>
            <a:off x="6494165" y="2605526"/>
            <a:ext cx="1737360" cy="0"/>
          </a:xfrm>
          <a:prstGeom prst="line">
            <a:avLst/>
          </a:prstGeom>
          <a:noFill/>
          <a:ln w="12700">
            <a:solidFill>
              <a:srgbClr val="B0AEA5"/>
            </a:solidFill>
            <a:prstDash val="dash"/>
          </a:ln>
        </p:spPr>
        <p:txBody>
          <a:bodyPr/>
          <a:lstStyle/>
          <a:p>
            <a:endParaRPr lang="en-US"/>
          </a:p>
        </p:txBody>
      </p:sp>
      <p:sp>
        <p:nvSpPr>
          <p:cNvPr id="23" name="Text 20"/>
          <p:cNvSpPr/>
          <p:nvPr/>
        </p:nvSpPr>
        <p:spPr>
          <a:xfrm>
            <a:off x="6219845" y="2788406"/>
            <a:ext cx="2286000" cy="274320"/>
          </a:xfrm>
          <a:prstGeom prst="rect">
            <a:avLst/>
          </a:prstGeom>
          <a:noFill/>
          <a:ln/>
        </p:spPr>
        <p:txBody>
          <a:bodyPr wrap="square" lIns="0" tIns="0" rIns="0" bIns="0" rtlCol="0" anchor="ctr"/>
          <a:lstStyle/>
          <a:p>
            <a:pPr marL="0" indent="0" algn="ctr">
              <a:buNone/>
            </a:pPr>
            <a:r>
              <a:rPr lang="en-US" sz="1100" b="1" dirty="0">
                <a:solidFill>
                  <a:schemeClr val="accent6"/>
                </a:solidFill>
                <a:latin typeface="Lora" pitchFamily="34" charset="0"/>
                <a:ea typeface="Lora" pitchFamily="34" charset="-122"/>
                <a:cs typeface="Lora" pitchFamily="34" charset="-120"/>
              </a:rPr>
              <a:t>Success Criteria</a:t>
            </a:r>
            <a:endParaRPr lang="en-US" sz="1100" dirty="0">
              <a:solidFill>
                <a:schemeClr val="accent6"/>
              </a:solidFill>
            </a:endParaRPr>
          </a:p>
        </p:txBody>
      </p:sp>
      <p:sp>
        <p:nvSpPr>
          <p:cNvPr id="24" name="Text 21"/>
          <p:cNvSpPr/>
          <p:nvPr/>
        </p:nvSpPr>
        <p:spPr>
          <a:xfrm>
            <a:off x="6402725" y="3108446"/>
            <a:ext cx="1920240" cy="640080"/>
          </a:xfrm>
          <a:prstGeom prst="rect">
            <a:avLst/>
          </a:prstGeom>
          <a:noFill/>
          <a:ln/>
        </p:spPr>
        <p:txBody>
          <a:bodyPr wrap="square" lIns="0" tIns="0" rIns="0" bIns="0" rtlCol="0" anchor="ctr"/>
          <a:lstStyle/>
          <a:p>
            <a:pPr marL="0" indent="0" algn="ctr">
              <a:buNone/>
            </a:pPr>
            <a:r>
              <a:rPr lang="en-US" sz="1100" dirty="0">
                <a:latin typeface="Lora" pitchFamily="34" charset="0"/>
                <a:ea typeface="Lora" pitchFamily="34" charset="-122"/>
                <a:cs typeface="Lora" pitchFamily="34" charset="-120"/>
              </a:rPr>
              <a:t>Skill triggers on review-related requests and produces structured feedback</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100" name="Side Stripe Override"/>
          <p:cNvSpPr/>
          <p:nvPr/>
        </p:nvSpPr>
        <p:spPr>
          <a:xfrm>
            <a:off x="0" y="0"/>
            <a:ext cx="73152" cy="5143500"/>
          </a:xfrm>
          <a:prstGeom prst="rect">
            <a:avLst/>
          </a:prstGeom>
          <a:solidFill>
            <a:srgbClr val="788C5D"/>
          </a:solidFill>
          <a:ln/>
        </p:spPr>
        <p:txBody>
          <a:bodyPr/>
          <a:lstStyle/>
          <a:p>
            <a:endParaRPr lang="en-US"/>
          </a:p>
        </p:txBody>
      </p:sp>
      <p:sp>
        <p:nvSpPr>
          <p:cNvPr id="2" name="Text 0"/>
          <p:cNvSpPr/>
          <p:nvPr/>
        </p:nvSpPr>
        <p:spPr>
          <a:xfrm>
            <a:off x="640080" y="1097280"/>
            <a:ext cx="2743200" cy="457200"/>
          </a:xfrm>
          <a:prstGeom prst="rect">
            <a:avLst/>
          </a:prstGeom>
          <a:noFill/>
          <a:ln/>
        </p:spPr>
        <p:txBody>
          <a:bodyPr wrap="square" lIns="0" tIns="0" rIns="0" bIns="0" rtlCol="0" anchor="ctr"/>
          <a:lstStyle/>
          <a:p>
            <a:pPr marL="0" indent="0">
              <a:buNone/>
            </a:pPr>
            <a:r>
              <a:rPr lang="en-US" sz="1400" b="1" dirty="0">
                <a:solidFill>
                  <a:srgbClr val="788C5D"/>
                </a:solidFill>
                <a:latin typeface="Lora" pitchFamily="34" charset="0"/>
                <a:ea typeface="Lora" pitchFamily="34" charset="-122"/>
                <a:cs typeface="Lora" pitchFamily="34" charset="-120"/>
              </a:rPr>
              <a:t>SECTION 03</a:t>
            </a:r>
            <a:endParaRPr lang="en-US" sz="1400" dirty="0"/>
          </a:p>
        </p:txBody>
      </p:sp>
      <p:sp>
        <p:nvSpPr>
          <p:cNvPr id="3" name="Text 1"/>
          <p:cNvSpPr/>
          <p:nvPr/>
        </p:nvSpPr>
        <p:spPr>
          <a:xfrm>
            <a:off x="640080" y="1645920"/>
            <a:ext cx="5486400" cy="1097280"/>
          </a:xfrm>
          <a:prstGeom prst="rect">
            <a:avLst/>
          </a:prstGeom>
          <a:noFill/>
          <a:ln/>
        </p:spPr>
        <p:txBody>
          <a:bodyPr wrap="square" lIns="0" tIns="0" rIns="0" bIns="0" rtlCol="0" anchor="ctr"/>
          <a:lstStyle/>
          <a:p>
            <a:pPr marL="0" indent="0">
              <a:buNone/>
            </a:pPr>
            <a:r>
              <a:rPr lang="en-US" sz="4000" b="1" dirty="0">
                <a:solidFill>
                  <a:srgbClr val="FAF9F5"/>
                </a:solidFill>
                <a:latin typeface="Test Tiempos Headline Light" pitchFamily="34" charset="0"/>
                <a:ea typeface="Test Tiempos Headline Light" pitchFamily="34" charset="-122"/>
                <a:cs typeface="Test Tiempos Headline Light" pitchFamily="34" charset="-120"/>
              </a:rPr>
              <a:t>Security and access control</a:t>
            </a:r>
            <a:endParaRPr lang="en-US" sz="4000" dirty="0"/>
          </a:p>
        </p:txBody>
      </p:sp>
      <p:sp>
        <p:nvSpPr>
          <p:cNvPr id="4" name="Text 2"/>
          <p:cNvSpPr/>
          <p:nvPr/>
        </p:nvSpPr>
        <p:spPr>
          <a:xfrm>
            <a:off x="640080" y="2926080"/>
            <a:ext cx="5486400" cy="640080"/>
          </a:xfrm>
          <a:prstGeom prst="rect">
            <a:avLst/>
          </a:prstGeom>
          <a:noFill/>
          <a:ln/>
        </p:spPr>
        <p:txBody>
          <a:bodyPr wrap="square" lIns="0" tIns="0" rIns="0" bIns="0" rtlCol="0" anchor="ctr"/>
          <a:lstStyle/>
          <a:p>
            <a:pPr marL="0" indent="0">
              <a:buNone/>
            </a:pPr>
            <a:r>
              <a:rPr lang="en-US" sz="1600" dirty="0">
                <a:solidFill>
                  <a:srgbClr val="B0AEA5"/>
                </a:solidFill>
                <a:latin typeface="Lora" pitchFamily="34" charset="0"/>
                <a:ea typeface="Lora" pitchFamily="34" charset="-122"/>
                <a:cs typeface="Lora" pitchFamily="34" charset="-120"/>
              </a:rPr>
              <a:t>Control who can invoke skills, restrict tool access, configure enterprise policies, and apply permission rules in practice.</a:t>
            </a:r>
            <a:endParaRPr lang="en-US" sz="1600" dirty="0"/>
          </a:p>
        </p:txBody>
      </p:sp>
      <p:sp>
        <p:nvSpPr>
          <p:cNvPr id="5" name="Shape 3"/>
          <p:cNvSpPr/>
          <p:nvPr/>
        </p:nvSpPr>
        <p:spPr>
          <a:xfrm>
            <a:off x="640080" y="3931920"/>
            <a:ext cx="1463040" cy="320040"/>
          </a:xfrm>
          <a:prstGeom prst="roundRect">
            <a:avLst>
              <a:gd name="adj" fmla="val 14286"/>
            </a:avLst>
          </a:prstGeom>
          <a:solidFill>
            <a:srgbClr val="788C5D">
              <a:alpha val="20000"/>
            </a:srgbClr>
          </a:solidFill>
          <a:ln/>
        </p:spPr>
        <p:txBody>
          <a:bodyPr/>
          <a:lstStyle/>
          <a:p>
            <a:endParaRPr lang="en-US"/>
          </a:p>
        </p:txBody>
      </p:sp>
      <p:sp>
        <p:nvSpPr>
          <p:cNvPr id="6" name="Text 4"/>
          <p:cNvSpPr/>
          <p:nvPr/>
        </p:nvSpPr>
        <p:spPr>
          <a:xfrm>
            <a:off x="640080" y="3913632"/>
            <a:ext cx="1463040" cy="365760"/>
          </a:xfrm>
          <a:prstGeom prst="rect">
            <a:avLst/>
          </a:prstGeom>
          <a:noFill/>
          <a:ln/>
        </p:spPr>
        <p:txBody>
          <a:bodyPr wrap="square" lIns="0" tIns="0" rIns="0" bIns="0" rtlCol="0" anchor="ctr"/>
          <a:lstStyle/>
          <a:p>
            <a:pPr marL="0" indent="0" algn="ctr">
              <a:buNone/>
            </a:pPr>
            <a:r>
              <a:rPr lang="en-US" sz="1100" dirty="0">
                <a:solidFill>
                  <a:srgbClr val="788C5D"/>
                </a:solidFill>
                <a:latin typeface="Lora" pitchFamily="34" charset="0"/>
                <a:ea typeface="Lora" pitchFamily="34" charset="-122"/>
                <a:cs typeface="Lora" pitchFamily="34" charset="-120"/>
              </a:rPr>
              <a:t>~10 minutes</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274320"/>
            <a:ext cx="7315200" cy="548640"/>
          </a:xfrm>
          <a:prstGeom prst="rect">
            <a:avLst/>
          </a:prstGeom>
          <a:noFill/>
          <a:ln/>
        </p:spPr>
        <p:txBody>
          <a:bodyPr wrap="square" lIns="0" tIns="0" rIns="0" bIns="0" rtlCol="0" anchor="ctr"/>
          <a:lstStyle/>
          <a:p>
            <a:pPr marL="0" indent="0">
              <a:buNone/>
            </a:pPr>
            <a:r>
              <a:rPr lang="en-US" sz="3000" b="1" dirty="0">
                <a:solidFill>
                  <a:srgbClr val="141413"/>
                </a:solidFill>
                <a:latin typeface="Test Tiempos Headline Light" pitchFamily="34" charset="0"/>
                <a:ea typeface="Test Tiempos Headline Light" pitchFamily="34" charset="-122"/>
                <a:cs typeface="Test Tiempos Headline Light" pitchFamily="34" charset="-120"/>
              </a:rPr>
              <a:t>Invocation control and tool restrictions</a:t>
            </a:r>
            <a:endParaRPr lang="en-US" sz="3000" dirty="0"/>
          </a:p>
        </p:txBody>
      </p:sp>
      <p:sp>
        <p:nvSpPr>
          <p:cNvPr id="3" name="Shape 1"/>
          <p:cNvSpPr/>
          <p:nvPr/>
        </p:nvSpPr>
        <p:spPr>
          <a:xfrm>
            <a:off x="457200" y="1051560"/>
            <a:ext cx="3977640" cy="16916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4" name="Shape 2"/>
          <p:cNvSpPr/>
          <p:nvPr/>
        </p:nvSpPr>
        <p:spPr>
          <a:xfrm>
            <a:off x="457200" y="1051560"/>
            <a:ext cx="3977640" cy="54864"/>
          </a:xfrm>
          <a:prstGeom prst="rect">
            <a:avLst/>
          </a:prstGeom>
          <a:solidFill>
            <a:srgbClr val="8B8CDF"/>
          </a:solidFill>
          <a:ln/>
        </p:spPr>
        <p:txBody>
          <a:bodyPr/>
          <a:lstStyle/>
          <a:p>
            <a:endParaRPr lang="en-US"/>
          </a:p>
        </p:txBody>
      </p:sp>
      <p:sp>
        <p:nvSpPr>
          <p:cNvPr id="6" name="Text 3"/>
          <p:cNvSpPr/>
          <p:nvPr/>
        </p:nvSpPr>
        <p:spPr>
          <a:xfrm>
            <a:off x="1042797" y="1234440"/>
            <a:ext cx="3346323" cy="45720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disable-model-invocation</a:t>
            </a:r>
            <a:endParaRPr lang="en-US" sz="1600" dirty="0"/>
          </a:p>
        </p:txBody>
      </p:sp>
      <p:sp>
        <p:nvSpPr>
          <p:cNvPr id="7" name="Text 4"/>
          <p:cNvSpPr/>
          <p:nvPr/>
        </p:nvSpPr>
        <p:spPr>
          <a:xfrm>
            <a:off x="640080" y="1828800"/>
            <a:ext cx="3566160" cy="777240"/>
          </a:xfrm>
          <a:prstGeom prst="rect">
            <a:avLst/>
          </a:prstGeom>
          <a:noFill/>
          <a:ln/>
        </p:spPr>
        <p:txBody>
          <a:bodyPr wrap="square" lIns="0" tIns="0" rIns="0" bIns="0" rtlCol="0" anchor="ctr"/>
          <a:lstStyle/>
          <a:p>
            <a:pPr marL="0" indent="0">
              <a:buNone/>
            </a:pPr>
            <a:r>
              <a:rPr lang="en-US" sz="1200" dirty="0">
                <a:solidFill>
                  <a:srgbClr val="B0AEA5"/>
                </a:solidFill>
                <a:latin typeface="Lora" pitchFamily="34" charset="0"/>
                <a:ea typeface="Lora" pitchFamily="34" charset="-122"/>
                <a:cs typeface="Lora" pitchFamily="34" charset="-120"/>
              </a:rPr>
              <a:t>Prevents Claude from auto-loading the skill. User must invoke manually via slash command. Use for tasks with side effects like /deploy.</a:t>
            </a:r>
            <a:endParaRPr lang="en-US" sz="1200" dirty="0"/>
          </a:p>
        </p:txBody>
      </p:sp>
      <p:sp>
        <p:nvSpPr>
          <p:cNvPr id="8" name="Shape 5"/>
          <p:cNvSpPr/>
          <p:nvPr/>
        </p:nvSpPr>
        <p:spPr>
          <a:xfrm>
            <a:off x="4709160" y="1051560"/>
            <a:ext cx="3977640" cy="16916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9" name="Shape 6"/>
          <p:cNvSpPr/>
          <p:nvPr/>
        </p:nvSpPr>
        <p:spPr>
          <a:xfrm>
            <a:off x="4709160" y="1051560"/>
            <a:ext cx="3977640" cy="54864"/>
          </a:xfrm>
          <a:prstGeom prst="rect">
            <a:avLst/>
          </a:prstGeom>
          <a:solidFill>
            <a:schemeClr val="accent3"/>
          </a:solidFill>
          <a:ln/>
        </p:spPr>
        <p:txBody>
          <a:bodyPr/>
          <a:lstStyle/>
          <a:p>
            <a:endParaRPr lang="en-US"/>
          </a:p>
        </p:txBody>
      </p:sp>
      <p:sp>
        <p:nvSpPr>
          <p:cNvPr id="11" name="Text 7"/>
          <p:cNvSpPr/>
          <p:nvPr/>
        </p:nvSpPr>
        <p:spPr>
          <a:xfrm>
            <a:off x="5262372" y="1234440"/>
            <a:ext cx="3327908" cy="45720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user-invocable: false</a:t>
            </a:r>
            <a:endParaRPr lang="en-US" sz="1600" dirty="0"/>
          </a:p>
        </p:txBody>
      </p:sp>
      <p:sp>
        <p:nvSpPr>
          <p:cNvPr id="12" name="Text 8"/>
          <p:cNvSpPr/>
          <p:nvPr/>
        </p:nvSpPr>
        <p:spPr>
          <a:xfrm>
            <a:off x="4892040" y="1828800"/>
            <a:ext cx="3566160" cy="777240"/>
          </a:xfrm>
          <a:prstGeom prst="rect">
            <a:avLst/>
          </a:prstGeom>
          <a:noFill/>
          <a:ln/>
        </p:spPr>
        <p:txBody>
          <a:bodyPr wrap="square" lIns="0" tIns="0" rIns="0" bIns="0" rtlCol="0" anchor="ctr"/>
          <a:lstStyle/>
          <a:p>
            <a:pPr marL="0" indent="0">
              <a:buNone/>
            </a:pPr>
            <a:r>
              <a:rPr lang="en-US" sz="1200" dirty="0">
                <a:solidFill>
                  <a:srgbClr val="B0AEA5"/>
                </a:solidFill>
                <a:latin typeface="Lora" pitchFamily="34" charset="0"/>
                <a:ea typeface="Lora" pitchFamily="34" charset="-122"/>
                <a:cs typeface="Lora" pitchFamily="34" charset="-120"/>
              </a:rPr>
              <a:t>Hides from the slash command menu but Claude can still invoke it. Use for background knowledge not actionable as a command.</a:t>
            </a:r>
            <a:endParaRPr lang="en-US" sz="1200" dirty="0"/>
          </a:p>
        </p:txBody>
      </p:sp>
      <p:sp>
        <p:nvSpPr>
          <p:cNvPr id="13" name="Shape 9"/>
          <p:cNvSpPr/>
          <p:nvPr/>
        </p:nvSpPr>
        <p:spPr>
          <a:xfrm>
            <a:off x="457200" y="2971800"/>
            <a:ext cx="3977640" cy="16916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4" name="Shape 10"/>
          <p:cNvSpPr/>
          <p:nvPr/>
        </p:nvSpPr>
        <p:spPr>
          <a:xfrm>
            <a:off x="457200" y="2971800"/>
            <a:ext cx="3977640" cy="54864"/>
          </a:xfrm>
          <a:prstGeom prst="rect">
            <a:avLst/>
          </a:prstGeom>
          <a:solidFill>
            <a:srgbClr val="6A9BCC"/>
          </a:solidFill>
          <a:ln/>
        </p:spPr>
        <p:txBody>
          <a:bodyPr/>
          <a:lstStyle/>
          <a:p>
            <a:endParaRPr lang="en-US"/>
          </a:p>
        </p:txBody>
      </p:sp>
      <p:sp>
        <p:nvSpPr>
          <p:cNvPr id="16" name="Text 11"/>
          <p:cNvSpPr/>
          <p:nvPr/>
        </p:nvSpPr>
        <p:spPr>
          <a:xfrm>
            <a:off x="1078992" y="3154680"/>
            <a:ext cx="3310128" cy="45720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allowed-tools</a:t>
            </a:r>
            <a:endParaRPr lang="en-US" sz="1600" dirty="0"/>
          </a:p>
        </p:txBody>
      </p:sp>
      <p:sp>
        <p:nvSpPr>
          <p:cNvPr id="17" name="Text 12"/>
          <p:cNvSpPr/>
          <p:nvPr/>
        </p:nvSpPr>
        <p:spPr>
          <a:xfrm>
            <a:off x="640080" y="3749040"/>
            <a:ext cx="3566160" cy="777240"/>
          </a:xfrm>
          <a:prstGeom prst="rect">
            <a:avLst/>
          </a:prstGeom>
          <a:noFill/>
          <a:ln/>
        </p:spPr>
        <p:txBody>
          <a:bodyPr wrap="square" lIns="0" tIns="0" rIns="0" bIns="0" rtlCol="0" anchor="ctr"/>
          <a:lstStyle/>
          <a:p>
            <a:pPr marL="0" indent="0">
              <a:buNone/>
            </a:pPr>
            <a:r>
              <a:rPr lang="en-US" sz="1200" dirty="0">
                <a:solidFill>
                  <a:srgbClr val="B0AEA5"/>
                </a:solidFill>
                <a:latin typeface="Lora" pitchFamily="34" charset="0"/>
                <a:ea typeface="Lora" pitchFamily="34" charset="-122"/>
                <a:cs typeface="Lora" pitchFamily="34" charset="-120"/>
              </a:rPr>
              <a:t>Limits which tools Claude can use during skill execution. Create read-only modes, sandboxed environments, or constrained workflows.</a:t>
            </a:r>
            <a:endParaRPr lang="en-US" sz="1200" dirty="0"/>
          </a:p>
        </p:txBody>
      </p:sp>
      <p:sp>
        <p:nvSpPr>
          <p:cNvPr id="18" name="Shape 13"/>
          <p:cNvSpPr/>
          <p:nvPr/>
        </p:nvSpPr>
        <p:spPr>
          <a:xfrm>
            <a:off x="4709160" y="2971800"/>
            <a:ext cx="3977640" cy="16916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9" name="Shape 14"/>
          <p:cNvSpPr/>
          <p:nvPr/>
        </p:nvSpPr>
        <p:spPr>
          <a:xfrm>
            <a:off x="4709160" y="2971800"/>
            <a:ext cx="3977640" cy="54864"/>
          </a:xfrm>
          <a:prstGeom prst="rect">
            <a:avLst/>
          </a:prstGeom>
          <a:solidFill>
            <a:schemeClr val="accent5"/>
          </a:solidFill>
          <a:ln/>
        </p:spPr>
        <p:txBody>
          <a:bodyPr/>
          <a:lstStyle/>
          <a:p>
            <a:endParaRPr lang="en-US"/>
          </a:p>
        </p:txBody>
      </p:sp>
      <p:sp>
        <p:nvSpPr>
          <p:cNvPr id="21" name="Text 15"/>
          <p:cNvSpPr/>
          <p:nvPr/>
        </p:nvSpPr>
        <p:spPr>
          <a:xfrm>
            <a:off x="5330952" y="3154680"/>
            <a:ext cx="3310128" cy="45720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Permission rules</a:t>
            </a:r>
            <a:endParaRPr lang="en-US" sz="1600" dirty="0"/>
          </a:p>
        </p:txBody>
      </p:sp>
      <p:sp>
        <p:nvSpPr>
          <p:cNvPr id="22" name="Text 16"/>
          <p:cNvSpPr/>
          <p:nvPr/>
        </p:nvSpPr>
        <p:spPr>
          <a:xfrm>
            <a:off x="4892040" y="3749040"/>
            <a:ext cx="3566160" cy="777240"/>
          </a:xfrm>
          <a:prstGeom prst="rect">
            <a:avLst/>
          </a:prstGeom>
          <a:noFill/>
          <a:ln/>
        </p:spPr>
        <p:txBody>
          <a:bodyPr wrap="square" lIns="0" tIns="0" rIns="0" bIns="0" rtlCol="0" anchor="ctr"/>
          <a:lstStyle/>
          <a:p>
            <a:pPr marL="0" indent="0">
              <a:buNone/>
            </a:pPr>
            <a:r>
              <a:rPr lang="en-US" sz="1200" dirty="0">
                <a:solidFill>
                  <a:srgbClr val="B0AEA5"/>
                </a:solidFill>
                <a:latin typeface="Lora" pitchFamily="34" charset="0"/>
                <a:ea typeface="Lora" pitchFamily="34" charset="-122"/>
                <a:cs typeface="Lora" pitchFamily="34" charset="-120"/>
              </a:rPr>
              <a:t>Control skill access via /permissions: Skill(name) for exact match, Skill(name *) for prefix matching. Takes precedence over frontmatter.</a:t>
            </a:r>
            <a:endParaRPr lang="en-US" sz="1200" dirty="0"/>
          </a:p>
        </p:txBody>
      </p:sp>
      <p:pic>
        <p:nvPicPr>
          <p:cNvPr id="25" name="Picture 24" descr="A purple and black logo  AI-generated content may be incorrect.">
            <a:extLst>
              <a:ext uri="{FF2B5EF4-FFF2-40B4-BE49-F238E27FC236}">
                <a16:creationId xmlns:a16="http://schemas.microsoft.com/office/drawing/2014/main" id="{FB21F7C6-8317-3594-7C4A-DAF5FDD25D63}"/>
              </a:ext>
            </a:extLst>
          </p:cNvPr>
          <p:cNvPicPr>
            <a:picLocks noChangeAspect="1"/>
          </p:cNvPicPr>
          <p:nvPr/>
        </p:nvPicPr>
        <p:blipFill>
          <a:blip r:embed="rId3"/>
          <a:stretch>
            <a:fillRect/>
          </a:stretch>
        </p:blipFill>
        <p:spPr>
          <a:xfrm>
            <a:off x="640080" y="1338834"/>
            <a:ext cx="256032" cy="256032"/>
          </a:xfrm>
          <a:prstGeom prst="rect">
            <a:avLst/>
          </a:prstGeom>
        </p:spPr>
      </p:pic>
      <p:pic>
        <p:nvPicPr>
          <p:cNvPr id="27" name="Picture 26" descr="A logo of a network  AI-generated content may be incorrect.">
            <a:extLst>
              <a:ext uri="{FF2B5EF4-FFF2-40B4-BE49-F238E27FC236}">
                <a16:creationId xmlns:a16="http://schemas.microsoft.com/office/drawing/2014/main" id="{8B4B857E-4628-0F54-6C1C-C75FD9BDCB60}"/>
              </a:ext>
            </a:extLst>
          </p:cNvPr>
          <p:cNvPicPr>
            <a:picLocks noChangeAspect="1"/>
          </p:cNvPicPr>
          <p:nvPr/>
        </p:nvPicPr>
        <p:blipFill>
          <a:blip r:embed="rId4"/>
          <a:stretch>
            <a:fillRect/>
          </a:stretch>
        </p:blipFill>
        <p:spPr>
          <a:xfrm>
            <a:off x="4892040" y="3266567"/>
            <a:ext cx="256032" cy="256032"/>
          </a:xfrm>
          <a:prstGeom prst="rect">
            <a:avLst/>
          </a:prstGeom>
        </p:spPr>
      </p:pic>
      <p:pic>
        <p:nvPicPr>
          <p:cNvPr id="29" name="Picture 28" descr="A blue and black logo  AI-generated content may be incorrect.">
            <a:extLst>
              <a:ext uri="{FF2B5EF4-FFF2-40B4-BE49-F238E27FC236}">
                <a16:creationId xmlns:a16="http://schemas.microsoft.com/office/drawing/2014/main" id="{F0DB1518-E8B2-AD73-D1BB-51AE1A4C91C1}"/>
              </a:ext>
            </a:extLst>
          </p:cNvPr>
          <p:cNvPicPr>
            <a:picLocks noChangeAspect="1"/>
          </p:cNvPicPr>
          <p:nvPr/>
        </p:nvPicPr>
        <p:blipFill>
          <a:blip r:embed="rId5"/>
          <a:stretch>
            <a:fillRect/>
          </a:stretch>
        </p:blipFill>
        <p:spPr>
          <a:xfrm>
            <a:off x="640080" y="3255264"/>
            <a:ext cx="256032" cy="256032"/>
          </a:xfrm>
          <a:prstGeom prst="rect">
            <a:avLst/>
          </a:prstGeom>
        </p:spPr>
      </p:pic>
      <p:pic>
        <p:nvPicPr>
          <p:cNvPr id="31" name="Picture 30" descr="A magnifying glass in a circle  AI-generated content may be incorrect.">
            <a:extLst>
              <a:ext uri="{FF2B5EF4-FFF2-40B4-BE49-F238E27FC236}">
                <a16:creationId xmlns:a16="http://schemas.microsoft.com/office/drawing/2014/main" id="{04B4D812-9AF8-BAC7-990F-8A55C46B92A6}"/>
              </a:ext>
            </a:extLst>
          </p:cNvPr>
          <p:cNvPicPr>
            <a:picLocks noChangeAspect="1"/>
          </p:cNvPicPr>
          <p:nvPr/>
        </p:nvPicPr>
        <p:blipFill>
          <a:blip r:embed="rId6"/>
          <a:stretch>
            <a:fillRect/>
          </a:stretch>
        </p:blipFill>
        <p:spPr>
          <a:xfrm>
            <a:off x="4855845" y="1347724"/>
            <a:ext cx="259842" cy="25984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640080" y="274320"/>
            <a:ext cx="6995160" cy="502920"/>
          </a:xfrm>
          <a:prstGeom prst="rect">
            <a:avLst/>
          </a:prstGeom>
          <a:noFill/>
          <a:ln/>
        </p:spPr>
        <p:txBody>
          <a:bodyPr wrap="square" lIns="0" tIns="0" rIns="0" bIns="0" rtlCol="0" anchor="ctr"/>
          <a:lstStyle/>
          <a:p>
            <a:pPr marL="0" indent="0">
              <a:buNone/>
            </a:pPr>
            <a:r>
              <a:rPr lang="en-US" sz="2800" b="1" dirty="0">
                <a:solidFill>
                  <a:srgbClr val="141413"/>
                </a:solidFill>
                <a:latin typeface="Test Tiempos Headline Light" pitchFamily="34" charset="0"/>
                <a:ea typeface="Test Tiempos Headline Light" pitchFamily="34" charset="-122"/>
                <a:cs typeface="Test Tiempos Headline Light" pitchFamily="34" charset="-120"/>
              </a:rPr>
              <a:t>Permission rules in practice</a:t>
            </a:r>
            <a:endParaRPr lang="en-US" sz="2800" dirty="0"/>
          </a:p>
        </p:txBody>
      </p:sp>
      <p:sp>
        <p:nvSpPr>
          <p:cNvPr id="4" name="Shape 1"/>
          <p:cNvSpPr/>
          <p:nvPr/>
        </p:nvSpPr>
        <p:spPr>
          <a:xfrm>
            <a:off x="640080" y="1005840"/>
            <a:ext cx="7863840" cy="2926080"/>
          </a:xfrm>
          <a:prstGeom prst="rect">
            <a:avLst/>
          </a:prstGeom>
          <a:solidFill>
            <a:srgbClr val="1E1E1E"/>
          </a:solidFill>
          <a:ln/>
          <a:effectLst>
            <a:outerShdw blurRad="76200" dist="25400" dir="8100000" algn="bl" rotWithShape="0">
              <a:srgbClr val="000000">
                <a:alpha val="12000"/>
              </a:srgbClr>
            </a:outerShdw>
          </a:effectLst>
        </p:spPr>
        <p:txBody>
          <a:bodyPr/>
          <a:lstStyle/>
          <a:p>
            <a:endParaRPr lang="en-US"/>
          </a:p>
        </p:txBody>
      </p:sp>
      <p:sp>
        <p:nvSpPr>
          <p:cNvPr id="5" name="Shape 2"/>
          <p:cNvSpPr/>
          <p:nvPr/>
        </p:nvSpPr>
        <p:spPr>
          <a:xfrm>
            <a:off x="640080" y="1005840"/>
            <a:ext cx="7863840" cy="320040"/>
          </a:xfrm>
          <a:prstGeom prst="rect">
            <a:avLst/>
          </a:prstGeom>
          <a:solidFill>
            <a:srgbClr val="2D2D2D"/>
          </a:solidFill>
          <a:ln/>
        </p:spPr>
        <p:txBody>
          <a:bodyPr/>
          <a:lstStyle/>
          <a:p>
            <a:endParaRPr lang="en-US"/>
          </a:p>
        </p:txBody>
      </p:sp>
      <p:sp>
        <p:nvSpPr>
          <p:cNvPr id="6" name="Shape 3"/>
          <p:cNvSpPr/>
          <p:nvPr/>
        </p:nvSpPr>
        <p:spPr>
          <a:xfrm>
            <a:off x="822960" y="1097280"/>
            <a:ext cx="118872" cy="118872"/>
          </a:xfrm>
          <a:prstGeom prst="ellipse">
            <a:avLst/>
          </a:prstGeom>
          <a:solidFill>
            <a:srgbClr val="FF5F56"/>
          </a:solidFill>
          <a:ln/>
        </p:spPr>
        <p:txBody>
          <a:bodyPr/>
          <a:lstStyle/>
          <a:p>
            <a:endParaRPr lang="en-US"/>
          </a:p>
        </p:txBody>
      </p:sp>
      <p:sp>
        <p:nvSpPr>
          <p:cNvPr id="7" name="Shape 4"/>
          <p:cNvSpPr/>
          <p:nvPr/>
        </p:nvSpPr>
        <p:spPr>
          <a:xfrm>
            <a:off x="1005840" y="1097280"/>
            <a:ext cx="118872" cy="118872"/>
          </a:xfrm>
          <a:prstGeom prst="ellipse">
            <a:avLst/>
          </a:prstGeom>
          <a:solidFill>
            <a:srgbClr val="FFBD2E"/>
          </a:solidFill>
          <a:ln/>
        </p:spPr>
        <p:txBody>
          <a:bodyPr/>
          <a:lstStyle/>
          <a:p>
            <a:endParaRPr lang="en-US"/>
          </a:p>
        </p:txBody>
      </p:sp>
      <p:sp>
        <p:nvSpPr>
          <p:cNvPr id="8" name="Shape 5"/>
          <p:cNvSpPr/>
          <p:nvPr/>
        </p:nvSpPr>
        <p:spPr>
          <a:xfrm>
            <a:off x="1188720" y="1097280"/>
            <a:ext cx="118872" cy="118872"/>
          </a:xfrm>
          <a:prstGeom prst="ellipse">
            <a:avLst/>
          </a:prstGeom>
          <a:solidFill>
            <a:srgbClr val="27C93F"/>
          </a:solidFill>
          <a:ln/>
        </p:spPr>
        <p:txBody>
          <a:bodyPr/>
          <a:lstStyle/>
          <a:p>
            <a:endParaRPr lang="en-US"/>
          </a:p>
        </p:txBody>
      </p:sp>
      <p:sp>
        <p:nvSpPr>
          <p:cNvPr id="9" name="Text 6"/>
          <p:cNvSpPr/>
          <p:nvPr/>
        </p:nvSpPr>
        <p:spPr>
          <a:xfrm>
            <a:off x="1463040" y="1005840"/>
            <a:ext cx="3657600" cy="320040"/>
          </a:xfrm>
          <a:prstGeom prst="rect">
            <a:avLst/>
          </a:prstGeom>
          <a:noFill/>
          <a:ln/>
        </p:spPr>
        <p:txBody>
          <a:bodyPr wrap="square" lIns="0" tIns="0" rIns="0" bIns="0" rtlCol="0" anchor="ctr"/>
          <a:lstStyle/>
          <a:p>
            <a:pPr marL="0" indent="0">
              <a:buNone/>
            </a:pPr>
            <a:r>
              <a:rPr lang="en-US" sz="1100" dirty="0">
                <a:solidFill>
                  <a:srgbClr val="B0AEA5"/>
                </a:solidFill>
                <a:latin typeface="Courier New" pitchFamily="34" charset="0"/>
                <a:ea typeface="Courier New" pitchFamily="34" charset="-122"/>
                <a:cs typeface="Courier New" pitchFamily="34" charset="-120"/>
              </a:rPr>
              <a:t>~/.claude/skills/explain-code/</a:t>
            </a:r>
            <a:endParaRPr lang="en-US" sz="1100" dirty="0"/>
          </a:p>
        </p:txBody>
      </p:sp>
      <p:sp>
        <p:nvSpPr>
          <p:cNvPr id="10" name="Text 7"/>
          <p:cNvSpPr/>
          <p:nvPr/>
        </p:nvSpPr>
        <p:spPr>
          <a:xfrm>
            <a:off x="822960" y="1463040"/>
            <a:ext cx="7498080" cy="2286000"/>
          </a:xfrm>
          <a:prstGeom prst="rect">
            <a:avLst/>
          </a:prstGeom>
          <a:noFill/>
          <a:ln/>
        </p:spPr>
        <p:txBody>
          <a:bodyPr wrap="square" lIns="0" tIns="0" rIns="0" bIns="0" rtlCol="0" anchor="t"/>
          <a:lstStyle/>
          <a:p>
            <a:pPr marL="0" indent="0">
              <a:buNone/>
            </a:pPr>
            <a:r>
              <a:rPr lang="en-US" sz="1300" dirty="0">
                <a:solidFill>
                  <a:srgbClr val="D4D4D4"/>
                </a:solidFill>
                <a:latin typeface="Courier New" pitchFamily="34" charset="0"/>
                <a:ea typeface="Courier New" pitchFamily="34" charset="-122"/>
                <a:cs typeface="Courier New" pitchFamily="34" charset="-120"/>
              </a:rPr>
              <a:t># Before: skill can use any tool</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name: review-code</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description: Review code for quality</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buNone/>
            </a:pP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 After: skill restricted to read-only tools</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name: review-code</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description: Review code for quality</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allowed-tools: read, glob, grep</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a:t>
            </a:r>
            <a:endParaRPr lang="en-US" sz="1300" dirty="0"/>
          </a:p>
        </p:txBody>
      </p:sp>
      <p:sp>
        <p:nvSpPr>
          <p:cNvPr id="11" name="Shape 8"/>
          <p:cNvSpPr/>
          <p:nvPr/>
        </p:nvSpPr>
        <p:spPr>
          <a:xfrm>
            <a:off x="640080" y="4160520"/>
            <a:ext cx="7863840" cy="640080"/>
          </a:xfrm>
          <a:prstGeom prst="rect">
            <a:avLst/>
          </a:prstGeom>
          <a:solidFill>
            <a:srgbClr val="788C5D">
              <a:alpha val="12000"/>
            </a:srgbClr>
          </a:solidFill>
          <a:ln/>
        </p:spPr>
        <p:txBody>
          <a:bodyPr/>
          <a:lstStyle/>
          <a:p>
            <a:endParaRPr lang="en-US"/>
          </a:p>
        </p:txBody>
      </p:sp>
      <p:sp>
        <p:nvSpPr>
          <p:cNvPr id="12" name="Text 9"/>
          <p:cNvSpPr/>
          <p:nvPr/>
        </p:nvSpPr>
        <p:spPr>
          <a:xfrm>
            <a:off x="868680" y="4160520"/>
            <a:ext cx="7498080" cy="640080"/>
          </a:xfrm>
          <a:prstGeom prst="rect">
            <a:avLst/>
          </a:prstGeom>
          <a:noFill/>
          <a:ln/>
        </p:spPr>
        <p:txBody>
          <a:bodyPr wrap="square" lIns="0" tIns="0" rIns="0" bIns="0" rtlCol="0" anchor="ctr"/>
          <a:lstStyle/>
          <a:p>
            <a:pPr marL="0" indent="0">
              <a:buNone/>
            </a:pPr>
            <a:r>
              <a:rPr lang="en-US" sz="1300" dirty="0">
                <a:solidFill>
                  <a:srgbClr val="141413"/>
                </a:solidFill>
                <a:latin typeface="Lora" pitchFamily="34" charset="0"/>
                <a:ea typeface="Lora" pitchFamily="34" charset="-122"/>
                <a:cs typeface="Lora" pitchFamily="34" charset="-120"/>
              </a:rPr>
              <a:t>Adding allowed-tools creates a whitelist. Claude can only use listed tools during this skill's execution. Combine with /permissions rules for layered control.</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640080" y="274320"/>
            <a:ext cx="6995160" cy="502920"/>
          </a:xfrm>
          <a:prstGeom prst="rect">
            <a:avLst/>
          </a:prstGeom>
          <a:noFill/>
          <a:ln/>
        </p:spPr>
        <p:txBody>
          <a:bodyPr wrap="square" lIns="0" tIns="0" rIns="0" bIns="0" rtlCol="0" anchor="ctr"/>
          <a:lstStyle/>
          <a:p>
            <a:pPr marL="0" indent="0">
              <a:buNone/>
            </a:pPr>
            <a:r>
              <a:rPr lang="en-US" sz="2800" b="1" dirty="0">
                <a:solidFill>
                  <a:srgbClr val="141413"/>
                </a:solidFill>
                <a:latin typeface="Test Tiempos Headline Light" pitchFamily="34" charset="0"/>
                <a:ea typeface="Test Tiempos Headline Light" pitchFamily="34" charset="-122"/>
                <a:cs typeface="Test Tiempos Headline Light" pitchFamily="34" charset="-120"/>
              </a:rPr>
              <a:t>Enterprise deployment and scripts</a:t>
            </a:r>
            <a:endParaRPr lang="en-US" sz="2800" dirty="0"/>
          </a:p>
        </p:txBody>
      </p:sp>
      <p:sp>
        <p:nvSpPr>
          <p:cNvPr id="4" name="Shape 1"/>
          <p:cNvSpPr/>
          <p:nvPr/>
        </p:nvSpPr>
        <p:spPr>
          <a:xfrm>
            <a:off x="640080" y="1005840"/>
            <a:ext cx="7863840" cy="2926080"/>
          </a:xfrm>
          <a:prstGeom prst="rect">
            <a:avLst/>
          </a:prstGeom>
          <a:solidFill>
            <a:srgbClr val="1E1E1E"/>
          </a:solidFill>
          <a:ln/>
          <a:effectLst>
            <a:outerShdw blurRad="76200" dist="25400" dir="8100000" algn="bl" rotWithShape="0">
              <a:srgbClr val="000000">
                <a:alpha val="12000"/>
              </a:srgbClr>
            </a:outerShdw>
          </a:effectLst>
        </p:spPr>
        <p:txBody>
          <a:bodyPr/>
          <a:lstStyle/>
          <a:p>
            <a:endParaRPr lang="en-US"/>
          </a:p>
        </p:txBody>
      </p:sp>
      <p:sp>
        <p:nvSpPr>
          <p:cNvPr id="5" name="Shape 2"/>
          <p:cNvSpPr/>
          <p:nvPr/>
        </p:nvSpPr>
        <p:spPr>
          <a:xfrm>
            <a:off x="640080" y="1005840"/>
            <a:ext cx="7863840" cy="320040"/>
          </a:xfrm>
          <a:prstGeom prst="rect">
            <a:avLst/>
          </a:prstGeom>
          <a:solidFill>
            <a:srgbClr val="2D2D2D"/>
          </a:solidFill>
          <a:ln/>
        </p:spPr>
        <p:txBody>
          <a:bodyPr/>
          <a:lstStyle/>
          <a:p>
            <a:endParaRPr lang="en-US"/>
          </a:p>
        </p:txBody>
      </p:sp>
      <p:sp>
        <p:nvSpPr>
          <p:cNvPr id="6" name="Shape 3"/>
          <p:cNvSpPr/>
          <p:nvPr/>
        </p:nvSpPr>
        <p:spPr>
          <a:xfrm>
            <a:off x="822960" y="1097280"/>
            <a:ext cx="118872" cy="118872"/>
          </a:xfrm>
          <a:prstGeom prst="ellipse">
            <a:avLst/>
          </a:prstGeom>
          <a:solidFill>
            <a:srgbClr val="FF5F56"/>
          </a:solidFill>
          <a:ln/>
        </p:spPr>
        <p:txBody>
          <a:bodyPr/>
          <a:lstStyle/>
          <a:p>
            <a:endParaRPr lang="en-US"/>
          </a:p>
        </p:txBody>
      </p:sp>
      <p:sp>
        <p:nvSpPr>
          <p:cNvPr id="7" name="Shape 4"/>
          <p:cNvSpPr/>
          <p:nvPr/>
        </p:nvSpPr>
        <p:spPr>
          <a:xfrm>
            <a:off x="1005840" y="1097280"/>
            <a:ext cx="118872" cy="118872"/>
          </a:xfrm>
          <a:prstGeom prst="ellipse">
            <a:avLst/>
          </a:prstGeom>
          <a:solidFill>
            <a:srgbClr val="FFBD2E"/>
          </a:solidFill>
          <a:ln/>
        </p:spPr>
        <p:txBody>
          <a:bodyPr/>
          <a:lstStyle/>
          <a:p>
            <a:endParaRPr lang="en-US"/>
          </a:p>
        </p:txBody>
      </p:sp>
      <p:sp>
        <p:nvSpPr>
          <p:cNvPr id="8" name="Shape 5"/>
          <p:cNvSpPr/>
          <p:nvPr/>
        </p:nvSpPr>
        <p:spPr>
          <a:xfrm>
            <a:off x="1188720" y="1097280"/>
            <a:ext cx="118872" cy="118872"/>
          </a:xfrm>
          <a:prstGeom prst="ellipse">
            <a:avLst/>
          </a:prstGeom>
          <a:solidFill>
            <a:srgbClr val="27C93F"/>
          </a:solidFill>
          <a:ln/>
        </p:spPr>
        <p:txBody>
          <a:bodyPr/>
          <a:lstStyle/>
          <a:p>
            <a:endParaRPr lang="en-US"/>
          </a:p>
        </p:txBody>
      </p:sp>
      <p:sp>
        <p:nvSpPr>
          <p:cNvPr id="9" name="Text 6"/>
          <p:cNvSpPr/>
          <p:nvPr/>
        </p:nvSpPr>
        <p:spPr>
          <a:xfrm>
            <a:off x="1463040" y="1005840"/>
            <a:ext cx="3657600" cy="320040"/>
          </a:xfrm>
          <a:prstGeom prst="rect">
            <a:avLst/>
          </a:prstGeom>
          <a:noFill/>
          <a:ln/>
        </p:spPr>
        <p:txBody>
          <a:bodyPr wrap="square" lIns="0" tIns="0" rIns="0" bIns="0" rtlCol="0" anchor="ctr"/>
          <a:lstStyle/>
          <a:p>
            <a:pPr marL="0" indent="0">
              <a:buNone/>
            </a:pPr>
            <a:r>
              <a:rPr lang="en-US" sz="1100" dirty="0">
                <a:solidFill>
                  <a:srgbClr val="B0AEA5"/>
                </a:solidFill>
                <a:latin typeface="Courier New" pitchFamily="34" charset="0"/>
                <a:ea typeface="Courier New" pitchFamily="34" charset="-122"/>
                <a:cs typeface="Courier New" pitchFamily="34" charset="-120"/>
              </a:rPr>
              <a:t>managed-settings.json</a:t>
            </a:r>
            <a:endParaRPr lang="en-US" sz="1100" dirty="0"/>
          </a:p>
        </p:txBody>
      </p:sp>
      <p:sp>
        <p:nvSpPr>
          <p:cNvPr id="10" name="Text 7"/>
          <p:cNvSpPr/>
          <p:nvPr/>
        </p:nvSpPr>
        <p:spPr>
          <a:xfrm>
            <a:off x="822960" y="1463040"/>
            <a:ext cx="7498080" cy="2286000"/>
          </a:xfrm>
          <a:prstGeom prst="rect">
            <a:avLst/>
          </a:prstGeom>
          <a:noFill/>
          <a:ln/>
        </p:spPr>
        <p:txBody>
          <a:bodyPr wrap="square" lIns="0" tIns="0" rIns="0" bIns="0" rtlCol="0" anchor="t"/>
          <a:lstStyle/>
          <a:p>
            <a:pPr marL="0" indent="0">
              <a:buNone/>
            </a:pP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  "skills": {</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    "code-review": { ... },</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    "security-scan": { ... }</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  },</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  "strictKnownMarketplaces": [</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    { "source": "github", ... }</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  ]</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a:t>
            </a:r>
            <a:endParaRPr lang="en-US" sz="1300" dirty="0"/>
          </a:p>
        </p:txBody>
      </p:sp>
      <p:sp>
        <p:nvSpPr>
          <p:cNvPr id="11" name="Shape 8"/>
          <p:cNvSpPr/>
          <p:nvPr/>
        </p:nvSpPr>
        <p:spPr>
          <a:xfrm>
            <a:off x="640080" y="4160520"/>
            <a:ext cx="7863840" cy="640080"/>
          </a:xfrm>
          <a:prstGeom prst="rect">
            <a:avLst/>
          </a:prstGeom>
          <a:solidFill>
            <a:srgbClr val="788C5D">
              <a:alpha val="12000"/>
            </a:srgbClr>
          </a:solidFill>
          <a:ln/>
        </p:spPr>
        <p:txBody>
          <a:bodyPr/>
          <a:lstStyle/>
          <a:p>
            <a:endParaRPr lang="en-US"/>
          </a:p>
        </p:txBody>
      </p:sp>
      <p:sp>
        <p:nvSpPr>
          <p:cNvPr id="12" name="Text 9"/>
          <p:cNvSpPr/>
          <p:nvPr/>
        </p:nvSpPr>
        <p:spPr>
          <a:xfrm>
            <a:off x="868680" y="4160520"/>
            <a:ext cx="7498080" cy="640080"/>
          </a:xfrm>
          <a:prstGeom prst="rect">
            <a:avLst/>
          </a:prstGeom>
          <a:noFill/>
          <a:ln/>
        </p:spPr>
        <p:txBody>
          <a:bodyPr wrap="square" lIns="0" tIns="0" rIns="0" bIns="0" rtlCol="0" anchor="ctr"/>
          <a:lstStyle/>
          <a:p>
            <a:pPr marL="0" indent="0">
              <a:buNone/>
            </a:pPr>
            <a:r>
              <a:rPr lang="en-US" sz="1300" dirty="0">
                <a:solidFill>
                  <a:srgbClr val="141413"/>
                </a:solidFill>
                <a:latin typeface="Lora" pitchFamily="34" charset="0"/>
                <a:ea typeface="Lora" pitchFamily="34" charset="-122"/>
                <a:cs typeface="Lora" pitchFamily="34" charset="-120"/>
              </a:rPr>
              <a:t>Enterprise skills override all personal/project skills. Script output counts toward tokens but contents do not load into context.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nvSpPr>
        <p:spPr>
          <a:xfrm>
            <a:off x="640079" y="182880"/>
            <a:ext cx="6377169" cy="548640"/>
          </a:xfrm>
          <a:prstGeom prst="rect">
            <a:avLst/>
          </a:prstGeom>
          <a:noFill/>
          <a:ln/>
        </p:spPr>
        <p:txBody>
          <a:bodyPr wrap="square" lIns="0" tIns="0" rIns="0" bIns="0" rtlCol="0" anchor="ctr"/>
          <a:lstStyle/>
          <a:p>
            <a:pPr marL="0" indent="0">
              <a:buNone/>
            </a:pPr>
            <a:r>
              <a:rPr lang="en-US" sz="2800" b="1" dirty="0">
                <a:solidFill>
                  <a:srgbClr val="141413"/>
                </a:solidFill>
                <a:latin typeface="Test Tiempos Headline Light" pitchFamily="34" charset="0"/>
                <a:ea typeface="Test Tiempos Headline Light" pitchFamily="34" charset="-122"/>
                <a:cs typeface="Test Tiempos Headline Light" pitchFamily="34" charset="-120"/>
              </a:rPr>
              <a:t>Add security controls to your skill</a:t>
            </a:r>
            <a:endParaRPr lang="en-US" sz="2800" dirty="0"/>
          </a:p>
        </p:txBody>
      </p:sp>
      <p:sp>
        <p:nvSpPr>
          <p:cNvPr id="7" name="Shape 4"/>
          <p:cNvSpPr/>
          <p:nvPr/>
        </p:nvSpPr>
        <p:spPr>
          <a:xfrm>
            <a:off x="642004" y="1630509"/>
            <a:ext cx="5303520" cy="731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8" name="Shape 5"/>
          <p:cNvSpPr/>
          <p:nvPr/>
        </p:nvSpPr>
        <p:spPr>
          <a:xfrm>
            <a:off x="642004" y="1630509"/>
            <a:ext cx="54864" cy="731520"/>
          </a:xfrm>
          <a:prstGeom prst="rect">
            <a:avLst/>
          </a:prstGeom>
          <a:solidFill>
            <a:schemeClr val="accent2"/>
          </a:solidFill>
          <a:ln/>
        </p:spPr>
        <p:txBody>
          <a:bodyPr/>
          <a:lstStyle/>
          <a:p>
            <a:endParaRPr lang="en-US">
              <a:solidFill>
                <a:schemeClr val="accent2"/>
              </a:solidFill>
            </a:endParaRPr>
          </a:p>
        </p:txBody>
      </p:sp>
      <p:sp>
        <p:nvSpPr>
          <p:cNvPr id="9" name="Text 6"/>
          <p:cNvSpPr/>
          <p:nvPr/>
        </p:nvSpPr>
        <p:spPr>
          <a:xfrm>
            <a:off x="870604" y="1630509"/>
            <a:ext cx="914400" cy="731520"/>
          </a:xfrm>
          <a:prstGeom prst="rect">
            <a:avLst/>
          </a:prstGeom>
          <a:noFill/>
          <a:ln/>
        </p:spPr>
        <p:txBody>
          <a:bodyPr wrap="square" lIns="0" tIns="0" rIns="0" bIns="0" rtlCol="0" anchor="ctr"/>
          <a:lstStyle/>
          <a:p>
            <a:pPr marL="0" indent="0">
              <a:buNone/>
            </a:pPr>
            <a:r>
              <a:rPr lang="en-US" sz="1300" b="1" dirty="0">
                <a:solidFill>
                  <a:schemeClr val="accent2"/>
                </a:solidFill>
                <a:latin typeface="Lora" pitchFamily="34" charset="0"/>
                <a:ea typeface="Lora" pitchFamily="34" charset="-122"/>
                <a:cs typeface="Lora" pitchFamily="34" charset="-120"/>
              </a:rPr>
              <a:t>Task 1:</a:t>
            </a:r>
            <a:endParaRPr lang="en-US" sz="1300" dirty="0">
              <a:solidFill>
                <a:schemeClr val="accent2"/>
              </a:solidFill>
            </a:endParaRPr>
          </a:p>
        </p:txBody>
      </p:sp>
      <p:sp>
        <p:nvSpPr>
          <p:cNvPr id="10" name="Text 7"/>
          <p:cNvSpPr/>
          <p:nvPr/>
        </p:nvSpPr>
        <p:spPr>
          <a:xfrm>
            <a:off x="1594904" y="1721949"/>
            <a:ext cx="4259179" cy="548640"/>
          </a:xfrm>
          <a:prstGeom prst="rect">
            <a:avLst/>
          </a:prstGeom>
          <a:noFill/>
          <a:ln/>
        </p:spPr>
        <p:txBody>
          <a:bodyPr wrap="square" lIns="0" tIns="0" rIns="0" bIns="0" rtlCol="0" anchor="ctr"/>
          <a:lstStyle/>
          <a:p>
            <a:pPr marL="0" indent="0">
              <a:buNone/>
            </a:pPr>
            <a:r>
              <a:rPr lang="en-US" sz="1300" dirty="0">
                <a:solidFill>
                  <a:srgbClr val="141413"/>
                </a:solidFill>
                <a:latin typeface="Lora" pitchFamily="34" charset="0"/>
                <a:ea typeface="Lora" pitchFamily="34" charset="-122"/>
                <a:cs typeface="Lora" pitchFamily="34" charset="-120"/>
              </a:rPr>
              <a:t>Add allowed-tools: Read, Glob, Grep to frontmatter</a:t>
            </a:r>
            <a:endParaRPr lang="en-US" sz="1300" dirty="0"/>
          </a:p>
        </p:txBody>
      </p:sp>
      <p:sp>
        <p:nvSpPr>
          <p:cNvPr id="11" name="Shape 8"/>
          <p:cNvSpPr/>
          <p:nvPr/>
        </p:nvSpPr>
        <p:spPr>
          <a:xfrm>
            <a:off x="642004" y="2602059"/>
            <a:ext cx="5303520" cy="731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2" name="Shape 9"/>
          <p:cNvSpPr/>
          <p:nvPr/>
        </p:nvSpPr>
        <p:spPr>
          <a:xfrm>
            <a:off x="640079" y="2602059"/>
            <a:ext cx="54864" cy="731520"/>
          </a:xfrm>
          <a:prstGeom prst="rect">
            <a:avLst/>
          </a:prstGeom>
          <a:solidFill>
            <a:schemeClr val="accent2"/>
          </a:solidFill>
          <a:ln/>
        </p:spPr>
        <p:txBody>
          <a:bodyPr/>
          <a:lstStyle/>
          <a:p>
            <a:endParaRPr lang="en-US">
              <a:solidFill>
                <a:schemeClr val="accent2"/>
              </a:solidFill>
            </a:endParaRPr>
          </a:p>
        </p:txBody>
      </p:sp>
      <p:sp>
        <p:nvSpPr>
          <p:cNvPr id="13" name="Text 10"/>
          <p:cNvSpPr/>
          <p:nvPr/>
        </p:nvSpPr>
        <p:spPr>
          <a:xfrm>
            <a:off x="822959" y="2602059"/>
            <a:ext cx="914400" cy="731520"/>
          </a:xfrm>
          <a:prstGeom prst="rect">
            <a:avLst/>
          </a:prstGeom>
          <a:noFill/>
          <a:ln/>
        </p:spPr>
        <p:txBody>
          <a:bodyPr wrap="square" lIns="0" tIns="0" rIns="0" bIns="0" rtlCol="0" anchor="ctr"/>
          <a:lstStyle/>
          <a:p>
            <a:pPr marL="0" indent="0">
              <a:buNone/>
            </a:pPr>
            <a:r>
              <a:rPr lang="en-US" sz="1300" b="1" dirty="0">
                <a:solidFill>
                  <a:schemeClr val="accent2"/>
                </a:solidFill>
                <a:latin typeface="Lora" pitchFamily="34" charset="0"/>
                <a:ea typeface="Lora" pitchFamily="34" charset="-122"/>
                <a:cs typeface="Lora" pitchFamily="34" charset="-120"/>
              </a:rPr>
              <a:t>Task 2:</a:t>
            </a:r>
            <a:endParaRPr lang="en-US" sz="1300" dirty="0">
              <a:solidFill>
                <a:schemeClr val="accent2"/>
              </a:solidFill>
            </a:endParaRPr>
          </a:p>
        </p:txBody>
      </p:sp>
      <p:sp>
        <p:nvSpPr>
          <p:cNvPr id="14" name="Text 11"/>
          <p:cNvSpPr/>
          <p:nvPr/>
        </p:nvSpPr>
        <p:spPr>
          <a:xfrm>
            <a:off x="1594904" y="2682069"/>
            <a:ext cx="4259179" cy="548640"/>
          </a:xfrm>
          <a:prstGeom prst="rect">
            <a:avLst/>
          </a:prstGeom>
          <a:noFill/>
          <a:ln/>
        </p:spPr>
        <p:txBody>
          <a:bodyPr wrap="square" lIns="0" tIns="0" rIns="0" bIns="0" rtlCol="0" anchor="ctr"/>
          <a:lstStyle/>
          <a:p>
            <a:pPr marL="0" indent="0">
              <a:buNone/>
            </a:pPr>
            <a:r>
              <a:rPr lang="en-US" sz="1300" dirty="0">
                <a:solidFill>
                  <a:srgbClr val="141413"/>
                </a:solidFill>
                <a:latin typeface="Lora" pitchFamily="34" charset="0"/>
                <a:ea typeface="Lora" pitchFamily="34" charset="-122"/>
                <a:cs typeface="Lora" pitchFamily="34" charset="-120"/>
              </a:rPr>
              <a:t>Verify restricted tools are blocked during skill execution</a:t>
            </a:r>
            <a:endParaRPr lang="en-US" sz="1300" dirty="0"/>
          </a:p>
        </p:txBody>
      </p:sp>
      <p:sp>
        <p:nvSpPr>
          <p:cNvPr id="15" name="Shape 12"/>
          <p:cNvSpPr/>
          <p:nvPr/>
        </p:nvSpPr>
        <p:spPr>
          <a:xfrm>
            <a:off x="642004" y="3573609"/>
            <a:ext cx="5303520" cy="731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6" name="Shape 13"/>
          <p:cNvSpPr/>
          <p:nvPr/>
        </p:nvSpPr>
        <p:spPr>
          <a:xfrm>
            <a:off x="640079" y="3573609"/>
            <a:ext cx="54864" cy="731520"/>
          </a:xfrm>
          <a:prstGeom prst="rect">
            <a:avLst/>
          </a:prstGeom>
          <a:solidFill>
            <a:schemeClr val="accent2"/>
          </a:solidFill>
          <a:ln/>
        </p:spPr>
        <p:txBody>
          <a:bodyPr/>
          <a:lstStyle/>
          <a:p>
            <a:endParaRPr lang="en-US">
              <a:solidFill>
                <a:schemeClr val="accent2"/>
              </a:solidFill>
            </a:endParaRPr>
          </a:p>
        </p:txBody>
      </p:sp>
      <p:sp>
        <p:nvSpPr>
          <p:cNvPr id="17" name="Text 14"/>
          <p:cNvSpPr/>
          <p:nvPr/>
        </p:nvSpPr>
        <p:spPr>
          <a:xfrm>
            <a:off x="870604" y="3573609"/>
            <a:ext cx="914400" cy="731520"/>
          </a:xfrm>
          <a:prstGeom prst="rect">
            <a:avLst/>
          </a:prstGeom>
          <a:noFill/>
          <a:ln/>
        </p:spPr>
        <p:txBody>
          <a:bodyPr wrap="square" lIns="0" tIns="0" rIns="0" bIns="0" rtlCol="0" anchor="ctr"/>
          <a:lstStyle/>
          <a:p>
            <a:pPr marL="0" indent="0">
              <a:buNone/>
            </a:pPr>
            <a:r>
              <a:rPr lang="en-US" sz="1300" b="1" dirty="0">
                <a:solidFill>
                  <a:schemeClr val="accent2"/>
                </a:solidFill>
                <a:latin typeface="Lora" pitchFamily="34" charset="0"/>
                <a:ea typeface="Lora" pitchFamily="34" charset="-122"/>
                <a:cs typeface="Lora" pitchFamily="34" charset="-120"/>
              </a:rPr>
              <a:t>Task 3:</a:t>
            </a:r>
            <a:endParaRPr lang="en-US" sz="1300" dirty="0">
              <a:solidFill>
                <a:schemeClr val="accent2"/>
              </a:solidFill>
            </a:endParaRPr>
          </a:p>
        </p:txBody>
      </p:sp>
      <p:sp>
        <p:nvSpPr>
          <p:cNvPr id="18" name="Text 15"/>
          <p:cNvSpPr/>
          <p:nvPr/>
        </p:nvSpPr>
        <p:spPr>
          <a:xfrm>
            <a:off x="1594904" y="3665049"/>
            <a:ext cx="4259179" cy="548640"/>
          </a:xfrm>
          <a:prstGeom prst="rect">
            <a:avLst/>
          </a:prstGeom>
          <a:noFill/>
          <a:ln/>
        </p:spPr>
        <p:txBody>
          <a:bodyPr wrap="square" lIns="0" tIns="0" rIns="0" bIns="0" rtlCol="0" anchor="ctr"/>
          <a:lstStyle/>
          <a:p>
            <a:pPr marL="0" indent="0">
              <a:buNone/>
            </a:pPr>
            <a:r>
              <a:rPr lang="en-US" sz="1300" dirty="0">
                <a:solidFill>
                  <a:srgbClr val="141413"/>
                </a:solidFill>
                <a:latin typeface="Lora" pitchFamily="34" charset="0"/>
                <a:ea typeface="Lora" pitchFamily="34" charset="-122"/>
                <a:cs typeface="Lora" pitchFamily="34" charset="-120"/>
              </a:rPr>
              <a:t>Add disable-model-invocation and test slash command invocation</a:t>
            </a:r>
            <a:endParaRPr lang="en-US" sz="1300" dirty="0"/>
          </a:p>
        </p:txBody>
      </p:sp>
      <p:sp>
        <p:nvSpPr>
          <p:cNvPr id="19" name="Shape 16"/>
          <p:cNvSpPr/>
          <p:nvPr/>
        </p:nvSpPr>
        <p:spPr>
          <a:xfrm>
            <a:off x="6219844" y="1630509"/>
            <a:ext cx="2286000" cy="2697480"/>
          </a:xfrm>
          <a:prstGeom prst="rect">
            <a:avLst/>
          </a:prstGeom>
          <a:solidFill>
            <a:schemeClr val="accent2">
              <a:lumMod val="20000"/>
              <a:lumOff val="80000"/>
            </a:schemeClr>
          </a:solidFill>
          <a:ln/>
        </p:spPr>
        <p:txBody>
          <a:bodyPr/>
          <a:lstStyle/>
          <a:p>
            <a:endParaRPr lang="en-US"/>
          </a:p>
        </p:txBody>
      </p:sp>
      <p:sp>
        <p:nvSpPr>
          <p:cNvPr id="20" name="Text 17"/>
          <p:cNvSpPr/>
          <p:nvPr/>
        </p:nvSpPr>
        <p:spPr>
          <a:xfrm>
            <a:off x="6219844" y="1813389"/>
            <a:ext cx="2286000" cy="274320"/>
          </a:xfrm>
          <a:prstGeom prst="rect">
            <a:avLst/>
          </a:prstGeom>
          <a:noFill/>
          <a:ln/>
        </p:spPr>
        <p:txBody>
          <a:bodyPr wrap="square" lIns="0" tIns="0" rIns="0" bIns="0" rtlCol="0" anchor="ctr"/>
          <a:lstStyle/>
          <a:p>
            <a:pPr marL="0" indent="0" algn="ctr">
              <a:buNone/>
            </a:pPr>
            <a:r>
              <a:rPr lang="en-US" sz="1100" b="1" dirty="0">
                <a:solidFill>
                  <a:schemeClr val="accent6"/>
                </a:solidFill>
                <a:latin typeface="Lora" pitchFamily="34" charset="0"/>
                <a:ea typeface="Lora" pitchFamily="34" charset="-122"/>
                <a:cs typeface="Lora" pitchFamily="34" charset="-120"/>
              </a:rPr>
              <a:t>Time</a:t>
            </a:r>
            <a:endParaRPr lang="en-US" sz="1100" dirty="0">
              <a:solidFill>
                <a:schemeClr val="accent6"/>
              </a:solidFill>
            </a:endParaRPr>
          </a:p>
        </p:txBody>
      </p:sp>
      <p:sp>
        <p:nvSpPr>
          <p:cNvPr id="21" name="Text 18"/>
          <p:cNvSpPr/>
          <p:nvPr/>
        </p:nvSpPr>
        <p:spPr>
          <a:xfrm>
            <a:off x="6219844" y="2087709"/>
            <a:ext cx="2286000" cy="365760"/>
          </a:xfrm>
          <a:prstGeom prst="rect">
            <a:avLst/>
          </a:prstGeom>
          <a:noFill/>
          <a:ln/>
        </p:spPr>
        <p:txBody>
          <a:bodyPr wrap="square" lIns="0" tIns="0" rIns="0" bIns="0" rtlCol="0" anchor="ctr"/>
          <a:lstStyle/>
          <a:p>
            <a:pPr marL="0" indent="0" algn="ctr">
              <a:buNone/>
            </a:pPr>
            <a:r>
              <a:rPr lang="en-US" sz="2200" b="1" dirty="0">
                <a:solidFill>
                  <a:schemeClr val="accent2"/>
                </a:solidFill>
                <a:latin typeface="Lora" pitchFamily="34" charset="0"/>
                <a:ea typeface="Lora" pitchFamily="34" charset="-122"/>
                <a:cs typeface="Lora" pitchFamily="34" charset="-120"/>
              </a:rPr>
              <a:t>5 min</a:t>
            </a:r>
            <a:endParaRPr lang="en-US" sz="2200" dirty="0">
              <a:solidFill>
                <a:schemeClr val="accent2"/>
              </a:solidFill>
            </a:endParaRPr>
          </a:p>
        </p:txBody>
      </p:sp>
      <p:sp>
        <p:nvSpPr>
          <p:cNvPr id="22" name="Shape 19"/>
          <p:cNvSpPr/>
          <p:nvPr/>
        </p:nvSpPr>
        <p:spPr>
          <a:xfrm>
            <a:off x="6494164" y="2636349"/>
            <a:ext cx="1737360" cy="0"/>
          </a:xfrm>
          <a:prstGeom prst="line">
            <a:avLst/>
          </a:prstGeom>
          <a:noFill/>
          <a:ln w="12700">
            <a:solidFill>
              <a:srgbClr val="B0AEA5"/>
            </a:solidFill>
            <a:prstDash val="dash"/>
          </a:ln>
        </p:spPr>
        <p:txBody>
          <a:bodyPr/>
          <a:lstStyle/>
          <a:p>
            <a:endParaRPr lang="en-US"/>
          </a:p>
        </p:txBody>
      </p:sp>
      <p:sp>
        <p:nvSpPr>
          <p:cNvPr id="23" name="Text 20"/>
          <p:cNvSpPr/>
          <p:nvPr/>
        </p:nvSpPr>
        <p:spPr>
          <a:xfrm>
            <a:off x="6219844" y="2819229"/>
            <a:ext cx="2286000" cy="274320"/>
          </a:xfrm>
          <a:prstGeom prst="rect">
            <a:avLst/>
          </a:prstGeom>
          <a:noFill/>
          <a:ln/>
        </p:spPr>
        <p:txBody>
          <a:bodyPr wrap="square" lIns="0" tIns="0" rIns="0" bIns="0" rtlCol="0" anchor="ctr"/>
          <a:lstStyle/>
          <a:p>
            <a:pPr marL="0" indent="0" algn="ctr">
              <a:buNone/>
            </a:pPr>
            <a:r>
              <a:rPr lang="en-US" sz="1100" b="1" dirty="0">
                <a:solidFill>
                  <a:schemeClr val="accent6"/>
                </a:solidFill>
                <a:latin typeface="Lora" pitchFamily="34" charset="0"/>
                <a:ea typeface="Lora" pitchFamily="34" charset="-122"/>
                <a:cs typeface="Lora" pitchFamily="34" charset="-120"/>
              </a:rPr>
              <a:t>Success Criteria</a:t>
            </a:r>
            <a:endParaRPr lang="en-US" sz="1100" dirty="0">
              <a:solidFill>
                <a:schemeClr val="accent6"/>
              </a:solidFill>
            </a:endParaRPr>
          </a:p>
        </p:txBody>
      </p:sp>
      <p:sp>
        <p:nvSpPr>
          <p:cNvPr id="24" name="Text 21"/>
          <p:cNvSpPr/>
          <p:nvPr/>
        </p:nvSpPr>
        <p:spPr>
          <a:xfrm>
            <a:off x="6402724" y="3139269"/>
            <a:ext cx="1920240" cy="640080"/>
          </a:xfrm>
          <a:prstGeom prst="rect">
            <a:avLst/>
          </a:prstGeom>
          <a:noFill/>
          <a:ln/>
        </p:spPr>
        <p:txBody>
          <a:bodyPr wrap="square" lIns="0" tIns="0" rIns="0" bIns="0" rtlCol="0" anchor="ctr"/>
          <a:lstStyle/>
          <a:p>
            <a:pPr marL="0" indent="0" algn="ctr">
              <a:buNone/>
            </a:pPr>
            <a:r>
              <a:rPr lang="en-US" sz="1100" dirty="0">
                <a:latin typeface="Lora" pitchFamily="34" charset="0"/>
                <a:ea typeface="Lora" pitchFamily="34" charset="-122"/>
                <a:cs typeface="Lora" pitchFamily="34" charset="-120"/>
              </a:rPr>
              <a:t>Skill runs with tool restrictions enforced and responds to slash command</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640080" y="182880"/>
            <a:ext cx="5212080" cy="548640"/>
          </a:xfrm>
          <a:prstGeom prst="rect">
            <a:avLst/>
          </a:prstGeom>
          <a:noFill/>
          <a:ln/>
        </p:spPr>
        <p:txBody>
          <a:bodyPr wrap="square" lIns="0" tIns="0" rIns="0" bIns="0" rtlCol="0" anchor="ctr"/>
          <a:lstStyle/>
          <a:p>
            <a:pPr marL="0" indent="0">
              <a:buNone/>
            </a:pPr>
            <a:r>
              <a:rPr lang="en-US" sz="2800" b="1" dirty="0">
                <a:solidFill>
                  <a:srgbClr val="141413"/>
                </a:solidFill>
                <a:latin typeface="Test Tiempos Headline Light" pitchFamily="34" charset="0"/>
                <a:ea typeface="Test Tiempos Headline Light" pitchFamily="34" charset="-122"/>
                <a:cs typeface="Test Tiempos Headline Light" pitchFamily="34" charset="-120"/>
              </a:rPr>
              <a:t>Knowledge check</a:t>
            </a:r>
            <a:endParaRPr lang="en-US" sz="2800" dirty="0"/>
          </a:p>
        </p:txBody>
      </p:sp>
      <p:sp>
        <p:nvSpPr>
          <p:cNvPr id="4" name="Text 1"/>
          <p:cNvSpPr/>
          <p:nvPr/>
        </p:nvSpPr>
        <p:spPr>
          <a:xfrm>
            <a:off x="6858000" y="274320"/>
            <a:ext cx="1828800" cy="365760"/>
          </a:xfrm>
          <a:prstGeom prst="rect">
            <a:avLst/>
          </a:prstGeom>
          <a:noFill/>
          <a:ln/>
        </p:spPr>
        <p:txBody>
          <a:bodyPr wrap="square" lIns="0" tIns="0" rIns="0" bIns="0" rtlCol="0" anchor="ctr"/>
          <a:lstStyle/>
          <a:p>
            <a:pPr marL="0" indent="0" algn="r">
              <a:buNone/>
            </a:pPr>
            <a:r>
              <a:rPr lang="en-US" sz="1100" b="1" dirty="0">
                <a:solidFill>
                  <a:srgbClr val="6A9BCC"/>
                </a:solidFill>
                <a:latin typeface="Lora" pitchFamily="34" charset="0"/>
                <a:ea typeface="Lora" pitchFamily="34" charset="-122"/>
                <a:cs typeface="Lora" pitchFamily="34" charset="-120"/>
              </a:rPr>
              <a:t>TRUE / FALSE</a:t>
            </a:r>
            <a:endParaRPr lang="en-US" sz="1100" dirty="0"/>
          </a:p>
        </p:txBody>
      </p:sp>
      <p:sp>
        <p:nvSpPr>
          <p:cNvPr id="5" name="Text 2"/>
          <p:cNvSpPr/>
          <p:nvPr/>
        </p:nvSpPr>
        <p:spPr>
          <a:xfrm>
            <a:off x="640080" y="1188720"/>
            <a:ext cx="7863840" cy="731520"/>
          </a:xfrm>
          <a:prstGeom prst="rect">
            <a:avLst/>
          </a:prstGeom>
          <a:noFill/>
          <a:ln/>
        </p:spPr>
        <p:txBody>
          <a:bodyPr wrap="square" lIns="0" tIns="0" rIns="0" bIns="0" rtlCol="0" anchor="ctr"/>
          <a:lstStyle/>
          <a:p>
            <a:pPr marL="0" indent="0">
              <a:buNone/>
            </a:pPr>
            <a:r>
              <a:rPr lang="en-US" sz="1800" b="1" dirty="0">
                <a:solidFill>
                  <a:srgbClr val="141413"/>
                </a:solidFill>
                <a:latin typeface="Lora" pitchFamily="34" charset="0"/>
                <a:ea typeface="Lora" pitchFamily="34" charset="-122"/>
                <a:cs typeface="Lora" pitchFamily="34" charset="-120"/>
              </a:rPr>
              <a:t>A skill with disable-model-invocation: true will still appear in the slash command menu for users to invoke manually.</a:t>
            </a:r>
            <a:endParaRPr lang="en-US" sz="1800" dirty="0"/>
          </a:p>
        </p:txBody>
      </p:sp>
      <p:sp>
        <p:nvSpPr>
          <p:cNvPr id="6" name="Shape 3"/>
          <p:cNvSpPr/>
          <p:nvPr/>
        </p:nvSpPr>
        <p:spPr>
          <a:xfrm>
            <a:off x="640080" y="2286000"/>
            <a:ext cx="3749040" cy="20116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7" name="Shape 4"/>
          <p:cNvSpPr/>
          <p:nvPr/>
        </p:nvSpPr>
        <p:spPr>
          <a:xfrm>
            <a:off x="640080" y="2286000"/>
            <a:ext cx="3749040" cy="54864"/>
          </a:xfrm>
          <a:prstGeom prst="rect">
            <a:avLst/>
          </a:prstGeom>
          <a:solidFill>
            <a:srgbClr val="788C5D"/>
          </a:solidFill>
          <a:ln/>
        </p:spPr>
        <p:txBody>
          <a:bodyPr/>
          <a:lstStyle/>
          <a:p>
            <a:endParaRPr lang="en-US"/>
          </a:p>
        </p:txBody>
      </p:sp>
      <p:pic>
        <p:nvPicPr>
          <p:cNvPr id="8" name="Image 1" descr="preencoded.png"/>
          <p:cNvPicPr>
            <a:picLocks noChangeAspect="1"/>
          </p:cNvPicPr>
          <p:nvPr/>
        </p:nvPicPr>
        <p:blipFill>
          <a:blip r:embed="rId3"/>
          <a:stretch>
            <a:fillRect/>
          </a:stretch>
        </p:blipFill>
        <p:spPr>
          <a:xfrm>
            <a:off x="2194560" y="2514600"/>
            <a:ext cx="640080" cy="640080"/>
          </a:xfrm>
          <a:prstGeom prst="rect">
            <a:avLst/>
          </a:prstGeom>
        </p:spPr>
      </p:pic>
      <p:sp>
        <p:nvSpPr>
          <p:cNvPr id="9" name="Text 5"/>
          <p:cNvSpPr/>
          <p:nvPr/>
        </p:nvSpPr>
        <p:spPr>
          <a:xfrm>
            <a:off x="640080" y="3291840"/>
            <a:ext cx="3749040" cy="457200"/>
          </a:xfrm>
          <a:prstGeom prst="rect">
            <a:avLst/>
          </a:prstGeom>
          <a:noFill/>
          <a:ln/>
        </p:spPr>
        <p:txBody>
          <a:bodyPr wrap="square" lIns="0" tIns="0" rIns="0" bIns="0" rtlCol="0" anchor="ctr"/>
          <a:lstStyle/>
          <a:p>
            <a:pPr marL="0" indent="0" algn="ctr">
              <a:buNone/>
            </a:pPr>
            <a:r>
              <a:rPr lang="en-US" sz="2200" b="1" dirty="0">
                <a:solidFill>
                  <a:srgbClr val="788C5D"/>
                </a:solidFill>
                <a:latin typeface="Lora" pitchFamily="34" charset="0"/>
                <a:ea typeface="Lora" pitchFamily="34" charset="-122"/>
                <a:cs typeface="Lora" pitchFamily="34" charset="-120"/>
              </a:rPr>
              <a:t>TRUE</a:t>
            </a:r>
            <a:endParaRPr lang="en-US" sz="2200" dirty="0"/>
          </a:p>
        </p:txBody>
      </p:sp>
      <p:sp>
        <p:nvSpPr>
          <p:cNvPr id="10" name="Text 6"/>
          <p:cNvSpPr/>
          <p:nvPr/>
        </p:nvSpPr>
        <p:spPr>
          <a:xfrm>
            <a:off x="914400" y="3703320"/>
            <a:ext cx="3200400" cy="457200"/>
          </a:xfrm>
          <a:prstGeom prst="rect">
            <a:avLst/>
          </a:prstGeom>
          <a:noFill/>
          <a:ln/>
        </p:spPr>
        <p:txBody>
          <a:bodyPr wrap="square" lIns="0" tIns="0" rIns="0" bIns="0" rtlCol="0" anchor="ctr"/>
          <a:lstStyle/>
          <a:p>
            <a:pPr marL="0" indent="0" algn="ctr">
              <a:buNone/>
            </a:pPr>
            <a:r>
              <a:rPr lang="en-US" sz="1100" dirty="0">
                <a:solidFill>
                  <a:srgbClr val="B0AEA5"/>
                </a:solidFill>
                <a:latin typeface="Lora" pitchFamily="34" charset="0"/>
                <a:ea typeface="Lora" pitchFamily="34" charset="-122"/>
                <a:cs typeface="Lora" pitchFamily="34" charset="-120"/>
              </a:rPr>
              <a:t>The field only prevents Claude from auto-invoking; users can still invoke via /skill-name.</a:t>
            </a:r>
            <a:endParaRPr lang="en-US" sz="1100" dirty="0"/>
          </a:p>
        </p:txBody>
      </p:sp>
      <p:sp>
        <p:nvSpPr>
          <p:cNvPr id="11" name="Shape 7"/>
          <p:cNvSpPr/>
          <p:nvPr/>
        </p:nvSpPr>
        <p:spPr>
          <a:xfrm>
            <a:off x="4754880" y="2286000"/>
            <a:ext cx="3749040" cy="20116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2" name="Shape 8"/>
          <p:cNvSpPr/>
          <p:nvPr/>
        </p:nvSpPr>
        <p:spPr>
          <a:xfrm>
            <a:off x="4754880" y="2286000"/>
            <a:ext cx="3749040" cy="54864"/>
          </a:xfrm>
          <a:prstGeom prst="rect">
            <a:avLst/>
          </a:prstGeom>
          <a:solidFill>
            <a:srgbClr val="D97757"/>
          </a:solidFill>
          <a:ln/>
        </p:spPr>
        <p:txBody>
          <a:bodyPr/>
          <a:lstStyle/>
          <a:p>
            <a:endParaRPr lang="en-US"/>
          </a:p>
        </p:txBody>
      </p:sp>
      <p:sp>
        <p:nvSpPr>
          <p:cNvPr id="13" name="Text 9"/>
          <p:cNvSpPr/>
          <p:nvPr/>
        </p:nvSpPr>
        <p:spPr>
          <a:xfrm>
            <a:off x="6309360" y="2528047"/>
            <a:ext cx="640080" cy="640080"/>
          </a:xfrm>
          <a:prstGeom prst="rect">
            <a:avLst/>
          </a:prstGeom>
          <a:noFill/>
          <a:ln/>
        </p:spPr>
        <p:txBody>
          <a:bodyPr wrap="square" lIns="0" tIns="0" rIns="0" bIns="0" rtlCol="0" anchor="ctr"/>
          <a:lstStyle/>
          <a:p>
            <a:pPr marL="0" indent="0" algn="ctr">
              <a:buNone/>
            </a:pPr>
            <a:r>
              <a:rPr lang="en-US" sz="3600" b="1" dirty="0">
                <a:solidFill>
                  <a:srgbClr val="D97757"/>
                </a:solidFill>
                <a:ea typeface="Test Tiempos Headline Light" pitchFamily="34" charset="-122"/>
                <a:cs typeface="Test Tiempos Headline Light" pitchFamily="34" charset="-120"/>
              </a:rPr>
              <a:t>X</a:t>
            </a:r>
            <a:endParaRPr lang="en-US" sz="3600" dirty="0"/>
          </a:p>
        </p:txBody>
      </p:sp>
      <p:sp>
        <p:nvSpPr>
          <p:cNvPr id="14" name="Text 10"/>
          <p:cNvSpPr/>
          <p:nvPr/>
        </p:nvSpPr>
        <p:spPr>
          <a:xfrm>
            <a:off x="4754880" y="3291840"/>
            <a:ext cx="3749040" cy="457200"/>
          </a:xfrm>
          <a:prstGeom prst="rect">
            <a:avLst/>
          </a:prstGeom>
          <a:noFill/>
          <a:ln/>
        </p:spPr>
        <p:txBody>
          <a:bodyPr wrap="square" lIns="0" tIns="0" rIns="0" bIns="0" rtlCol="0" anchor="ctr"/>
          <a:lstStyle/>
          <a:p>
            <a:pPr marL="0" indent="0" algn="ctr">
              <a:buNone/>
            </a:pPr>
            <a:r>
              <a:rPr lang="en-US" sz="2200" b="1" dirty="0">
                <a:solidFill>
                  <a:srgbClr val="D97757"/>
                </a:solidFill>
                <a:latin typeface="Lora" pitchFamily="34" charset="0"/>
                <a:ea typeface="Lora" pitchFamily="34" charset="-122"/>
                <a:cs typeface="Lora" pitchFamily="34" charset="-120"/>
              </a:rPr>
              <a:t>FALSE</a:t>
            </a:r>
            <a:endParaRPr lang="en-US" sz="2200" dirty="0"/>
          </a:p>
        </p:txBody>
      </p:sp>
      <p:sp>
        <p:nvSpPr>
          <p:cNvPr id="15" name="Text 11"/>
          <p:cNvSpPr/>
          <p:nvPr/>
        </p:nvSpPr>
        <p:spPr>
          <a:xfrm>
            <a:off x="5029200" y="3703320"/>
            <a:ext cx="3200400" cy="457200"/>
          </a:xfrm>
          <a:prstGeom prst="rect">
            <a:avLst/>
          </a:prstGeom>
          <a:noFill/>
          <a:ln/>
        </p:spPr>
        <p:txBody>
          <a:bodyPr wrap="square" lIns="0" tIns="0" rIns="0" bIns="0" rtlCol="0" anchor="ctr"/>
          <a:lstStyle/>
          <a:p>
            <a:pPr marL="0" indent="0" algn="ctr">
              <a:buNone/>
            </a:pPr>
            <a:r>
              <a:rPr lang="en-US" sz="1100" dirty="0">
                <a:solidFill>
                  <a:srgbClr val="B0AEA5"/>
                </a:solidFill>
                <a:latin typeface="Lora" pitchFamily="34" charset="0"/>
                <a:ea typeface="Lora" pitchFamily="34" charset="-122"/>
                <a:cs typeface="Lora" pitchFamily="34" charset="-120"/>
              </a:rPr>
              <a:t>Some might assume the field blocks all access, but it only prevents automatic model invocation</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100" name="Side Stripe Override"/>
          <p:cNvSpPr/>
          <p:nvPr/>
        </p:nvSpPr>
        <p:spPr>
          <a:xfrm>
            <a:off x="0" y="0"/>
            <a:ext cx="73152" cy="5143500"/>
          </a:xfrm>
          <a:prstGeom prst="rect">
            <a:avLst/>
          </a:prstGeom>
          <a:solidFill>
            <a:srgbClr val="B5758A"/>
          </a:solidFill>
          <a:ln/>
        </p:spPr>
        <p:txBody>
          <a:bodyPr/>
          <a:lstStyle/>
          <a:p>
            <a:endParaRPr lang="en-US">
              <a:solidFill>
                <a:srgbClr val="B5758A"/>
              </a:solidFill>
            </a:endParaRPr>
          </a:p>
        </p:txBody>
      </p:sp>
      <p:sp>
        <p:nvSpPr>
          <p:cNvPr id="2" name="Text 0"/>
          <p:cNvSpPr/>
          <p:nvPr/>
        </p:nvSpPr>
        <p:spPr>
          <a:xfrm>
            <a:off x="640080" y="1097280"/>
            <a:ext cx="2743200" cy="457200"/>
          </a:xfrm>
          <a:prstGeom prst="rect">
            <a:avLst/>
          </a:prstGeom>
          <a:noFill/>
          <a:ln/>
        </p:spPr>
        <p:txBody>
          <a:bodyPr wrap="square" lIns="0" tIns="0" rIns="0" bIns="0" rtlCol="0" anchor="ctr"/>
          <a:lstStyle/>
          <a:p>
            <a:pPr marL="0" indent="0">
              <a:buNone/>
            </a:pPr>
            <a:r>
              <a:rPr lang="en-US" sz="1400" b="1" dirty="0">
                <a:solidFill>
                  <a:srgbClr val="B5758A"/>
                </a:solidFill>
                <a:latin typeface="Lora" pitchFamily="34" charset="0"/>
                <a:ea typeface="Lora" pitchFamily="34" charset="-122"/>
                <a:cs typeface="Lora" pitchFamily="34" charset="-120"/>
              </a:rPr>
              <a:t>SECTION 04</a:t>
            </a:r>
            <a:endParaRPr lang="en-US" sz="1400" dirty="0"/>
          </a:p>
        </p:txBody>
      </p:sp>
      <p:sp>
        <p:nvSpPr>
          <p:cNvPr id="3" name="Text 1"/>
          <p:cNvSpPr/>
          <p:nvPr/>
        </p:nvSpPr>
        <p:spPr>
          <a:xfrm>
            <a:off x="640080" y="1645920"/>
            <a:ext cx="5486400" cy="1097280"/>
          </a:xfrm>
          <a:prstGeom prst="rect">
            <a:avLst/>
          </a:prstGeom>
          <a:noFill/>
          <a:ln/>
        </p:spPr>
        <p:txBody>
          <a:bodyPr wrap="square" lIns="0" tIns="0" rIns="0" bIns="0" rtlCol="0" anchor="ctr"/>
          <a:lstStyle/>
          <a:p>
            <a:pPr marL="0" indent="0">
              <a:buNone/>
            </a:pPr>
            <a:r>
              <a:rPr lang="en-US" sz="4000" b="1" dirty="0">
                <a:solidFill>
                  <a:srgbClr val="FAF9F5"/>
                </a:solidFill>
                <a:latin typeface="Test Tiempos Headline Light" pitchFamily="34" charset="0"/>
                <a:ea typeface="Test Tiempos Headline Light" pitchFamily="34" charset="-122"/>
                <a:cs typeface="Test Tiempos Headline Light" pitchFamily="34" charset="-120"/>
              </a:rPr>
              <a:t>Advanced execution patterns</a:t>
            </a:r>
            <a:endParaRPr lang="en-US" sz="4000" dirty="0"/>
          </a:p>
        </p:txBody>
      </p:sp>
      <p:sp>
        <p:nvSpPr>
          <p:cNvPr id="4" name="Text 2"/>
          <p:cNvSpPr/>
          <p:nvPr/>
        </p:nvSpPr>
        <p:spPr>
          <a:xfrm>
            <a:off x="640080" y="2926080"/>
            <a:ext cx="5486400" cy="640080"/>
          </a:xfrm>
          <a:prstGeom prst="rect">
            <a:avLst/>
          </a:prstGeom>
          <a:noFill/>
          <a:ln/>
        </p:spPr>
        <p:txBody>
          <a:bodyPr wrap="square" lIns="0" tIns="0" rIns="0" bIns="0" rtlCol="0" anchor="ctr"/>
          <a:lstStyle/>
          <a:p>
            <a:pPr marL="0" indent="0">
              <a:buNone/>
            </a:pPr>
            <a:r>
              <a:rPr lang="en-US" sz="1600" dirty="0">
                <a:solidFill>
                  <a:srgbClr val="B0AEA5"/>
                </a:solidFill>
                <a:latin typeface="Lora" pitchFamily="34" charset="0"/>
                <a:ea typeface="Lora" pitchFamily="34" charset="-122"/>
                <a:cs typeface="Lora" pitchFamily="34" charset="-120"/>
              </a:rPr>
              <a:t>Inject dynamic context with shell preprocessing, run skills in isolated subagents, and combine patterns for production-grade workflows.</a:t>
            </a:r>
            <a:endParaRPr lang="en-US" sz="1600" dirty="0"/>
          </a:p>
        </p:txBody>
      </p:sp>
      <p:sp>
        <p:nvSpPr>
          <p:cNvPr id="5" name="Shape 3"/>
          <p:cNvSpPr/>
          <p:nvPr/>
        </p:nvSpPr>
        <p:spPr>
          <a:xfrm>
            <a:off x="640080" y="3931920"/>
            <a:ext cx="1463040" cy="320040"/>
          </a:xfrm>
          <a:prstGeom prst="roundRect">
            <a:avLst>
              <a:gd name="adj" fmla="val 14286"/>
            </a:avLst>
          </a:prstGeom>
          <a:solidFill>
            <a:srgbClr val="B5758A">
              <a:alpha val="20000"/>
            </a:srgbClr>
          </a:solidFill>
          <a:ln/>
        </p:spPr>
        <p:txBody>
          <a:bodyPr/>
          <a:lstStyle/>
          <a:p>
            <a:endParaRPr lang="en-US"/>
          </a:p>
        </p:txBody>
      </p:sp>
      <p:sp>
        <p:nvSpPr>
          <p:cNvPr id="6" name="Text 4"/>
          <p:cNvSpPr/>
          <p:nvPr/>
        </p:nvSpPr>
        <p:spPr>
          <a:xfrm>
            <a:off x="640080" y="3913632"/>
            <a:ext cx="1463040" cy="365760"/>
          </a:xfrm>
          <a:prstGeom prst="rect">
            <a:avLst/>
          </a:prstGeom>
          <a:noFill/>
          <a:ln/>
        </p:spPr>
        <p:txBody>
          <a:bodyPr wrap="square" lIns="0" tIns="0" rIns="0" bIns="0" rtlCol="0" anchor="ctr"/>
          <a:lstStyle/>
          <a:p>
            <a:pPr marL="0" indent="0" algn="ctr">
              <a:buNone/>
            </a:pPr>
            <a:r>
              <a:rPr lang="en-US" sz="1100" dirty="0">
                <a:solidFill>
                  <a:srgbClr val="B5758A"/>
                </a:solidFill>
                <a:latin typeface="Lora" pitchFamily="34" charset="0"/>
                <a:ea typeface="Lora" pitchFamily="34" charset="-122"/>
                <a:cs typeface="Lora" pitchFamily="34" charset="-120"/>
              </a:rPr>
              <a:t>~10 minutes</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640080" y="274320"/>
            <a:ext cx="6995160" cy="502920"/>
          </a:xfrm>
          <a:prstGeom prst="rect">
            <a:avLst/>
          </a:prstGeom>
          <a:noFill/>
          <a:ln/>
        </p:spPr>
        <p:txBody>
          <a:bodyPr wrap="square" lIns="0" tIns="0" rIns="0" bIns="0" rtlCol="0" anchor="ctr"/>
          <a:lstStyle/>
          <a:p>
            <a:pPr marL="0" indent="0">
              <a:buNone/>
            </a:pPr>
            <a:r>
              <a:rPr lang="en-US" sz="2800" b="1" dirty="0">
                <a:solidFill>
                  <a:srgbClr val="141413"/>
                </a:solidFill>
                <a:latin typeface="Test Tiempos Headline Light" pitchFamily="34" charset="0"/>
                <a:ea typeface="Test Tiempos Headline Light" pitchFamily="34" charset="-122"/>
                <a:cs typeface="Test Tiempos Headline Light" pitchFamily="34" charset="-120"/>
              </a:rPr>
              <a:t>Subagent execution</a:t>
            </a:r>
            <a:endParaRPr lang="en-US" sz="2800" dirty="0"/>
          </a:p>
        </p:txBody>
      </p:sp>
      <p:sp>
        <p:nvSpPr>
          <p:cNvPr id="4" name="Shape 1"/>
          <p:cNvSpPr/>
          <p:nvPr/>
        </p:nvSpPr>
        <p:spPr>
          <a:xfrm>
            <a:off x="640080" y="1005840"/>
            <a:ext cx="7863840" cy="2926080"/>
          </a:xfrm>
          <a:prstGeom prst="rect">
            <a:avLst/>
          </a:prstGeom>
          <a:solidFill>
            <a:srgbClr val="1E1E1E"/>
          </a:solidFill>
          <a:ln/>
          <a:effectLst>
            <a:outerShdw blurRad="76200" dist="25400" dir="8100000" algn="bl" rotWithShape="0">
              <a:srgbClr val="000000">
                <a:alpha val="12000"/>
              </a:srgbClr>
            </a:outerShdw>
          </a:effectLst>
        </p:spPr>
        <p:txBody>
          <a:bodyPr/>
          <a:lstStyle/>
          <a:p>
            <a:endParaRPr lang="en-US"/>
          </a:p>
        </p:txBody>
      </p:sp>
      <p:sp>
        <p:nvSpPr>
          <p:cNvPr id="5" name="Shape 2"/>
          <p:cNvSpPr/>
          <p:nvPr/>
        </p:nvSpPr>
        <p:spPr>
          <a:xfrm>
            <a:off x="640080" y="1005840"/>
            <a:ext cx="7863840" cy="320040"/>
          </a:xfrm>
          <a:prstGeom prst="rect">
            <a:avLst/>
          </a:prstGeom>
          <a:solidFill>
            <a:srgbClr val="2D2D2D"/>
          </a:solidFill>
          <a:ln/>
        </p:spPr>
        <p:txBody>
          <a:bodyPr/>
          <a:lstStyle/>
          <a:p>
            <a:endParaRPr lang="en-US"/>
          </a:p>
        </p:txBody>
      </p:sp>
      <p:sp>
        <p:nvSpPr>
          <p:cNvPr id="6" name="Shape 3"/>
          <p:cNvSpPr/>
          <p:nvPr/>
        </p:nvSpPr>
        <p:spPr>
          <a:xfrm>
            <a:off x="822960" y="1097280"/>
            <a:ext cx="118872" cy="118872"/>
          </a:xfrm>
          <a:prstGeom prst="ellipse">
            <a:avLst/>
          </a:prstGeom>
          <a:solidFill>
            <a:srgbClr val="FF5F56"/>
          </a:solidFill>
          <a:ln/>
        </p:spPr>
        <p:txBody>
          <a:bodyPr/>
          <a:lstStyle/>
          <a:p>
            <a:endParaRPr lang="en-US"/>
          </a:p>
        </p:txBody>
      </p:sp>
      <p:sp>
        <p:nvSpPr>
          <p:cNvPr id="7" name="Shape 4"/>
          <p:cNvSpPr/>
          <p:nvPr/>
        </p:nvSpPr>
        <p:spPr>
          <a:xfrm>
            <a:off x="1005840" y="1097280"/>
            <a:ext cx="118872" cy="118872"/>
          </a:xfrm>
          <a:prstGeom prst="ellipse">
            <a:avLst/>
          </a:prstGeom>
          <a:solidFill>
            <a:srgbClr val="FFBD2E"/>
          </a:solidFill>
          <a:ln/>
        </p:spPr>
        <p:txBody>
          <a:bodyPr/>
          <a:lstStyle/>
          <a:p>
            <a:endParaRPr lang="en-US"/>
          </a:p>
        </p:txBody>
      </p:sp>
      <p:sp>
        <p:nvSpPr>
          <p:cNvPr id="8" name="Shape 5"/>
          <p:cNvSpPr/>
          <p:nvPr/>
        </p:nvSpPr>
        <p:spPr>
          <a:xfrm>
            <a:off x="1188720" y="1097280"/>
            <a:ext cx="118872" cy="118872"/>
          </a:xfrm>
          <a:prstGeom prst="ellipse">
            <a:avLst/>
          </a:prstGeom>
          <a:solidFill>
            <a:srgbClr val="27C93F"/>
          </a:solidFill>
          <a:ln/>
        </p:spPr>
        <p:txBody>
          <a:bodyPr/>
          <a:lstStyle/>
          <a:p>
            <a:endParaRPr lang="en-US"/>
          </a:p>
        </p:txBody>
      </p:sp>
      <p:sp>
        <p:nvSpPr>
          <p:cNvPr id="9" name="Text 6"/>
          <p:cNvSpPr/>
          <p:nvPr/>
        </p:nvSpPr>
        <p:spPr>
          <a:xfrm>
            <a:off x="1463040" y="1005840"/>
            <a:ext cx="3657600" cy="320040"/>
          </a:xfrm>
          <a:prstGeom prst="rect">
            <a:avLst/>
          </a:prstGeom>
          <a:noFill/>
          <a:ln/>
        </p:spPr>
        <p:txBody>
          <a:bodyPr wrap="square" lIns="0" tIns="0" rIns="0" bIns="0" rtlCol="0" anchor="ctr"/>
          <a:lstStyle/>
          <a:p>
            <a:pPr marL="0" indent="0">
              <a:buNone/>
            </a:pPr>
            <a:r>
              <a:rPr lang="en-US" sz="1100" dirty="0">
                <a:solidFill>
                  <a:srgbClr val="B0AEA5"/>
                </a:solidFill>
                <a:latin typeface="Courier New" pitchFamily="34" charset="0"/>
                <a:ea typeface="Courier New" pitchFamily="34" charset="-122"/>
                <a:cs typeface="Courier New" pitchFamily="34" charset="-120"/>
              </a:rPr>
              <a:t>SKILL.md</a:t>
            </a:r>
            <a:endParaRPr lang="en-US" sz="1100" dirty="0"/>
          </a:p>
        </p:txBody>
      </p:sp>
      <p:sp>
        <p:nvSpPr>
          <p:cNvPr id="10" name="Text 7"/>
          <p:cNvSpPr/>
          <p:nvPr/>
        </p:nvSpPr>
        <p:spPr>
          <a:xfrm>
            <a:off x="822960" y="1463040"/>
            <a:ext cx="7498080" cy="2286000"/>
          </a:xfrm>
          <a:prstGeom prst="rect">
            <a:avLst/>
          </a:prstGeom>
          <a:noFill/>
          <a:ln/>
        </p:spPr>
        <p:txBody>
          <a:bodyPr wrap="square" lIns="0" tIns="0" rIns="0" bIns="0" rtlCol="0" anchor="t"/>
          <a:lstStyle/>
          <a:p>
            <a:pPr marL="0" indent="0">
              <a:buNone/>
            </a:pP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name: deep-research</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description: Research a topic thoroughly</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context: fork</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agent: Explore</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Research $ARGUMENTS thoroughly:</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 context: fork = isolated subagent</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 agent: Explore, Plan, general-purpose</a:t>
            </a:r>
            <a:endParaRPr lang="en-US" sz="1300" dirty="0"/>
          </a:p>
        </p:txBody>
      </p:sp>
      <p:sp>
        <p:nvSpPr>
          <p:cNvPr id="11" name="Shape 8"/>
          <p:cNvSpPr/>
          <p:nvPr/>
        </p:nvSpPr>
        <p:spPr>
          <a:xfrm>
            <a:off x="640080" y="4160520"/>
            <a:ext cx="7863840" cy="640080"/>
          </a:xfrm>
          <a:prstGeom prst="rect">
            <a:avLst/>
          </a:prstGeom>
          <a:solidFill>
            <a:srgbClr val="788C5D">
              <a:alpha val="12000"/>
            </a:srgbClr>
          </a:solidFill>
          <a:ln/>
        </p:spPr>
        <p:txBody>
          <a:bodyPr/>
          <a:lstStyle/>
          <a:p>
            <a:endParaRPr lang="en-US"/>
          </a:p>
        </p:txBody>
      </p:sp>
      <p:sp>
        <p:nvSpPr>
          <p:cNvPr id="12" name="Text 9"/>
          <p:cNvSpPr/>
          <p:nvPr/>
        </p:nvSpPr>
        <p:spPr>
          <a:xfrm>
            <a:off x="868680" y="4160520"/>
            <a:ext cx="7498080" cy="640080"/>
          </a:xfrm>
          <a:prstGeom prst="rect">
            <a:avLst/>
          </a:prstGeom>
          <a:noFill/>
          <a:ln/>
        </p:spPr>
        <p:txBody>
          <a:bodyPr wrap="square" lIns="0" tIns="0" rIns="0" bIns="0" rtlCol="0" anchor="ctr"/>
          <a:lstStyle/>
          <a:p>
            <a:pPr marL="0" indent="0">
              <a:buNone/>
            </a:pPr>
            <a:r>
              <a:rPr lang="en-US" sz="1300" dirty="0">
                <a:solidFill>
                  <a:srgbClr val="141413"/>
                </a:solidFill>
                <a:latin typeface="Lora" pitchFamily="34" charset="0"/>
                <a:ea typeface="Lora" pitchFamily="34" charset="-122"/>
                <a:cs typeface="Lora" pitchFamily="34" charset="-120"/>
              </a:rPr>
              <a:t>context: fork runs in isolated context without conversation history. Pick the agent type that matches the task.</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640080" y="274320"/>
            <a:ext cx="6995160" cy="502920"/>
          </a:xfrm>
          <a:prstGeom prst="rect">
            <a:avLst/>
          </a:prstGeom>
          <a:noFill/>
          <a:ln/>
        </p:spPr>
        <p:txBody>
          <a:bodyPr wrap="square" lIns="0" tIns="0" rIns="0" bIns="0" rtlCol="0" anchor="ctr"/>
          <a:lstStyle/>
          <a:p>
            <a:pPr marL="0" indent="0">
              <a:buNone/>
            </a:pPr>
            <a:r>
              <a:rPr lang="en-US" sz="2800" b="1" dirty="0">
                <a:solidFill>
                  <a:srgbClr val="141413"/>
                </a:solidFill>
                <a:latin typeface="Test Tiempos Headline Light" pitchFamily="34" charset="0"/>
                <a:ea typeface="Test Tiempos Headline Light" pitchFamily="34" charset="-122"/>
                <a:cs typeface="Test Tiempos Headline Light" pitchFamily="34" charset="-120"/>
              </a:rPr>
              <a:t>Dynamic context injection</a:t>
            </a:r>
            <a:endParaRPr lang="en-US" sz="2800" dirty="0"/>
          </a:p>
        </p:txBody>
      </p:sp>
      <p:sp>
        <p:nvSpPr>
          <p:cNvPr id="4" name="Shape 1"/>
          <p:cNvSpPr/>
          <p:nvPr/>
        </p:nvSpPr>
        <p:spPr>
          <a:xfrm>
            <a:off x="640080" y="1005840"/>
            <a:ext cx="7863840" cy="2926080"/>
          </a:xfrm>
          <a:prstGeom prst="rect">
            <a:avLst/>
          </a:prstGeom>
          <a:solidFill>
            <a:srgbClr val="1E1E1E"/>
          </a:solidFill>
          <a:ln/>
          <a:effectLst>
            <a:outerShdw blurRad="76200" dist="25400" dir="8100000" algn="bl" rotWithShape="0">
              <a:srgbClr val="000000">
                <a:alpha val="12000"/>
              </a:srgbClr>
            </a:outerShdw>
          </a:effectLst>
        </p:spPr>
        <p:txBody>
          <a:bodyPr/>
          <a:lstStyle/>
          <a:p>
            <a:endParaRPr lang="en-US"/>
          </a:p>
        </p:txBody>
      </p:sp>
      <p:sp>
        <p:nvSpPr>
          <p:cNvPr id="5" name="Shape 2"/>
          <p:cNvSpPr/>
          <p:nvPr/>
        </p:nvSpPr>
        <p:spPr>
          <a:xfrm>
            <a:off x="640080" y="1005840"/>
            <a:ext cx="7863840" cy="320040"/>
          </a:xfrm>
          <a:prstGeom prst="rect">
            <a:avLst/>
          </a:prstGeom>
          <a:solidFill>
            <a:srgbClr val="2D2D2D"/>
          </a:solidFill>
          <a:ln/>
        </p:spPr>
        <p:txBody>
          <a:bodyPr/>
          <a:lstStyle/>
          <a:p>
            <a:endParaRPr lang="en-US"/>
          </a:p>
        </p:txBody>
      </p:sp>
      <p:sp>
        <p:nvSpPr>
          <p:cNvPr id="6" name="Shape 3"/>
          <p:cNvSpPr/>
          <p:nvPr/>
        </p:nvSpPr>
        <p:spPr>
          <a:xfrm>
            <a:off x="822960" y="1097280"/>
            <a:ext cx="118872" cy="118872"/>
          </a:xfrm>
          <a:prstGeom prst="ellipse">
            <a:avLst/>
          </a:prstGeom>
          <a:solidFill>
            <a:srgbClr val="FF5F56"/>
          </a:solidFill>
          <a:ln/>
        </p:spPr>
        <p:txBody>
          <a:bodyPr/>
          <a:lstStyle/>
          <a:p>
            <a:endParaRPr lang="en-US"/>
          </a:p>
        </p:txBody>
      </p:sp>
      <p:sp>
        <p:nvSpPr>
          <p:cNvPr id="7" name="Shape 4"/>
          <p:cNvSpPr/>
          <p:nvPr/>
        </p:nvSpPr>
        <p:spPr>
          <a:xfrm>
            <a:off x="1005840" y="1097280"/>
            <a:ext cx="118872" cy="118872"/>
          </a:xfrm>
          <a:prstGeom prst="ellipse">
            <a:avLst/>
          </a:prstGeom>
          <a:solidFill>
            <a:srgbClr val="FFBD2E"/>
          </a:solidFill>
          <a:ln/>
        </p:spPr>
        <p:txBody>
          <a:bodyPr/>
          <a:lstStyle/>
          <a:p>
            <a:endParaRPr lang="en-US"/>
          </a:p>
        </p:txBody>
      </p:sp>
      <p:sp>
        <p:nvSpPr>
          <p:cNvPr id="8" name="Shape 5"/>
          <p:cNvSpPr/>
          <p:nvPr/>
        </p:nvSpPr>
        <p:spPr>
          <a:xfrm>
            <a:off x="1188720" y="1097280"/>
            <a:ext cx="118872" cy="118872"/>
          </a:xfrm>
          <a:prstGeom prst="ellipse">
            <a:avLst/>
          </a:prstGeom>
          <a:solidFill>
            <a:srgbClr val="27C93F"/>
          </a:solidFill>
          <a:ln/>
        </p:spPr>
        <p:txBody>
          <a:bodyPr/>
          <a:lstStyle/>
          <a:p>
            <a:endParaRPr lang="en-US"/>
          </a:p>
        </p:txBody>
      </p:sp>
      <p:sp>
        <p:nvSpPr>
          <p:cNvPr id="9" name="Text 6"/>
          <p:cNvSpPr/>
          <p:nvPr/>
        </p:nvSpPr>
        <p:spPr>
          <a:xfrm>
            <a:off x="1463040" y="1005840"/>
            <a:ext cx="3657600" cy="320040"/>
          </a:xfrm>
          <a:prstGeom prst="rect">
            <a:avLst/>
          </a:prstGeom>
          <a:noFill/>
          <a:ln/>
        </p:spPr>
        <p:txBody>
          <a:bodyPr wrap="square" lIns="0" tIns="0" rIns="0" bIns="0" rtlCol="0" anchor="ctr"/>
          <a:lstStyle/>
          <a:p>
            <a:pPr marL="0" indent="0">
              <a:buNone/>
            </a:pPr>
            <a:r>
              <a:rPr lang="en-US" sz="1100" dirty="0">
                <a:solidFill>
                  <a:srgbClr val="B0AEA5"/>
                </a:solidFill>
                <a:latin typeface="Courier New" pitchFamily="34" charset="0"/>
                <a:ea typeface="Courier New" pitchFamily="34" charset="-122"/>
                <a:cs typeface="Courier New" pitchFamily="34" charset="-120"/>
              </a:rPr>
              <a:t>SKILL.md</a:t>
            </a:r>
            <a:endParaRPr lang="en-US" sz="1100" dirty="0"/>
          </a:p>
        </p:txBody>
      </p:sp>
      <p:sp>
        <p:nvSpPr>
          <p:cNvPr id="10" name="Text 7"/>
          <p:cNvSpPr/>
          <p:nvPr/>
        </p:nvSpPr>
        <p:spPr>
          <a:xfrm>
            <a:off x="822960" y="1463040"/>
            <a:ext cx="7498080" cy="2286000"/>
          </a:xfrm>
          <a:prstGeom prst="rect">
            <a:avLst/>
          </a:prstGeom>
          <a:noFill/>
          <a:ln/>
        </p:spPr>
        <p:txBody>
          <a:bodyPr wrap="square" lIns="0" tIns="0" rIns="0" bIns="0" rtlCol="0" anchor="t"/>
          <a:lstStyle/>
          <a:p>
            <a:pPr marL="0" indent="0">
              <a:buNone/>
            </a:pP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name: pr-summary</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description: Summarize a pull request</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context: fork</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agent: Explore</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allowed-tools: Bash(gh *)</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 Pull request context</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 PR diff: !`gh pr diff`</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 PR comments: !`gh pr view --comments`</a:t>
            </a:r>
            <a:endParaRPr lang="en-US" sz="1300" dirty="0"/>
          </a:p>
        </p:txBody>
      </p:sp>
      <p:sp>
        <p:nvSpPr>
          <p:cNvPr id="11" name="Shape 8"/>
          <p:cNvSpPr/>
          <p:nvPr/>
        </p:nvSpPr>
        <p:spPr>
          <a:xfrm>
            <a:off x="640080" y="4160520"/>
            <a:ext cx="7863840" cy="640080"/>
          </a:xfrm>
          <a:prstGeom prst="rect">
            <a:avLst/>
          </a:prstGeom>
          <a:solidFill>
            <a:srgbClr val="788C5D">
              <a:alpha val="12000"/>
            </a:srgbClr>
          </a:solidFill>
          <a:ln/>
        </p:spPr>
        <p:txBody>
          <a:bodyPr/>
          <a:lstStyle/>
          <a:p>
            <a:endParaRPr lang="en-US"/>
          </a:p>
        </p:txBody>
      </p:sp>
      <p:sp>
        <p:nvSpPr>
          <p:cNvPr id="12" name="Text 9"/>
          <p:cNvSpPr/>
          <p:nvPr/>
        </p:nvSpPr>
        <p:spPr>
          <a:xfrm>
            <a:off x="868680" y="4160520"/>
            <a:ext cx="7498080" cy="640080"/>
          </a:xfrm>
          <a:prstGeom prst="rect">
            <a:avLst/>
          </a:prstGeom>
          <a:noFill/>
          <a:ln/>
        </p:spPr>
        <p:txBody>
          <a:bodyPr wrap="square" lIns="0" tIns="0" rIns="0" bIns="0" rtlCol="0" anchor="ctr"/>
          <a:lstStyle/>
          <a:p>
            <a:pPr marL="0" indent="0">
              <a:buNone/>
            </a:pPr>
            <a:r>
              <a:rPr lang="en-US" sz="1300" dirty="0">
                <a:solidFill>
                  <a:srgbClr val="141413"/>
                </a:solidFill>
                <a:latin typeface="Lora" pitchFamily="34" charset="0"/>
                <a:ea typeface="Lora" pitchFamily="34" charset="-122"/>
                <a:cs typeface="Lora" pitchFamily="34" charset="-120"/>
              </a:rPr>
              <a:t>The !`command` syntax preprocesses shell output before Claude sees the prompt. Commands execute immediately at skill load time.</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640080" y="274320"/>
            <a:ext cx="6995160" cy="502920"/>
          </a:xfrm>
          <a:prstGeom prst="rect">
            <a:avLst/>
          </a:prstGeom>
          <a:noFill/>
          <a:ln/>
        </p:spPr>
        <p:txBody>
          <a:bodyPr wrap="square" lIns="0" tIns="0" rIns="0" bIns="0" rtlCol="0" anchor="ctr"/>
          <a:lstStyle/>
          <a:p>
            <a:pPr marL="0" indent="0">
              <a:buNone/>
            </a:pPr>
            <a:r>
              <a:rPr lang="en-US" sz="2800" b="1" dirty="0">
                <a:solidFill>
                  <a:srgbClr val="141413"/>
                </a:solidFill>
                <a:latin typeface="Test Tiempos Headline Light" pitchFamily="34" charset="0"/>
                <a:ea typeface="Test Tiempos Headline Light" pitchFamily="34" charset="-122"/>
                <a:cs typeface="Test Tiempos Headline Light" pitchFamily="34" charset="-120"/>
              </a:rPr>
              <a:t>Upgrading a skill with advanced patterns</a:t>
            </a:r>
            <a:endParaRPr lang="en-US" sz="2800" dirty="0"/>
          </a:p>
        </p:txBody>
      </p:sp>
      <p:sp>
        <p:nvSpPr>
          <p:cNvPr id="4" name="Shape 1"/>
          <p:cNvSpPr/>
          <p:nvPr/>
        </p:nvSpPr>
        <p:spPr>
          <a:xfrm>
            <a:off x="640080" y="861231"/>
            <a:ext cx="7863840" cy="4218569"/>
          </a:xfrm>
          <a:prstGeom prst="rect">
            <a:avLst/>
          </a:prstGeom>
          <a:solidFill>
            <a:srgbClr val="1E1E1E"/>
          </a:solidFill>
          <a:ln/>
          <a:effectLst>
            <a:outerShdw blurRad="76200" dist="25400" dir="8100000" algn="bl" rotWithShape="0">
              <a:srgbClr val="000000">
                <a:alpha val="12000"/>
              </a:srgbClr>
            </a:outerShdw>
          </a:effectLst>
        </p:spPr>
        <p:txBody>
          <a:bodyPr/>
          <a:lstStyle/>
          <a:p>
            <a:endParaRPr lang="en-US"/>
          </a:p>
        </p:txBody>
      </p:sp>
      <p:sp>
        <p:nvSpPr>
          <p:cNvPr id="5" name="Shape 2"/>
          <p:cNvSpPr/>
          <p:nvPr/>
        </p:nvSpPr>
        <p:spPr>
          <a:xfrm>
            <a:off x="640080" y="861232"/>
            <a:ext cx="7863840" cy="320040"/>
          </a:xfrm>
          <a:prstGeom prst="rect">
            <a:avLst/>
          </a:prstGeom>
          <a:solidFill>
            <a:srgbClr val="2D2D2D"/>
          </a:solidFill>
          <a:ln/>
        </p:spPr>
        <p:txBody>
          <a:bodyPr/>
          <a:lstStyle/>
          <a:p>
            <a:endParaRPr lang="en-US"/>
          </a:p>
        </p:txBody>
      </p:sp>
      <p:sp>
        <p:nvSpPr>
          <p:cNvPr id="6" name="Shape 3"/>
          <p:cNvSpPr/>
          <p:nvPr/>
        </p:nvSpPr>
        <p:spPr>
          <a:xfrm>
            <a:off x="822960" y="952672"/>
            <a:ext cx="118872" cy="118872"/>
          </a:xfrm>
          <a:prstGeom prst="ellipse">
            <a:avLst/>
          </a:prstGeom>
          <a:solidFill>
            <a:srgbClr val="FF5F56"/>
          </a:solidFill>
          <a:ln/>
        </p:spPr>
        <p:txBody>
          <a:bodyPr/>
          <a:lstStyle/>
          <a:p>
            <a:endParaRPr lang="en-US"/>
          </a:p>
        </p:txBody>
      </p:sp>
      <p:sp>
        <p:nvSpPr>
          <p:cNvPr id="7" name="Shape 4"/>
          <p:cNvSpPr/>
          <p:nvPr/>
        </p:nvSpPr>
        <p:spPr>
          <a:xfrm>
            <a:off x="1005840" y="952672"/>
            <a:ext cx="118872" cy="118872"/>
          </a:xfrm>
          <a:prstGeom prst="ellipse">
            <a:avLst/>
          </a:prstGeom>
          <a:solidFill>
            <a:srgbClr val="FFBD2E"/>
          </a:solidFill>
          <a:ln/>
        </p:spPr>
        <p:txBody>
          <a:bodyPr/>
          <a:lstStyle/>
          <a:p>
            <a:endParaRPr lang="en-US"/>
          </a:p>
        </p:txBody>
      </p:sp>
      <p:sp>
        <p:nvSpPr>
          <p:cNvPr id="8" name="Shape 5"/>
          <p:cNvSpPr/>
          <p:nvPr/>
        </p:nvSpPr>
        <p:spPr>
          <a:xfrm>
            <a:off x="1188720" y="952672"/>
            <a:ext cx="118872" cy="118872"/>
          </a:xfrm>
          <a:prstGeom prst="ellipse">
            <a:avLst/>
          </a:prstGeom>
          <a:solidFill>
            <a:srgbClr val="27C93F"/>
          </a:solidFill>
          <a:ln/>
        </p:spPr>
        <p:txBody>
          <a:bodyPr/>
          <a:lstStyle/>
          <a:p>
            <a:endParaRPr lang="en-US"/>
          </a:p>
        </p:txBody>
      </p:sp>
      <p:sp>
        <p:nvSpPr>
          <p:cNvPr id="9" name="Text 6"/>
          <p:cNvSpPr/>
          <p:nvPr/>
        </p:nvSpPr>
        <p:spPr>
          <a:xfrm>
            <a:off x="1463040" y="861232"/>
            <a:ext cx="3657600" cy="320040"/>
          </a:xfrm>
          <a:prstGeom prst="rect">
            <a:avLst/>
          </a:prstGeom>
          <a:noFill/>
          <a:ln/>
        </p:spPr>
        <p:txBody>
          <a:bodyPr wrap="square" lIns="0" tIns="0" rIns="0" bIns="0" rtlCol="0" anchor="ctr"/>
          <a:lstStyle/>
          <a:p>
            <a:pPr marL="0" indent="0">
              <a:buNone/>
            </a:pPr>
            <a:r>
              <a:rPr lang="en-US" sz="1100" dirty="0">
                <a:solidFill>
                  <a:srgbClr val="B0AEA5"/>
                </a:solidFill>
                <a:latin typeface="Courier New" pitchFamily="34" charset="0"/>
                <a:ea typeface="Courier New" pitchFamily="34" charset="-122"/>
                <a:cs typeface="Courier New" pitchFamily="34" charset="-120"/>
              </a:rPr>
              <a:t>~/.claude/skills/explain-code/</a:t>
            </a:r>
            <a:endParaRPr lang="en-US" sz="1100" dirty="0"/>
          </a:p>
        </p:txBody>
      </p:sp>
      <p:sp>
        <p:nvSpPr>
          <p:cNvPr id="10" name="Text 7"/>
          <p:cNvSpPr/>
          <p:nvPr/>
        </p:nvSpPr>
        <p:spPr>
          <a:xfrm>
            <a:off x="822960" y="1272712"/>
            <a:ext cx="7498080" cy="4218569"/>
          </a:xfrm>
          <a:prstGeom prst="rect">
            <a:avLst/>
          </a:prstGeom>
          <a:noFill/>
          <a:ln/>
        </p:spPr>
        <p:txBody>
          <a:bodyPr wrap="square" lIns="0" tIns="0" rIns="0" bIns="0" rtlCol="0" anchor="t"/>
          <a:lstStyle/>
          <a:p>
            <a:pPr marL="0" indent="0">
              <a:buNone/>
            </a:pPr>
            <a:r>
              <a:rPr lang="en-US" sz="1300" dirty="0">
                <a:solidFill>
                  <a:srgbClr val="D4D4D4"/>
                </a:solidFill>
                <a:latin typeface="Courier New" pitchFamily="34" charset="0"/>
                <a:ea typeface="Courier New" pitchFamily="34" charset="-122"/>
                <a:cs typeface="Courier New" pitchFamily="34" charset="-120"/>
              </a:rPr>
              <a:t># Basic skill</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name: pr-review</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description: Review a pull request</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Review the current PR for issues.</a:t>
            </a:r>
            <a:endParaRPr lang="en-US" sz="1300" dirty="0"/>
          </a:p>
          <a:p>
            <a:pPr marL="0" indent="0">
              <a:buNone/>
            </a:pP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 Advanced: dynamic context + subagent isolation</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name: pr-review</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description: Review a pull request</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context: fork</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agent: Explore</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allowed-tools: Bash(gh *)</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 PR context</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 Diff: !`gh pr diff`</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 Comments: !`gh pr view --comments`</a:t>
            </a:r>
            <a:endParaRPr lang="en-US" sz="1300" dirty="0"/>
          </a:p>
          <a:p>
            <a:pPr marL="0" indent="0">
              <a:buNone/>
            </a:pPr>
            <a:r>
              <a:rPr lang="en-US" sz="1300" dirty="0">
                <a:solidFill>
                  <a:srgbClr val="D4D4D4"/>
                </a:solidFill>
                <a:latin typeface="Courier New" pitchFamily="34" charset="0"/>
                <a:ea typeface="Courier New" pitchFamily="34" charset="-122"/>
                <a:cs typeface="Courier New" pitchFamily="34" charset="-120"/>
              </a:rPr>
              <a:t>Review for correctness, security, and style.</a:t>
            </a:r>
            <a:endParaRPr lang="en-US" sz="1300" dirty="0"/>
          </a:p>
        </p:txBody>
      </p:sp>
      <p:sp>
        <p:nvSpPr>
          <p:cNvPr id="12" name="Text 9"/>
          <p:cNvSpPr/>
          <p:nvPr/>
        </p:nvSpPr>
        <p:spPr>
          <a:xfrm>
            <a:off x="868680" y="4015912"/>
            <a:ext cx="7498080" cy="640080"/>
          </a:xfrm>
          <a:prstGeom prst="rect">
            <a:avLst/>
          </a:prstGeom>
          <a:noFill/>
          <a:ln/>
        </p:spPr>
        <p:txBody>
          <a:bodyPr wrap="square" lIns="0" tIns="0" rIns="0" bIns="0" rtlCol="0" anchor="ctr"/>
          <a:lstStyle/>
          <a:p>
            <a:pPr marL="0" indent="0">
              <a:buNone/>
            </a:pP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46364-DA3E-956B-C274-54E1B6E2BA1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8C3111A-60FD-BDB2-B11E-AF1E964D42DA}"/>
              </a:ext>
            </a:extLst>
          </p:cNvPr>
          <p:cNvSpPr/>
          <p:nvPr/>
        </p:nvSpPr>
        <p:spPr>
          <a:xfrm>
            <a:off x="640080" y="274320"/>
            <a:ext cx="7315200" cy="548640"/>
          </a:xfrm>
          <a:prstGeom prst="rect">
            <a:avLst/>
          </a:prstGeom>
          <a:noFill/>
          <a:ln/>
        </p:spPr>
        <p:txBody>
          <a:bodyPr wrap="square" lIns="0" tIns="0" rIns="0" bIns="0" rtlCol="0" anchor="ctr"/>
          <a:lstStyle/>
          <a:p>
            <a:pPr marL="0" indent="0">
              <a:buNone/>
            </a:pPr>
            <a:r>
              <a:rPr lang="en-US" sz="3000" b="1" dirty="0">
                <a:solidFill>
                  <a:srgbClr val="141413"/>
                </a:solidFill>
                <a:latin typeface="Test Tiempos Headline Light" pitchFamily="34" charset="0"/>
                <a:ea typeface="Test Tiempos Headline Light" pitchFamily="34" charset="-122"/>
                <a:cs typeface="Test Tiempos Headline Light" pitchFamily="34" charset="-120"/>
              </a:rPr>
              <a:t>Five skill design patterns</a:t>
            </a:r>
            <a:endParaRPr lang="en-US" sz="3000" dirty="0"/>
          </a:p>
        </p:txBody>
      </p:sp>
      <p:sp>
        <p:nvSpPr>
          <p:cNvPr id="3" name="Shape 1">
            <a:extLst>
              <a:ext uri="{FF2B5EF4-FFF2-40B4-BE49-F238E27FC236}">
                <a16:creationId xmlns:a16="http://schemas.microsoft.com/office/drawing/2014/main" id="{9A01F226-B9BA-398B-EF6B-67C078F705F1}"/>
              </a:ext>
            </a:extLst>
          </p:cNvPr>
          <p:cNvSpPr/>
          <p:nvPr/>
        </p:nvSpPr>
        <p:spPr>
          <a:xfrm>
            <a:off x="640080" y="1006708"/>
            <a:ext cx="457200" cy="457200"/>
          </a:xfrm>
          <a:prstGeom prst="ellipse">
            <a:avLst/>
          </a:prstGeom>
          <a:solidFill>
            <a:srgbClr val="B5758A"/>
          </a:solidFill>
          <a:ln/>
        </p:spPr>
        <p:txBody>
          <a:bodyPr/>
          <a:lstStyle/>
          <a:p>
            <a:endParaRPr lang="en-US"/>
          </a:p>
        </p:txBody>
      </p:sp>
      <p:sp>
        <p:nvSpPr>
          <p:cNvPr id="4" name="Text 2">
            <a:extLst>
              <a:ext uri="{FF2B5EF4-FFF2-40B4-BE49-F238E27FC236}">
                <a16:creationId xmlns:a16="http://schemas.microsoft.com/office/drawing/2014/main" id="{FF2FEEB4-0743-950C-0BFB-D3F523D0B8AD}"/>
              </a:ext>
            </a:extLst>
          </p:cNvPr>
          <p:cNvSpPr/>
          <p:nvPr/>
        </p:nvSpPr>
        <p:spPr>
          <a:xfrm>
            <a:off x="640080" y="100670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Lora" pitchFamily="34" charset="0"/>
                <a:ea typeface="Lora" pitchFamily="34" charset="-122"/>
                <a:cs typeface="Lora" pitchFamily="34" charset="-120"/>
              </a:rPr>
              <a:t>1</a:t>
            </a:r>
            <a:endParaRPr lang="en-US" sz="1800" dirty="0"/>
          </a:p>
        </p:txBody>
      </p:sp>
      <p:sp>
        <p:nvSpPr>
          <p:cNvPr id="5" name="Shape 3">
            <a:extLst>
              <a:ext uri="{FF2B5EF4-FFF2-40B4-BE49-F238E27FC236}">
                <a16:creationId xmlns:a16="http://schemas.microsoft.com/office/drawing/2014/main" id="{5D41778E-A7A4-41BA-21CD-4CB52218BED9}"/>
              </a:ext>
            </a:extLst>
          </p:cNvPr>
          <p:cNvSpPr/>
          <p:nvPr/>
        </p:nvSpPr>
        <p:spPr>
          <a:xfrm>
            <a:off x="868680" y="1509628"/>
            <a:ext cx="0" cy="274320"/>
          </a:xfrm>
          <a:prstGeom prst="line">
            <a:avLst/>
          </a:prstGeom>
          <a:noFill/>
          <a:ln w="25400">
            <a:solidFill>
              <a:srgbClr val="E8E6DC"/>
            </a:solidFill>
            <a:prstDash val="solid"/>
          </a:ln>
        </p:spPr>
        <p:txBody>
          <a:bodyPr/>
          <a:lstStyle/>
          <a:p>
            <a:endParaRPr lang="en-US"/>
          </a:p>
        </p:txBody>
      </p:sp>
      <p:sp>
        <p:nvSpPr>
          <p:cNvPr id="6" name="Text 4">
            <a:extLst>
              <a:ext uri="{FF2B5EF4-FFF2-40B4-BE49-F238E27FC236}">
                <a16:creationId xmlns:a16="http://schemas.microsoft.com/office/drawing/2014/main" id="{6A097AAD-756E-5C30-ACA7-21000CD8E427}"/>
              </a:ext>
            </a:extLst>
          </p:cNvPr>
          <p:cNvSpPr/>
          <p:nvPr/>
        </p:nvSpPr>
        <p:spPr>
          <a:xfrm>
            <a:off x="1325880" y="1006708"/>
            <a:ext cx="6492240" cy="320040"/>
          </a:xfrm>
          <a:prstGeom prst="rect">
            <a:avLst/>
          </a:prstGeom>
          <a:noFill/>
          <a:ln/>
        </p:spPr>
        <p:txBody>
          <a:bodyPr wrap="square" lIns="0" tIns="0" rIns="0" bIns="0" rtlCol="0" anchor="ctr"/>
          <a:lstStyle/>
          <a:p>
            <a:r>
              <a:rPr lang="en-US" sz="1600" b="1" dirty="0">
                <a:solidFill>
                  <a:srgbClr val="141413"/>
                </a:solidFill>
                <a:latin typeface="Lora" pitchFamily="34" charset="0"/>
                <a:ea typeface="Lora" pitchFamily="34" charset="-122"/>
                <a:cs typeface="Lora" pitchFamily="34" charset="-120"/>
              </a:rPr>
              <a:t>Sequential workflow orchestration</a:t>
            </a:r>
            <a:endParaRPr lang="en-US" sz="1600" dirty="0"/>
          </a:p>
        </p:txBody>
      </p:sp>
      <p:sp>
        <p:nvSpPr>
          <p:cNvPr id="7" name="Text 5">
            <a:extLst>
              <a:ext uri="{FF2B5EF4-FFF2-40B4-BE49-F238E27FC236}">
                <a16:creationId xmlns:a16="http://schemas.microsoft.com/office/drawing/2014/main" id="{5027A7D6-4E5B-0229-D74A-885F49BA7AA7}"/>
              </a:ext>
            </a:extLst>
          </p:cNvPr>
          <p:cNvSpPr/>
          <p:nvPr/>
        </p:nvSpPr>
        <p:spPr>
          <a:xfrm>
            <a:off x="1325880" y="1308460"/>
            <a:ext cx="6858000" cy="320040"/>
          </a:xfrm>
          <a:prstGeom prst="rect">
            <a:avLst/>
          </a:prstGeom>
          <a:noFill/>
          <a:ln/>
        </p:spPr>
        <p:txBody>
          <a:bodyPr wrap="square" lIns="0" tIns="0" rIns="0" bIns="0" rtlCol="0" anchor="ctr"/>
          <a:lstStyle/>
          <a:p>
            <a:r>
              <a:rPr lang="en-US" sz="1400" dirty="0">
                <a:solidFill>
                  <a:srgbClr val="B0AEA5"/>
                </a:solidFill>
                <a:latin typeface="Lora" pitchFamily="34" charset="0"/>
                <a:ea typeface="Lora" pitchFamily="34" charset="-122"/>
                <a:cs typeface="Lora" pitchFamily="34" charset="-120"/>
              </a:rPr>
              <a:t>Multi-step processes in a specific order with validation at each stage</a:t>
            </a:r>
            <a:endParaRPr lang="en-US" sz="1400" dirty="0"/>
          </a:p>
        </p:txBody>
      </p:sp>
      <p:sp>
        <p:nvSpPr>
          <p:cNvPr id="8" name="Shape 6">
            <a:extLst>
              <a:ext uri="{FF2B5EF4-FFF2-40B4-BE49-F238E27FC236}">
                <a16:creationId xmlns:a16="http://schemas.microsoft.com/office/drawing/2014/main" id="{D365B633-94F1-5F6C-C824-6EDFAB6CD14D}"/>
              </a:ext>
            </a:extLst>
          </p:cNvPr>
          <p:cNvSpPr/>
          <p:nvPr/>
        </p:nvSpPr>
        <p:spPr>
          <a:xfrm>
            <a:off x="640080" y="1838401"/>
            <a:ext cx="457200" cy="457200"/>
          </a:xfrm>
          <a:prstGeom prst="ellipse">
            <a:avLst/>
          </a:prstGeom>
          <a:solidFill>
            <a:srgbClr val="B5758A"/>
          </a:solidFill>
          <a:ln/>
        </p:spPr>
        <p:txBody>
          <a:bodyPr/>
          <a:lstStyle/>
          <a:p>
            <a:endParaRPr lang="en-US"/>
          </a:p>
        </p:txBody>
      </p:sp>
      <p:sp>
        <p:nvSpPr>
          <p:cNvPr id="9" name="Text 7">
            <a:extLst>
              <a:ext uri="{FF2B5EF4-FFF2-40B4-BE49-F238E27FC236}">
                <a16:creationId xmlns:a16="http://schemas.microsoft.com/office/drawing/2014/main" id="{10F350D3-6796-BF7D-859F-6AF62BF67570}"/>
              </a:ext>
            </a:extLst>
          </p:cNvPr>
          <p:cNvSpPr/>
          <p:nvPr/>
        </p:nvSpPr>
        <p:spPr>
          <a:xfrm>
            <a:off x="640080" y="1838401"/>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Lora" pitchFamily="34" charset="0"/>
                <a:ea typeface="Lora" pitchFamily="34" charset="-122"/>
                <a:cs typeface="Lora" pitchFamily="34" charset="-120"/>
              </a:rPr>
              <a:t>2</a:t>
            </a:r>
            <a:endParaRPr lang="en-US" sz="1800" dirty="0"/>
          </a:p>
        </p:txBody>
      </p:sp>
      <p:sp>
        <p:nvSpPr>
          <p:cNvPr id="10" name="Shape 8">
            <a:extLst>
              <a:ext uri="{FF2B5EF4-FFF2-40B4-BE49-F238E27FC236}">
                <a16:creationId xmlns:a16="http://schemas.microsoft.com/office/drawing/2014/main" id="{D1333400-29AF-B3BE-31BC-15B6611C7ABF}"/>
              </a:ext>
            </a:extLst>
          </p:cNvPr>
          <p:cNvSpPr/>
          <p:nvPr/>
        </p:nvSpPr>
        <p:spPr>
          <a:xfrm>
            <a:off x="868680" y="2341321"/>
            <a:ext cx="0" cy="274320"/>
          </a:xfrm>
          <a:prstGeom prst="line">
            <a:avLst/>
          </a:prstGeom>
          <a:noFill/>
          <a:ln w="25400">
            <a:solidFill>
              <a:srgbClr val="E8E6DC"/>
            </a:solidFill>
            <a:prstDash val="solid"/>
          </a:ln>
        </p:spPr>
        <p:txBody>
          <a:bodyPr/>
          <a:lstStyle/>
          <a:p>
            <a:endParaRPr lang="en-US"/>
          </a:p>
        </p:txBody>
      </p:sp>
      <p:sp>
        <p:nvSpPr>
          <p:cNvPr id="11" name="Text 9">
            <a:extLst>
              <a:ext uri="{FF2B5EF4-FFF2-40B4-BE49-F238E27FC236}">
                <a16:creationId xmlns:a16="http://schemas.microsoft.com/office/drawing/2014/main" id="{E0898FEF-23D7-D0CC-5A2C-3FA37FC18CCA}"/>
              </a:ext>
            </a:extLst>
          </p:cNvPr>
          <p:cNvSpPr/>
          <p:nvPr/>
        </p:nvSpPr>
        <p:spPr>
          <a:xfrm>
            <a:off x="1325880" y="1806808"/>
            <a:ext cx="3657600" cy="320040"/>
          </a:xfrm>
          <a:prstGeom prst="rect">
            <a:avLst/>
          </a:prstGeom>
          <a:noFill/>
          <a:ln/>
        </p:spPr>
        <p:txBody>
          <a:bodyPr wrap="square" lIns="0" tIns="0" rIns="0" bIns="0" rtlCol="0" anchor="ctr"/>
          <a:lstStyle/>
          <a:p>
            <a:r>
              <a:rPr lang="en-US" sz="1600" b="1" dirty="0">
                <a:solidFill>
                  <a:srgbClr val="141413"/>
                </a:solidFill>
                <a:latin typeface="Lora" pitchFamily="34" charset="0"/>
                <a:ea typeface="Lora" pitchFamily="34" charset="-122"/>
                <a:cs typeface="Lora" pitchFamily="34" charset="-120"/>
              </a:rPr>
              <a:t>Multi-MCP coordination</a:t>
            </a:r>
            <a:endParaRPr lang="en-US" sz="1600" dirty="0"/>
          </a:p>
        </p:txBody>
      </p:sp>
      <p:sp>
        <p:nvSpPr>
          <p:cNvPr id="12" name="Text 10">
            <a:extLst>
              <a:ext uri="{FF2B5EF4-FFF2-40B4-BE49-F238E27FC236}">
                <a16:creationId xmlns:a16="http://schemas.microsoft.com/office/drawing/2014/main" id="{99987897-8A2E-09F9-C534-F0AD97E2444D}"/>
              </a:ext>
            </a:extLst>
          </p:cNvPr>
          <p:cNvSpPr/>
          <p:nvPr/>
        </p:nvSpPr>
        <p:spPr>
          <a:xfrm>
            <a:off x="1325880" y="2108560"/>
            <a:ext cx="6858000" cy="320040"/>
          </a:xfrm>
          <a:prstGeom prst="rect">
            <a:avLst/>
          </a:prstGeom>
          <a:noFill/>
          <a:ln/>
        </p:spPr>
        <p:txBody>
          <a:bodyPr wrap="square" lIns="0" tIns="0" rIns="0" bIns="0" rtlCol="0" anchor="ctr"/>
          <a:lstStyle/>
          <a:p>
            <a:r>
              <a:rPr lang="en-US" sz="1400" dirty="0">
                <a:solidFill>
                  <a:srgbClr val="B0AEA5"/>
                </a:solidFill>
                <a:latin typeface="Lora" pitchFamily="34" charset="0"/>
                <a:ea typeface="Lora" pitchFamily="34" charset="-122"/>
                <a:cs typeface="Lora" pitchFamily="34" charset="-120"/>
              </a:rPr>
              <a:t>Workflows spanning multiple services with clear phase separation</a:t>
            </a:r>
            <a:endParaRPr lang="en-US" sz="1400" dirty="0"/>
          </a:p>
        </p:txBody>
      </p:sp>
      <p:sp>
        <p:nvSpPr>
          <p:cNvPr id="13" name="Shape 11">
            <a:extLst>
              <a:ext uri="{FF2B5EF4-FFF2-40B4-BE49-F238E27FC236}">
                <a16:creationId xmlns:a16="http://schemas.microsoft.com/office/drawing/2014/main" id="{94372311-A5AC-6B9A-71E7-F029AE4E184A}"/>
              </a:ext>
            </a:extLst>
          </p:cNvPr>
          <p:cNvSpPr/>
          <p:nvPr/>
        </p:nvSpPr>
        <p:spPr>
          <a:xfrm>
            <a:off x="640080" y="2675488"/>
            <a:ext cx="457200" cy="457200"/>
          </a:xfrm>
          <a:prstGeom prst="ellipse">
            <a:avLst/>
          </a:prstGeom>
          <a:solidFill>
            <a:srgbClr val="B5758A"/>
          </a:solidFill>
          <a:ln/>
        </p:spPr>
        <p:txBody>
          <a:bodyPr/>
          <a:lstStyle/>
          <a:p>
            <a:endParaRPr lang="en-US"/>
          </a:p>
        </p:txBody>
      </p:sp>
      <p:sp>
        <p:nvSpPr>
          <p:cNvPr id="14" name="Text 12">
            <a:extLst>
              <a:ext uri="{FF2B5EF4-FFF2-40B4-BE49-F238E27FC236}">
                <a16:creationId xmlns:a16="http://schemas.microsoft.com/office/drawing/2014/main" id="{96976863-C30A-6578-0327-B2C13C49D3F7}"/>
              </a:ext>
            </a:extLst>
          </p:cNvPr>
          <p:cNvSpPr/>
          <p:nvPr/>
        </p:nvSpPr>
        <p:spPr>
          <a:xfrm>
            <a:off x="640080" y="267548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Lora" pitchFamily="34" charset="0"/>
                <a:ea typeface="Lora" pitchFamily="34" charset="-122"/>
                <a:cs typeface="Lora" pitchFamily="34" charset="-120"/>
              </a:rPr>
              <a:t>3</a:t>
            </a:r>
            <a:endParaRPr lang="en-US" sz="1800" dirty="0"/>
          </a:p>
        </p:txBody>
      </p:sp>
      <p:sp>
        <p:nvSpPr>
          <p:cNvPr id="15" name="Shape 13">
            <a:extLst>
              <a:ext uri="{FF2B5EF4-FFF2-40B4-BE49-F238E27FC236}">
                <a16:creationId xmlns:a16="http://schemas.microsoft.com/office/drawing/2014/main" id="{7CC004D7-E2E2-F6DE-CEA1-0D6B381E20C2}"/>
              </a:ext>
            </a:extLst>
          </p:cNvPr>
          <p:cNvSpPr/>
          <p:nvPr/>
        </p:nvSpPr>
        <p:spPr>
          <a:xfrm>
            <a:off x="868680" y="3178408"/>
            <a:ext cx="0" cy="274320"/>
          </a:xfrm>
          <a:prstGeom prst="line">
            <a:avLst/>
          </a:prstGeom>
          <a:noFill/>
          <a:ln w="25400">
            <a:solidFill>
              <a:srgbClr val="E8E6DC"/>
            </a:solidFill>
            <a:prstDash val="solid"/>
          </a:ln>
        </p:spPr>
        <p:txBody>
          <a:bodyPr/>
          <a:lstStyle/>
          <a:p>
            <a:endParaRPr lang="en-US"/>
          </a:p>
        </p:txBody>
      </p:sp>
      <p:sp>
        <p:nvSpPr>
          <p:cNvPr id="16" name="Text 14">
            <a:extLst>
              <a:ext uri="{FF2B5EF4-FFF2-40B4-BE49-F238E27FC236}">
                <a16:creationId xmlns:a16="http://schemas.microsoft.com/office/drawing/2014/main" id="{F5316E92-560D-410A-AEDC-241677619A0A}"/>
              </a:ext>
            </a:extLst>
          </p:cNvPr>
          <p:cNvSpPr/>
          <p:nvPr/>
        </p:nvSpPr>
        <p:spPr>
          <a:xfrm>
            <a:off x="1325880" y="2670916"/>
            <a:ext cx="3657600" cy="320040"/>
          </a:xfrm>
          <a:prstGeom prst="rect">
            <a:avLst/>
          </a:prstGeom>
          <a:noFill/>
          <a:ln/>
        </p:spPr>
        <p:txBody>
          <a:bodyPr wrap="square" lIns="0" tIns="0" rIns="0" bIns="0" rtlCol="0" anchor="ctr"/>
          <a:lstStyle/>
          <a:p>
            <a:r>
              <a:rPr lang="en-US" sz="1600" b="1" dirty="0">
                <a:solidFill>
                  <a:srgbClr val="141413"/>
                </a:solidFill>
                <a:latin typeface="Lora" pitchFamily="34" charset="0"/>
                <a:ea typeface="Lora" pitchFamily="34" charset="-122"/>
                <a:cs typeface="Lora" pitchFamily="34" charset="-120"/>
              </a:rPr>
              <a:t>Iterative refinement</a:t>
            </a:r>
            <a:endParaRPr lang="en-US" sz="1600" dirty="0"/>
          </a:p>
        </p:txBody>
      </p:sp>
      <p:sp>
        <p:nvSpPr>
          <p:cNvPr id="17" name="Text 15">
            <a:extLst>
              <a:ext uri="{FF2B5EF4-FFF2-40B4-BE49-F238E27FC236}">
                <a16:creationId xmlns:a16="http://schemas.microsoft.com/office/drawing/2014/main" id="{2EEF680E-9FC8-664F-9DCA-C2D967977A77}"/>
              </a:ext>
            </a:extLst>
          </p:cNvPr>
          <p:cNvSpPr/>
          <p:nvPr/>
        </p:nvSpPr>
        <p:spPr>
          <a:xfrm>
            <a:off x="1325880" y="2972668"/>
            <a:ext cx="6858000" cy="320040"/>
          </a:xfrm>
          <a:prstGeom prst="rect">
            <a:avLst/>
          </a:prstGeom>
          <a:noFill/>
          <a:ln/>
        </p:spPr>
        <p:txBody>
          <a:bodyPr wrap="square" lIns="0" tIns="0" rIns="0" bIns="0" rtlCol="0" anchor="ctr"/>
          <a:lstStyle/>
          <a:p>
            <a:r>
              <a:rPr lang="en-US" sz="1400" dirty="0">
                <a:solidFill>
                  <a:srgbClr val="B0AEA5"/>
                </a:solidFill>
                <a:latin typeface="Lora" pitchFamily="34" charset="0"/>
                <a:ea typeface="Lora" pitchFamily="34" charset="-122"/>
                <a:cs typeface="Lora" pitchFamily="34" charset="-120"/>
              </a:rPr>
              <a:t>Output quality improves through generate-validate-fix loops</a:t>
            </a:r>
            <a:endParaRPr lang="en-US" sz="1400" dirty="0"/>
          </a:p>
        </p:txBody>
      </p:sp>
      <p:sp>
        <p:nvSpPr>
          <p:cNvPr id="18" name="Shape 16">
            <a:extLst>
              <a:ext uri="{FF2B5EF4-FFF2-40B4-BE49-F238E27FC236}">
                <a16:creationId xmlns:a16="http://schemas.microsoft.com/office/drawing/2014/main" id="{466914A4-6D0E-CA48-9354-6D38083A82AF}"/>
              </a:ext>
            </a:extLst>
          </p:cNvPr>
          <p:cNvSpPr/>
          <p:nvPr/>
        </p:nvSpPr>
        <p:spPr>
          <a:xfrm>
            <a:off x="640080" y="3498448"/>
            <a:ext cx="457200" cy="457200"/>
          </a:xfrm>
          <a:prstGeom prst="ellipse">
            <a:avLst/>
          </a:prstGeom>
          <a:solidFill>
            <a:srgbClr val="B5758A"/>
          </a:solidFill>
          <a:ln/>
        </p:spPr>
        <p:txBody>
          <a:bodyPr/>
          <a:lstStyle/>
          <a:p>
            <a:endParaRPr lang="en-US"/>
          </a:p>
        </p:txBody>
      </p:sp>
      <p:sp>
        <p:nvSpPr>
          <p:cNvPr id="19" name="Text 17">
            <a:extLst>
              <a:ext uri="{FF2B5EF4-FFF2-40B4-BE49-F238E27FC236}">
                <a16:creationId xmlns:a16="http://schemas.microsoft.com/office/drawing/2014/main" id="{E204375A-1686-9100-D1A2-A98D66F58076}"/>
              </a:ext>
            </a:extLst>
          </p:cNvPr>
          <p:cNvSpPr/>
          <p:nvPr/>
        </p:nvSpPr>
        <p:spPr>
          <a:xfrm>
            <a:off x="640080" y="349844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Lora" pitchFamily="34" charset="0"/>
                <a:ea typeface="Lora" pitchFamily="34" charset="-122"/>
                <a:cs typeface="Lora" pitchFamily="34" charset="-120"/>
              </a:rPr>
              <a:t>4</a:t>
            </a:r>
            <a:endParaRPr lang="en-US" sz="1800" dirty="0"/>
          </a:p>
        </p:txBody>
      </p:sp>
      <p:sp>
        <p:nvSpPr>
          <p:cNvPr id="20" name="Text 18">
            <a:extLst>
              <a:ext uri="{FF2B5EF4-FFF2-40B4-BE49-F238E27FC236}">
                <a16:creationId xmlns:a16="http://schemas.microsoft.com/office/drawing/2014/main" id="{CB487AD2-BDC1-3D99-9434-7EADCE755FA4}"/>
              </a:ext>
            </a:extLst>
          </p:cNvPr>
          <p:cNvSpPr/>
          <p:nvPr/>
        </p:nvSpPr>
        <p:spPr>
          <a:xfrm>
            <a:off x="1325880" y="3498448"/>
            <a:ext cx="3657600" cy="320040"/>
          </a:xfrm>
          <a:prstGeom prst="rect">
            <a:avLst/>
          </a:prstGeom>
          <a:noFill/>
          <a:ln/>
        </p:spPr>
        <p:txBody>
          <a:bodyPr wrap="square" lIns="0" tIns="0" rIns="0" bIns="0" rtlCol="0" anchor="ctr"/>
          <a:lstStyle/>
          <a:p>
            <a:r>
              <a:rPr lang="en-US" sz="1600" b="1" dirty="0">
                <a:solidFill>
                  <a:srgbClr val="141413"/>
                </a:solidFill>
                <a:latin typeface="Lora" pitchFamily="34" charset="0"/>
                <a:ea typeface="Lora" pitchFamily="34" charset="-122"/>
                <a:cs typeface="Lora" pitchFamily="34" charset="-120"/>
              </a:rPr>
              <a:t>Domain-specific intelligence.                        </a:t>
            </a:r>
            <a:endParaRPr lang="en-US" sz="1600" dirty="0"/>
          </a:p>
        </p:txBody>
      </p:sp>
      <p:sp>
        <p:nvSpPr>
          <p:cNvPr id="21" name="Text 19">
            <a:extLst>
              <a:ext uri="{FF2B5EF4-FFF2-40B4-BE49-F238E27FC236}">
                <a16:creationId xmlns:a16="http://schemas.microsoft.com/office/drawing/2014/main" id="{68D7E8C6-1DA7-D777-66B3-F9E23553E1B7}"/>
              </a:ext>
            </a:extLst>
          </p:cNvPr>
          <p:cNvSpPr/>
          <p:nvPr/>
        </p:nvSpPr>
        <p:spPr>
          <a:xfrm>
            <a:off x="1325880" y="3800200"/>
            <a:ext cx="6858000" cy="320040"/>
          </a:xfrm>
          <a:prstGeom prst="rect">
            <a:avLst/>
          </a:prstGeom>
          <a:noFill/>
          <a:ln/>
        </p:spPr>
        <p:txBody>
          <a:bodyPr wrap="square" lIns="0" tIns="0" rIns="0" bIns="0" rtlCol="0" anchor="ctr"/>
          <a:lstStyle/>
          <a:p>
            <a:r>
              <a:rPr lang="en-US" sz="1400" dirty="0">
                <a:solidFill>
                  <a:srgbClr val="B0AEA5"/>
                </a:solidFill>
                <a:latin typeface="Lora" pitchFamily="34" charset="0"/>
                <a:ea typeface="Lora" pitchFamily="34" charset="-122"/>
                <a:cs typeface="Lora" pitchFamily="34" charset="-120"/>
              </a:rPr>
              <a:t>Specialized knowledge beyond tool access (compliance rules, style guides)</a:t>
            </a:r>
            <a:endParaRPr lang="en-US" sz="1400" dirty="0"/>
          </a:p>
        </p:txBody>
      </p:sp>
      <p:sp>
        <p:nvSpPr>
          <p:cNvPr id="22" name="Shape 13">
            <a:extLst>
              <a:ext uri="{FF2B5EF4-FFF2-40B4-BE49-F238E27FC236}">
                <a16:creationId xmlns:a16="http://schemas.microsoft.com/office/drawing/2014/main" id="{A78A4638-0AAF-D8AB-166F-9DC7FE16B5B1}"/>
              </a:ext>
            </a:extLst>
          </p:cNvPr>
          <p:cNvSpPr/>
          <p:nvPr/>
        </p:nvSpPr>
        <p:spPr>
          <a:xfrm>
            <a:off x="868680" y="4047088"/>
            <a:ext cx="0" cy="274320"/>
          </a:xfrm>
          <a:prstGeom prst="line">
            <a:avLst/>
          </a:prstGeom>
          <a:noFill/>
          <a:ln w="25400">
            <a:solidFill>
              <a:srgbClr val="E8E6DC"/>
            </a:solidFill>
            <a:prstDash val="solid"/>
          </a:ln>
        </p:spPr>
        <p:txBody>
          <a:bodyPr/>
          <a:lstStyle/>
          <a:p>
            <a:endParaRPr lang="en-US"/>
          </a:p>
        </p:txBody>
      </p:sp>
      <p:sp>
        <p:nvSpPr>
          <p:cNvPr id="23" name="Shape 16">
            <a:extLst>
              <a:ext uri="{FF2B5EF4-FFF2-40B4-BE49-F238E27FC236}">
                <a16:creationId xmlns:a16="http://schemas.microsoft.com/office/drawing/2014/main" id="{4654444A-1FC4-B8A4-E8C0-53907E630A4A}"/>
              </a:ext>
            </a:extLst>
          </p:cNvPr>
          <p:cNvSpPr/>
          <p:nvPr/>
        </p:nvSpPr>
        <p:spPr>
          <a:xfrm>
            <a:off x="640080" y="4367128"/>
            <a:ext cx="457200" cy="457200"/>
          </a:xfrm>
          <a:prstGeom prst="ellipse">
            <a:avLst/>
          </a:prstGeom>
          <a:solidFill>
            <a:srgbClr val="B5758A"/>
          </a:solidFill>
          <a:ln/>
        </p:spPr>
        <p:txBody>
          <a:bodyPr/>
          <a:lstStyle/>
          <a:p>
            <a:endParaRPr lang="en-US"/>
          </a:p>
        </p:txBody>
      </p:sp>
      <p:sp>
        <p:nvSpPr>
          <p:cNvPr id="24" name="Text 17">
            <a:extLst>
              <a:ext uri="{FF2B5EF4-FFF2-40B4-BE49-F238E27FC236}">
                <a16:creationId xmlns:a16="http://schemas.microsoft.com/office/drawing/2014/main" id="{F324F24A-1E2E-D10C-0840-2C6F62F9FAEA}"/>
              </a:ext>
            </a:extLst>
          </p:cNvPr>
          <p:cNvSpPr/>
          <p:nvPr/>
        </p:nvSpPr>
        <p:spPr>
          <a:xfrm>
            <a:off x="640080" y="4367128"/>
            <a:ext cx="457200" cy="457200"/>
          </a:xfrm>
          <a:prstGeom prst="rect">
            <a:avLst/>
          </a:prstGeom>
          <a:noFill/>
          <a:ln/>
        </p:spPr>
        <p:txBody>
          <a:bodyPr wrap="square" lIns="0" tIns="0" rIns="0" bIns="0" rtlCol="0" anchor="ctr"/>
          <a:lstStyle/>
          <a:p>
            <a:pPr marL="0" indent="0" algn="ctr">
              <a:buNone/>
            </a:pPr>
            <a:r>
              <a:rPr lang="en-US" b="1" dirty="0">
                <a:solidFill>
                  <a:srgbClr val="FFFFFF"/>
                </a:solidFill>
                <a:latin typeface="Lora" pitchFamily="34" charset="0"/>
              </a:rPr>
              <a:t>5</a:t>
            </a:r>
            <a:endParaRPr lang="en-US" sz="1800" dirty="0"/>
          </a:p>
        </p:txBody>
      </p:sp>
      <p:sp>
        <p:nvSpPr>
          <p:cNvPr id="25" name="Text 18">
            <a:extLst>
              <a:ext uri="{FF2B5EF4-FFF2-40B4-BE49-F238E27FC236}">
                <a16:creationId xmlns:a16="http://schemas.microsoft.com/office/drawing/2014/main" id="{EB7262A2-843E-83EC-D2C6-209113CCB031}"/>
              </a:ext>
            </a:extLst>
          </p:cNvPr>
          <p:cNvSpPr/>
          <p:nvPr/>
        </p:nvSpPr>
        <p:spPr>
          <a:xfrm>
            <a:off x="1325880" y="4367128"/>
            <a:ext cx="3657600" cy="320040"/>
          </a:xfrm>
          <a:prstGeom prst="rect">
            <a:avLst/>
          </a:prstGeom>
          <a:noFill/>
          <a:ln/>
        </p:spPr>
        <p:txBody>
          <a:bodyPr wrap="square" lIns="0" tIns="0" rIns="0" bIns="0" rtlCol="0" anchor="ctr"/>
          <a:lstStyle/>
          <a:p>
            <a:r>
              <a:rPr lang="en-US" sz="1600" b="1" dirty="0">
                <a:solidFill>
                  <a:srgbClr val="141413"/>
                </a:solidFill>
                <a:latin typeface="Lora" pitchFamily="34" charset="0"/>
                <a:ea typeface="Lora" pitchFamily="34" charset="-122"/>
                <a:cs typeface="Lora" pitchFamily="34" charset="-120"/>
              </a:rPr>
              <a:t>Context-aware tool selection</a:t>
            </a:r>
            <a:endParaRPr lang="en-US" sz="1600" dirty="0"/>
          </a:p>
        </p:txBody>
      </p:sp>
      <p:sp>
        <p:nvSpPr>
          <p:cNvPr id="26" name="Text 19">
            <a:extLst>
              <a:ext uri="{FF2B5EF4-FFF2-40B4-BE49-F238E27FC236}">
                <a16:creationId xmlns:a16="http://schemas.microsoft.com/office/drawing/2014/main" id="{D1968388-5878-687B-6430-FEFDDB0DB6CB}"/>
              </a:ext>
            </a:extLst>
          </p:cNvPr>
          <p:cNvSpPr/>
          <p:nvPr/>
        </p:nvSpPr>
        <p:spPr>
          <a:xfrm>
            <a:off x="1325880" y="4668880"/>
            <a:ext cx="6858000" cy="320040"/>
          </a:xfrm>
          <a:prstGeom prst="rect">
            <a:avLst/>
          </a:prstGeom>
          <a:noFill/>
          <a:ln/>
        </p:spPr>
        <p:txBody>
          <a:bodyPr wrap="square" lIns="0" tIns="0" rIns="0" bIns="0" rtlCol="0" anchor="ctr"/>
          <a:lstStyle/>
          <a:p>
            <a:r>
              <a:rPr lang="en-US" sz="1400" dirty="0">
                <a:solidFill>
                  <a:srgbClr val="B0AEA5"/>
                </a:solidFill>
                <a:latin typeface="Lora" pitchFamily="34" charset="0"/>
                <a:ea typeface="Lora" pitchFamily="34" charset="-122"/>
                <a:cs typeface="Lora" pitchFamily="34" charset="-120"/>
              </a:rPr>
              <a:t>Same outcome, different tools depending on context (file size, type, etc.)</a:t>
            </a:r>
            <a:endParaRPr lang="en-US" sz="1400" dirty="0"/>
          </a:p>
        </p:txBody>
      </p:sp>
    </p:spTree>
    <p:extLst>
      <p:ext uri="{BB962C8B-B14F-4D97-AF65-F5344CB8AC3E}">
        <p14:creationId xmlns:p14="http://schemas.microsoft.com/office/powerpoint/2010/main" val="19409958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100" name="Side Stripe Override"/>
          <p:cNvSpPr/>
          <p:nvPr/>
        </p:nvSpPr>
        <p:spPr>
          <a:xfrm>
            <a:off x="0" y="0"/>
            <a:ext cx="73152" cy="5143500"/>
          </a:xfrm>
          <a:prstGeom prst="rect">
            <a:avLst/>
          </a:prstGeom>
          <a:solidFill>
            <a:srgbClr val="9D8FBF"/>
          </a:solidFill>
          <a:ln/>
        </p:spPr>
        <p:txBody>
          <a:bodyPr/>
          <a:lstStyle/>
          <a:p>
            <a:endParaRPr lang="en-US"/>
          </a:p>
        </p:txBody>
      </p:sp>
      <p:sp>
        <p:nvSpPr>
          <p:cNvPr id="2" name="Text 0"/>
          <p:cNvSpPr/>
          <p:nvPr/>
        </p:nvSpPr>
        <p:spPr>
          <a:xfrm>
            <a:off x="640080" y="1097280"/>
            <a:ext cx="2743200" cy="457200"/>
          </a:xfrm>
          <a:prstGeom prst="rect">
            <a:avLst/>
          </a:prstGeom>
          <a:noFill/>
          <a:ln/>
        </p:spPr>
        <p:txBody>
          <a:bodyPr wrap="square" lIns="0" tIns="0" rIns="0" bIns="0" rtlCol="0" anchor="ctr"/>
          <a:lstStyle/>
          <a:p>
            <a:pPr marL="0" indent="0">
              <a:buNone/>
            </a:pPr>
            <a:r>
              <a:rPr lang="en-US" sz="1400" b="1" dirty="0">
                <a:solidFill>
                  <a:srgbClr val="9D8FBF"/>
                </a:solidFill>
                <a:latin typeface="Lora" pitchFamily="34" charset="0"/>
                <a:ea typeface="Lora" pitchFamily="34" charset="-122"/>
                <a:cs typeface="Lora" pitchFamily="34" charset="-120"/>
              </a:rPr>
              <a:t>SECTION 05</a:t>
            </a:r>
            <a:endParaRPr lang="en-US" sz="1400" dirty="0"/>
          </a:p>
        </p:txBody>
      </p:sp>
      <p:sp>
        <p:nvSpPr>
          <p:cNvPr id="3" name="Text 1"/>
          <p:cNvSpPr/>
          <p:nvPr/>
        </p:nvSpPr>
        <p:spPr>
          <a:xfrm>
            <a:off x="640080" y="1645920"/>
            <a:ext cx="5943600" cy="1097280"/>
          </a:xfrm>
          <a:prstGeom prst="rect">
            <a:avLst/>
          </a:prstGeom>
          <a:noFill/>
          <a:ln/>
        </p:spPr>
        <p:txBody>
          <a:bodyPr wrap="square" lIns="0" tIns="0" rIns="0" bIns="0" rtlCol="0" anchor="ctr"/>
          <a:lstStyle/>
          <a:p>
            <a:pPr marL="0" indent="0">
              <a:buNone/>
            </a:pPr>
            <a:r>
              <a:rPr lang="en-US" sz="4000" b="1" dirty="0">
                <a:solidFill>
                  <a:srgbClr val="FAF9F5"/>
                </a:solidFill>
                <a:latin typeface="Test Tiempos Headline Light" pitchFamily="34" charset="0"/>
                <a:ea typeface="Test Tiempos Headline Light" pitchFamily="34" charset="-122"/>
                <a:cs typeface="Test Tiempos Headline Light" pitchFamily="34" charset="-120"/>
              </a:rPr>
              <a:t>Skills in context and troubleshooting</a:t>
            </a:r>
            <a:endParaRPr lang="en-US" sz="4000" dirty="0"/>
          </a:p>
        </p:txBody>
      </p:sp>
      <p:sp>
        <p:nvSpPr>
          <p:cNvPr id="4" name="Text 2"/>
          <p:cNvSpPr/>
          <p:nvPr/>
        </p:nvSpPr>
        <p:spPr>
          <a:xfrm>
            <a:off x="640080" y="2926080"/>
            <a:ext cx="5486400" cy="640080"/>
          </a:xfrm>
          <a:prstGeom prst="rect">
            <a:avLst/>
          </a:prstGeom>
          <a:noFill/>
          <a:ln/>
        </p:spPr>
        <p:txBody>
          <a:bodyPr wrap="square" lIns="0" tIns="0" rIns="0" bIns="0" rtlCol="0" anchor="ctr"/>
          <a:lstStyle/>
          <a:p>
            <a:pPr marL="0" indent="0">
              <a:buNone/>
            </a:pPr>
            <a:r>
              <a:rPr lang="en-US" sz="1600" dirty="0">
                <a:solidFill>
                  <a:srgbClr val="B0AEA5"/>
                </a:solidFill>
                <a:latin typeface="Lora" pitchFamily="34" charset="0"/>
                <a:ea typeface="Lora" pitchFamily="34" charset="-122"/>
                <a:cs typeface="Lora" pitchFamily="34" charset="-120"/>
              </a:rPr>
              <a:t>Explore built-in skills, understand when to choose skills over other Claude Code customization features, and learn to diagnose common issues.</a:t>
            </a:r>
            <a:endParaRPr lang="en-US" sz="1600" dirty="0"/>
          </a:p>
        </p:txBody>
      </p:sp>
      <p:sp>
        <p:nvSpPr>
          <p:cNvPr id="5" name="Shape 3"/>
          <p:cNvSpPr/>
          <p:nvPr/>
        </p:nvSpPr>
        <p:spPr>
          <a:xfrm>
            <a:off x="640080" y="3931920"/>
            <a:ext cx="1463040" cy="320040"/>
          </a:xfrm>
          <a:prstGeom prst="roundRect">
            <a:avLst>
              <a:gd name="adj" fmla="val 14286"/>
            </a:avLst>
          </a:prstGeom>
          <a:solidFill>
            <a:srgbClr val="9D8FBF">
              <a:alpha val="20000"/>
            </a:srgbClr>
          </a:solidFill>
          <a:ln/>
        </p:spPr>
        <p:txBody>
          <a:bodyPr/>
          <a:lstStyle/>
          <a:p>
            <a:endParaRPr lang="en-US"/>
          </a:p>
        </p:txBody>
      </p:sp>
      <p:sp>
        <p:nvSpPr>
          <p:cNvPr id="6" name="Text 4"/>
          <p:cNvSpPr/>
          <p:nvPr/>
        </p:nvSpPr>
        <p:spPr>
          <a:xfrm>
            <a:off x="640080" y="3913632"/>
            <a:ext cx="1463040" cy="365760"/>
          </a:xfrm>
          <a:prstGeom prst="rect">
            <a:avLst/>
          </a:prstGeom>
          <a:noFill/>
          <a:ln/>
        </p:spPr>
        <p:txBody>
          <a:bodyPr wrap="square" lIns="0" tIns="0" rIns="0" bIns="0" rtlCol="0" anchor="ctr"/>
          <a:lstStyle/>
          <a:p>
            <a:pPr marL="0" indent="0" algn="ctr">
              <a:buNone/>
            </a:pPr>
            <a:r>
              <a:rPr lang="en-US" sz="1100" dirty="0">
                <a:solidFill>
                  <a:srgbClr val="9D8FBF"/>
                </a:solidFill>
                <a:latin typeface="Lora" pitchFamily="34" charset="0"/>
                <a:ea typeface="Lora" pitchFamily="34" charset="-122"/>
                <a:cs typeface="Lora" pitchFamily="34" charset="-120"/>
              </a:rPr>
              <a:t>~15 minutes</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274320"/>
            <a:ext cx="7315200" cy="548640"/>
          </a:xfrm>
          <a:prstGeom prst="rect">
            <a:avLst/>
          </a:prstGeom>
          <a:noFill/>
          <a:ln/>
        </p:spPr>
        <p:txBody>
          <a:bodyPr wrap="square" lIns="0" tIns="0" rIns="0" bIns="0" rtlCol="0" anchor="ctr"/>
          <a:lstStyle/>
          <a:p>
            <a:pPr marL="0" indent="0">
              <a:buNone/>
            </a:pPr>
            <a:r>
              <a:rPr lang="en-US" sz="3000" b="1" dirty="0">
                <a:solidFill>
                  <a:srgbClr val="141413"/>
                </a:solidFill>
                <a:latin typeface="Test Tiempos Headline Light" pitchFamily="34" charset="0"/>
                <a:ea typeface="Test Tiempos Headline Light" pitchFamily="34" charset="-122"/>
                <a:cs typeface="Test Tiempos Headline Light" pitchFamily="34" charset="-120"/>
              </a:rPr>
              <a:t>Built-in skills</a:t>
            </a:r>
            <a:endParaRPr lang="en-US" sz="3000" dirty="0"/>
          </a:p>
        </p:txBody>
      </p:sp>
      <p:sp>
        <p:nvSpPr>
          <p:cNvPr id="3" name="Shape 1"/>
          <p:cNvSpPr/>
          <p:nvPr/>
        </p:nvSpPr>
        <p:spPr>
          <a:xfrm>
            <a:off x="457200" y="1051560"/>
            <a:ext cx="3977640" cy="16916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4" name="Shape 2"/>
          <p:cNvSpPr/>
          <p:nvPr/>
        </p:nvSpPr>
        <p:spPr>
          <a:xfrm>
            <a:off x="457200" y="1051560"/>
            <a:ext cx="3977640" cy="54864"/>
          </a:xfrm>
          <a:prstGeom prst="rect">
            <a:avLst/>
          </a:prstGeom>
          <a:solidFill>
            <a:srgbClr val="B5758A"/>
          </a:solidFill>
          <a:ln/>
        </p:spPr>
        <p:txBody>
          <a:bodyPr/>
          <a:lstStyle/>
          <a:p>
            <a:endParaRPr lang="en-US">
              <a:solidFill>
                <a:srgbClr val="D3B498"/>
              </a:solidFill>
            </a:endParaRPr>
          </a:p>
        </p:txBody>
      </p:sp>
      <p:sp>
        <p:nvSpPr>
          <p:cNvPr id="6" name="Text 3"/>
          <p:cNvSpPr/>
          <p:nvPr/>
        </p:nvSpPr>
        <p:spPr>
          <a:xfrm>
            <a:off x="1042797" y="1234440"/>
            <a:ext cx="3346323" cy="45720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/simplify</a:t>
            </a:r>
            <a:endParaRPr lang="en-US" sz="1600" dirty="0"/>
          </a:p>
        </p:txBody>
      </p:sp>
      <p:sp>
        <p:nvSpPr>
          <p:cNvPr id="7" name="Text 4"/>
          <p:cNvSpPr/>
          <p:nvPr/>
        </p:nvSpPr>
        <p:spPr>
          <a:xfrm>
            <a:off x="640080" y="1828800"/>
            <a:ext cx="3566160" cy="777240"/>
          </a:xfrm>
          <a:prstGeom prst="rect">
            <a:avLst/>
          </a:prstGeom>
          <a:noFill/>
          <a:ln/>
        </p:spPr>
        <p:txBody>
          <a:bodyPr wrap="square" lIns="0" tIns="0" rIns="0" bIns="0" rtlCol="0" anchor="ctr"/>
          <a:lstStyle/>
          <a:p>
            <a:pPr marL="0" indent="0">
              <a:buNone/>
            </a:pPr>
            <a:r>
              <a:rPr lang="en-US" sz="1200" dirty="0">
                <a:solidFill>
                  <a:srgbClr val="B0AEA5"/>
                </a:solidFill>
                <a:latin typeface="Lora" pitchFamily="34" charset="0"/>
                <a:ea typeface="Lora" pitchFamily="34" charset="-122"/>
                <a:cs typeface="Lora" pitchFamily="34" charset="-120"/>
              </a:rPr>
              <a:t>Reviews recently changed files for code reuse, quality, and efficiency. Spawns three parallel review agents and applies fixes automatically.</a:t>
            </a:r>
            <a:endParaRPr lang="en-US" sz="1200" dirty="0"/>
          </a:p>
        </p:txBody>
      </p:sp>
      <p:sp>
        <p:nvSpPr>
          <p:cNvPr id="8" name="Shape 5"/>
          <p:cNvSpPr/>
          <p:nvPr/>
        </p:nvSpPr>
        <p:spPr>
          <a:xfrm>
            <a:off x="4709160" y="1051560"/>
            <a:ext cx="3977640" cy="16916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9" name="Shape 6"/>
          <p:cNvSpPr/>
          <p:nvPr/>
        </p:nvSpPr>
        <p:spPr>
          <a:xfrm>
            <a:off x="4709160" y="1051560"/>
            <a:ext cx="3977640" cy="54864"/>
          </a:xfrm>
          <a:prstGeom prst="rect">
            <a:avLst/>
          </a:prstGeom>
          <a:solidFill>
            <a:schemeClr val="accent3"/>
          </a:solidFill>
          <a:ln/>
        </p:spPr>
        <p:txBody>
          <a:bodyPr/>
          <a:lstStyle/>
          <a:p>
            <a:endParaRPr lang="en-US"/>
          </a:p>
        </p:txBody>
      </p:sp>
      <p:sp>
        <p:nvSpPr>
          <p:cNvPr id="11" name="Text 7"/>
          <p:cNvSpPr/>
          <p:nvPr/>
        </p:nvSpPr>
        <p:spPr>
          <a:xfrm>
            <a:off x="5262372" y="1234440"/>
            <a:ext cx="3327908" cy="45720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/batch</a:t>
            </a:r>
            <a:endParaRPr lang="en-US" sz="1600" dirty="0"/>
          </a:p>
        </p:txBody>
      </p:sp>
      <p:sp>
        <p:nvSpPr>
          <p:cNvPr id="12" name="Text 8"/>
          <p:cNvSpPr/>
          <p:nvPr/>
        </p:nvSpPr>
        <p:spPr>
          <a:xfrm>
            <a:off x="4892040" y="1828800"/>
            <a:ext cx="3566160" cy="777240"/>
          </a:xfrm>
          <a:prstGeom prst="rect">
            <a:avLst/>
          </a:prstGeom>
          <a:noFill/>
          <a:ln/>
        </p:spPr>
        <p:txBody>
          <a:bodyPr wrap="square" lIns="0" tIns="0" rIns="0" bIns="0" rtlCol="0" anchor="ctr"/>
          <a:lstStyle/>
          <a:p>
            <a:pPr marL="0" indent="0">
              <a:buNone/>
            </a:pPr>
            <a:r>
              <a:rPr lang="en-US" sz="1200" dirty="0">
                <a:solidFill>
                  <a:srgbClr val="B0AEA5"/>
                </a:solidFill>
                <a:latin typeface="Lora" pitchFamily="34" charset="0"/>
                <a:ea typeface="Lora" pitchFamily="34" charset="-122"/>
                <a:cs typeface="Lora" pitchFamily="34" charset="-120"/>
              </a:rPr>
              <a:t>Orchestrates large-scale parallel codebase changes. Decomposes work into 5-30 independent units, each in its own git worktree.</a:t>
            </a:r>
            <a:endParaRPr lang="en-US" sz="1200" dirty="0"/>
          </a:p>
        </p:txBody>
      </p:sp>
      <p:sp>
        <p:nvSpPr>
          <p:cNvPr id="13" name="Shape 9"/>
          <p:cNvSpPr/>
          <p:nvPr/>
        </p:nvSpPr>
        <p:spPr>
          <a:xfrm>
            <a:off x="457200" y="2971800"/>
            <a:ext cx="3977640" cy="16916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4" name="Shape 10"/>
          <p:cNvSpPr/>
          <p:nvPr/>
        </p:nvSpPr>
        <p:spPr>
          <a:xfrm>
            <a:off x="457200" y="2971800"/>
            <a:ext cx="3977640" cy="54864"/>
          </a:xfrm>
          <a:prstGeom prst="rect">
            <a:avLst/>
          </a:prstGeom>
          <a:solidFill>
            <a:srgbClr val="6A9BCC"/>
          </a:solidFill>
          <a:ln/>
        </p:spPr>
        <p:txBody>
          <a:bodyPr/>
          <a:lstStyle/>
          <a:p>
            <a:endParaRPr lang="en-US"/>
          </a:p>
        </p:txBody>
      </p:sp>
      <p:sp>
        <p:nvSpPr>
          <p:cNvPr id="16" name="Text 11"/>
          <p:cNvSpPr/>
          <p:nvPr/>
        </p:nvSpPr>
        <p:spPr>
          <a:xfrm>
            <a:off x="1078992" y="3154680"/>
            <a:ext cx="3310128" cy="45720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Subagent skills</a:t>
            </a:r>
            <a:endParaRPr lang="en-US" sz="1600" dirty="0"/>
          </a:p>
        </p:txBody>
      </p:sp>
      <p:sp>
        <p:nvSpPr>
          <p:cNvPr id="17" name="Text 12"/>
          <p:cNvSpPr/>
          <p:nvPr/>
        </p:nvSpPr>
        <p:spPr>
          <a:xfrm>
            <a:off x="640080" y="3749040"/>
            <a:ext cx="3566160" cy="777240"/>
          </a:xfrm>
          <a:prstGeom prst="rect">
            <a:avLst/>
          </a:prstGeom>
          <a:noFill/>
          <a:ln/>
        </p:spPr>
        <p:txBody>
          <a:bodyPr wrap="square" lIns="0" tIns="0" rIns="0" bIns="0" rtlCol="0" anchor="ctr"/>
          <a:lstStyle/>
          <a:p>
            <a:pPr marL="0" indent="0">
              <a:buNone/>
            </a:pPr>
            <a:r>
              <a:rPr lang="en-US" sz="1200" dirty="0">
                <a:solidFill>
                  <a:srgbClr val="B0AEA5"/>
                </a:solidFill>
                <a:latin typeface="Lora" pitchFamily="34" charset="0"/>
                <a:ea typeface="Lora" pitchFamily="34" charset="-122"/>
                <a:cs typeface="Lora" pitchFamily="34" charset="-120"/>
              </a:rPr>
              <a:t>Custom subagents can use skills via the skills field in agent definitions. Skills are preloaded at startup, not matched on demand.</a:t>
            </a:r>
            <a:endParaRPr lang="en-US" sz="1200" dirty="0"/>
          </a:p>
        </p:txBody>
      </p:sp>
      <p:sp>
        <p:nvSpPr>
          <p:cNvPr id="18" name="Shape 13"/>
          <p:cNvSpPr/>
          <p:nvPr/>
        </p:nvSpPr>
        <p:spPr>
          <a:xfrm>
            <a:off x="4709160" y="2971800"/>
            <a:ext cx="3977640" cy="16916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9" name="Shape 14"/>
          <p:cNvSpPr/>
          <p:nvPr/>
        </p:nvSpPr>
        <p:spPr>
          <a:xfrm>
            <a:off x="4709160" y="2971800"/>
            <a:ext cx="3977640" cy="54864"/>
          </a:xfrm>
          <a:prstGeom prst="rect">
            <a:avLst/>
          </a:prstGeom>
          <a:solidFill>
            <a:schemeClr val="accent5"/>
          </a:solidFill>
          <a:ln/>
        </p:spPr>
        <p:txBody>
          <a:bodyPr/>
          <a:lstStyle/>
          <a:p>
            <a:endParaRPr lang="en-US"/>
          </a:p>
        </p:txBody>
      </p:sp>
      <p:sp>
        <p:nvSpPr>
          <p:cNvPr id="21" name="Text 15"/>
          <p:cNvSpPr/>
          <p:nvPr/>
        </p:nvSpPr>
        <p:spPr>
          <a:xfrm>
            <a:off x="5330952" y="3154680"/>
            <a:ext cx="3310128" cy="45720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Visual output skills</a:t>
            </a:r>
            <a:endParaRPr lang="en-US" sz="1600" dirty="0"/>
          </a:p>
        </p:txBody>
      </p:sp>
      <p:sp>
        <p:nvSpPr>
          <p:cNvPr id="22" name="Text 16"/>
          <p:cNvSpPr/>
          <p:nvPr/>
        </p:nvSpPr>
        <p:spPr>
          <a:xfrm>
            <a:off x="4892040" y="3749040"/>
            <a:ext cx="3566160" cy="777240"/>
          </a:xfrm>
          <a:prstGeom prst="rect">
            <a:avLst/>
          </a:prstGeom>
          <a:noFill/>
          <a:ln/>
        </p:spPr>
        <p:txBody>
          <a:bodyPr wrap="square" lIns="0" tIns="0" rIns="0" bIns="0" rtlCol="0" anchor="ctr"/>
          <a:lstStyle/>
          <a:p>
            <a:pPr marL="0" indent="0">
              <a:buNone/>
            </a:pPr>
            <a:r>
              <a:rPr lang="en-US" sz="1200" dirty="0">
                <a:solidFill>
                  <a:srgbClr val="B0AEA5"/>
                </a:solidFill>
                <a:latin typeface="Lora" pitchFamily="34" charset="0"/>
                <a:ea typeface="Lora" pitchFamily="34" charset="-122"/>
                <a:cs typeface="Lora" pitchFamily="34" charset="-120"/>
              </a:rPr>
              <a:t>Bundle scripts that generate interactive HTML visualizations. Dependency graphs, test coverage, codebase maps. Uses only built-in Python.</a:t>
            </a:r>
            <a:endParaRPr lang="en-US" sz="1200" dirty="0"/>
          </a:p>
        </p:txBody>
      </p:sp>
      <p:pic>
        <p:nvPicPr>
          <p:cNvPr id="25" name="Picture 24" descr="A purple and black logo  AI-generated content may be incorrect.">
            <a:extLst>
              <a:ext uri="{FF2B5EF4-FFF2-40B4-BE49-F238E27FC236}">
                <a16:creationId xmlns:a16="http://schemas.microsoft.com/office/drawing/2014/main" id="{FB21F7C6-8317-3594-7C4A-DAF5FDD25D63}"/>
              </a:ext>
            </a:extLst>
          </p:cNvPr>
          <p:cNvPicPr>
            <a:picLocks noChangeAspect="1"/>
          </p:cNvPicPr>
          <p:nvPr/>
        </p:nvPicPr>
        <p:blipFill>
          <a:blip r:embed="rId3"/>
          <a:stretch>
            <a:fillRect/>
          </a:stretch>
        </p:blipFill>
        <p:spPr>
          <a:xfrm>
            <a:off x="640080" y="1338834"/>
            <a:ext cx="256032" cy="256032"/>
          </a:xfrm>
          <a:prstGeom prst="rect">
            <a:avLst/>
          </a:prstGeom>
        </p:spPr>
      </p:pic>
      <p:pic>
        <p:nvPicPr>
          <p:cNvPr id="27" name="Picture 26" descr="A logo of a network  AI-generated content may be incorrect.">
            <a:extLst>
              <a:ext uri="{FF2B5EF4-FFF2-40B4-BE49-F238E27FC236}">
                <a16:creationId xmlns:a16="http://schemas.microsoft.com/office/drawing/2014/main" id="{8B4B857E-4628-0F54-6C1C-C75FD9BDCB60}"/>
              </a:ext>
            </a:extLst>
          </p:cNvPr>
          <p:cNvPicPr>
            <a:picLocks noChangeAspect="1"/>
          </p:cNvPicPr>
          <p:nvPr/>
        </p:nvPicPr>
        <p:blipFill>
          <a:blip r:embed="rId4"/>
          <a:stretch>
            <a:fillRect/>
          </a:stretch>
        </p:blipFill>
        <p:spPr>
          <a:xfrm>
            <a:off x="4892040" y="3266567"/>
            <a:ext cx="256032" cy="256032"/>
          </a:xfrm>
          <a:prstGeom prst="rect">
            <a:avLst/>
          </a:prstGeom>
        </p:spPr>
      </p:pic>
      <p:pic>
        <p:nvPicPr>
          <p:cNvPr id="29" name="Picture 28" descr="A blue and black logo  AI-generated content may be incorrect.">
            <a:extLst>
              <a:ext uri="{FF2B5EF4-FFF2-40B4-BE49-F238E27FC236}">
                <a16:creationId xmlns:a16="http://schemas.microsoft.com/office/drawing/2014/main" id="{F0DB1518-E8B2-AD73-D1BB-51AE1A4C91C1}"/>
              </a:ext>
            </a:extLst>
          </p:cNvPr>
          <p:cNvPicPr>
            <a:picLocks noChangeAspect="1"/>
          </p:cNvPicPr>
          <p:nvPr/>
        </p:nvPicPr>
        <p:blipFill>
          <a:blip r:embed="rId5"/>
          <a:stretch>
            <a:fillRect/>
          </a:stretch>
        </p:blipFill>
        <p:spPr>
          <a:xfrm>
            <a:off x="640080" y="3255264"/>
            <a:ext cx="256032" cy="256032"/>
          </a:xfrm>
          <a:prstGeom prst="rect">
            <a:avLst/>
          </a:prstGeom>
        </p:spPr>
      </p:pic>
      <p:pic>
        <p:nvPicPr>
          <p:cNvPr id="31" name="Picture 30" descr="A magnifying glass in a circle  AI-generated content may be incorrect.">
            <a:extLst>
              <a:ext uri="{FF2B5EF4-FFF2-40B4-BE49-F238E27FC236}">
                <a16:creationId xmlns:a16="http://schemas.microsoft.com/office/drawing/2014/main" id="{04B4D812-9AF8-BAC7-990F-8A55C46B92A6}"/>
              </a:ext>
            </a:extLst>
          </p:cNvPr>
          <p:cNvPicPr>
            <a:picLocks noChangeAspect="1"/>
          </p:cNvPicPr>
          <p:nvPr/>
        </p:nvPicPr>
        <p:blipFill>
          <a:blip r:embed="rId6"/>
          <a:stretch>
            <a:fillRect/>
          </a:stretch>
        </p:blipFill>
        <p:spPr>
          <a:xfrm>
            <a:off x="4855845" y="1347724"/>
            <a:ext cx="259842" cy="259842"/>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274320"/>
            <a:ext cx="7315200" cy="548640"/>
          </a:xfrm>
          <a:prstGeom prst="rect">
            <a:avLst/>
          </a:prstGeom>
          <a:noFill/>
          <a:ln/>
        </p:spPr>
        <p:txBody>
          <a:bodyPr wrap="square" lIns="0" tIns="0" rIns="0" bIns="0" rtlCol="0" anchor="ctr"/>
          <a:lstStyle/>
          <a:p>
            <a:pPr marL="0" indent="0">
              <a:buNone/>
            </a:pPr>
            <a:r>
              <a:rPr lang="en-US" sz="3000" b="1" dirty="0">
                <a:solidFill>
                  <a:srgbClr val="141413"/>
                </a:solidFill>
                <a:latin typeface="Test Tiempos Headline Light" pitchFamily="34" charset="0"/>
                <a:ea typeface="Test Tiempos Headline Light" pitchFamily="34" charset="-122"/>
                <a:cs typeface="Test Tiempos Headline Light" pitchFamily="34" charset="-120"/>
              </a:rPr>
              <a:t>Choosing the right customization tool</a:t>
            </a:r>
            <a:endParaRPr lang="en-US" sz="3000" dirty="0"/>
          </a:p>
        </p:txBody>
      </p:sp>
      <p:sp>
        <p:nvSpPr>
          <p:cNvPr id="3" name="Shape 1"/>
          <p:cNvSpPr/>
          <p:nvPr/>
        </p:nvSpPr>
        <p:spPr>
          <a:xfrm>
            <a:off x="640080" y="1051560"/>
            <a:ext cx="3749040" cy="457200"/>
          </a:xfrm>
          <a:prstGeom prst="rect">
            <a:avLst/>
          </a:prstGeom>
          <a:solidFill>
            <a:srgbClr val="8B8CDF">
              <a:alpha val="30000"/>
            </a:srgbClr>
          </a:solidFill>
          <a:ln/>
        </p:spPr>
        <p:txBody>
          <a:bodyPr/>
          <a:lstStyle/>
          <a:p>
            <a:endParaRPr lang="en-US"/>
          </a:p>
        </p:txBody>
      </p:sp>
      <p:sp>
        <p:nvSpPr>
          <p:cNvPr id="4" name="Text 2"/>
          <p:cNvSpPr/>
          <p:nvPr/>
        </p:nvSpPr>
        <p:spPr>
          <a:xfrm>
            <a:off x="640080" y="1051560"/>
            <a:ext cx="3749040" cy="457200"/>
          </a:xfrm>
          <a:prstGeom prst="rect">
            <a:avLst/>
          </a:prstGeom>
          <a:noFill/>
          <a:ln/>
        </p:spPr>
        <p:txBody>
          <a:bodyPr wrap="square" lIns="0" tIns="0" rIns="0" bIns="0" rtlCol="0" anchor="ctr"/>
          <a:lstStyle/>
          <a:p>
            <a:pPr marL="0" indent="0">
              <a:buNone/>
            </a:pPr>
            <a:r>
              <a:rPr lang="en-US" sz="1500" b="1" dirty="0">
                <a:solidFill>
                  <a:srgbClr val="141413"/>
                </a:solidFill>
                <a:latin typeface="Lora" pitchFamily="34" charset="0"/>
                <a:ea typeface="Lora" pitchFamily="34" charset="-122"/>
                <a:cs typeface="Lora" pitchFamily="34" charset="-120"/>
              </a:rPr>
              <a:t>  Always-on / Event-driven</a:t>
            </a:r>
            <a:endParaRPr lang="en-US" sz="1500" dirty="0"/>
          </a:p>
        </p:txBody>
      </p:sp>
      <p:sp>
        <p:nvSpPr>
          <p:cNvPr id="5" name="Shape 3"/>
          <p:cNvSpPr/>
          <p:nvPr/>
        </p:nvSpPr>
        <p:spPr>
          <a:xfrm>
            <a:off x="4754880" y="1051560"/>
            <a:ext cx="3749040" cy="457200"/>
          </a:xfrm>
          <a:prstGeom prst="rect">
            <a:avLst/>
          </a:prstGeom>
          <a:solidFill>
            <a:srgbClr val="8B8CDF">
              <a:alpha val="20000"/>
            </a:srgbClr>
          </a:solidFill>
          <a:ln/>
        </p:spPr>
        <p:txBody>
          <a:bodyPr/>
          <a:lstStyle/>
          <a:p>
            <a:endParaRPr lang="en-US"/>
          </a:p>
        </p:txBody>
      </p:sp>
      <p:sp>
        <p:nvSpPr>
          <p:cNvPr id="6" name="Text 4"/>
          <p:cNvSpPr/>
          <p:nvPr/>
        </p:nvSpPr>
        <p:spPr>
          <a:xfrm>
            <a:off x="4754880" y="1051560"/>
            <a:ext cx="3749040" cy="457200"/>
          </a:xfrm>
          <a:prstGeom prst="rect">
            <a:avLst/>
          </a:prstGeom>
          <a:noFill/>
          <a:ln/>
        </p:spPr>
        <p:txBody>
          <a:bodyPr wrap="square" lIns="0" tIns="0" rIns="0" bIns="0" rtlCol="0" anchor="ctr"/>
          <a:lstStyle/>
          <a:p>
            <a:pPr marL="0" indent="0">
              <a:buNone/>
            </a:pPr>
            <a:r>
              <a:rPr lang="en-US" sz="1500" b="1" dirty="0">
                <a:solidFill>
                  <a:srgbClr val="141413"/>
                </a:solidFill>
                <a:latin typeface="Lora" pitchFamily="34" charset="0"/>
                <a:ea typeface="Lora" pitchFamily="34" charset="-122"/>
                <a:cs typeface="Lora" pitchFamily="34" charset="-120"/>
              </a:rPr>
              <a:t>  On-demand / Task-specific</a:t>
            </a:r>
            <a:endParaRPr lang="en-US" sz="1500" dirty="0"/>
          </a:p>
        </p:txBody>
      </p:sp>
      <p:sp>
        <p:nvSpPr>
          <p:cNvPr id="7" name="Shape 5"/>
          <p:cNvSpPr/>
          <p:nvPr/>
        </p:nvSpPr>
        <p:spPr>
          <a:xfrm>
            <a:off x="640080" y="1600200"/>
            <a:ext cx="3749040" cy="3017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8" name="Text 6"/>
          <p:cNvSpPr/>
          <p:nvPr/>
        </p:nvSpPr>
        <p:spPr>
          <a:xfrm>
            <a:off x="868680" y="1737360"/>
            <a:ext cx="3291840" cy="2743200"/>
          </a:xfrm>
          <a:prstGeom prst="rect">
            <a:avLst/>
          </a:prstGeom>
          <a:noFill/>
          <a:ln/>
        </p:spPr>
        <p:txBody>
          <a:bodyPr wrap="square" lIns="0" tIns="0" rIns="0" bIns="0" rtlCol="0" anchor="t"/>
          <a:lstStyle/>
          <a:p>
            <a:pPr marL="0" indent="0">
              <a:buNone/>
            </a:pPr>
            <a:r>
              <a:rPr lang="en-US" sz="1300" b="1" dirty="0">
                <a:solidFill>
                  <a:srgbClr val="141413"/>
                </a:solidFill>
                <a:latin typeface="Lora" pitchFamily="34" charset="0"/>
                <a:ea typeface="Lora" pitchFamily="34" charset="-122"/>
                <a:cs typeface="Lora" pitchFamily="34" charset="-120"/>
              </a:rPr>
              <a:t>CLAUDE.md: </a:t>
            </a:r>
            <a:r>
              <a:rPr lang="en-US" sz="1300" dirty="0">
                <a:solidFill>
                  <a:srgbClr val="141413"/>
                </a:solidFill>
                <a:latin typeface="Lora" pitchFamily="34" charset="0"/>
                <a:ea typeface="Lora" pitchFamily="34" charset="-122"/>
                <a:cs typeface="Lora" pitchFamily="34" charset="-120"/>
              </a:rPr>
              <a:t>Always loaded, consumes context on every interaction</a:t>
            </a:r>
            <a:endParaRPr lang="en-US" sz="1300" dirty="0"/>
          </a:p>
          <a:p>
            <a:pPr marL="0" indent="0">
              <a:buNone/>
            </a:pPr>
            <a:endParaRPr lang="en-US" sz="1300" dirty="0"/>
          </a:p>
          <a:p>
            <a:pPr marL="0" indent="0">
              <a:buNone/>
            </a:pPr>
            <a:r>
              <a:rPr lang="en-US" sz="1300" b="1" dirty="0">
                <a:solidFill>
                  <a:srgbClr val="141413"/>
                </a:solidFill>
                <a:latin typeface="Lora" pitchFamily="34" charset="0"/>
                <a:ea typeface="Lora" pitchFamily="34" charset="-122"/>
                <a:cs typeface="Lora" pitchFamily="34" charset="-120"/>
              </a:rPr>
              <a:t>MCP servers: </a:t>
            </a:r>
            <a:r>
              <a:rPr lang="en-US" sz="1300" dirty="0">
                <a:solidFill>
                  <a:srgbClr val="141413"/>
                </a:solidFill>
                <a:latin typeface="Lora" pitchFamily="34" charset="0"/>
                <a:ea typeface="Lora" pitchFamily="34" charset="-122"/>
                <a:cs typeface="Lora" pitchFamily="34" charset="-120"/>
              </a:rPr>
              <a:t>Persistent tool connections to external services</a:t>
            </a:r>
            <a:endParaRPr lang="en-US" sz="1300" dirty="0"/>
          </a:p>
          <a:p>
            <a:pPr marL="0" indent="0">
              <a:buNone/>
            </a:pPr>
            <a:endParaRPr lang="en-US" sz="1300" dirty="0"/>
          </a:p>
          <a:p>
            <a:pPr marL="0" indent="0">
              <a:buNone/>
            </a:pPr>
            <a:r>
              <a:rPr lang="en-US" sz="1300" b="1" dirty="0">
                <a:solidFill>
                  <a:srgbClr val="141413"/>
                </a:solidFill>
                <a:latin typeface="Lora" pitchFamily="34" charset="0"/>
                <a:ea typeface="Lora" pitchFamily="34" charset="-122"/>
                <a:cs typeface="Lora" pitchFamily="34" charset="-120"/>
              </a:rPr>
              <a:t>Hooks: </a:t>
            </a:r>
            <a:r>
              <a:rPr lang="en-US" sz="1300" dirty="0">
                <a:solidFill>
                  <a:srgbClr val="141413"/>
                </a:solidFill>
                <a:latin typeface="Lora" pitchFamily="34" charset="0"/>
                <a:ea typeface="Lora" pitchFamily="34" charset="-122"/>
                <a:cs typeface="Lora" pitchFamily="34" charset="-120"/>
              </a:rPr>
              <a:t>Event-driven scripts triggered by lifecycle events</a:t>
            </a:r>
            <a:endParaRPr lang="en-US" sz="1300" dirty="0"/>
          </a:p>
        </p:txBody>
      </p:sp>
      <p:sp>
        <p:nvSpPr>
          <p:cNvPr id="9" name="Shape 7"/>
          <p:cNvSpPr/>
          <p:nvPr/>
        </p:nvSpPr>
        <p:spPr>
          <a:xfrm>
            <a:off x="4754880" y="1600200"/>
            <a:ext cx="3749040" cy="3017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1" name="Text 9"/>
          <p:cNvSpPr/>
          <p:nvPr/>
        </p:nvSpPr>
        <p:spPr>
          <a:xfrm>
            <a:off x="5029200" y="1737360"/>
            <a:ext cx="3291840" cy="2743200"/>
          </a:xfrm>
          <a:prstGeom prst="rect">
            <a:avLst/>
          </a:prstGeom>
          <a:noFill/>
          <a:ln/>
        </p:spPr>
        <p:txBody>
          <a:bodyPr wrap="square" lIns="0" tIns="0" rIns="0" bIns="0" rtlCol="0" anchor="t"/>
          <a:lstStyle/>
          <a:p>
            <a:pPr marL="0" indent="0">
              <a:buNone/>
            </a:pPr>
            <a:r>
              <a:rPr lang="en-US" sz="1300" b="1" dirty="0">
                <a:solidFill>
                  <a:srgbClr val="141413"/>
                </a:solidFill>
                <a:latin typeface="Lora" pitchFamily="34" charset="0"/>
                <a:ea typeface="Lora" pitchFamily="34" charset="-122"/>
                <a:cs typeface="Lora" pitchFamily="34" charset="-120"/>
              </a:rPr>
              <a:t>Skills: </a:t>
            </a:r>
            <a:r>
              <a:rPr lang="en-US" sz="1300" dirty="0">
                <a:solidFill>
                  <a:srgbClr val="141413"/>
                </a:solidFill>
                <a:latin typeface="Lora" pitchFamily="34" charset="0"/>
                <a:ea typeface="Lora" pitchFamily="34" charset="-122"/>
                <a:cs typeface="Lora" pitchFamily="34" charset="-120"/>
              </a:rPr>
              <a:t>On-demand instruction sets loaded only when matched</a:t>
            </a:r>
            <a:endParaRPr lang="en-US" sz="1300" dirty="0"/>
          </a:p>
          <a:p>
            <a:pPr marL="0" indent="0">
              <a:buNone/>
            </a:pPr>
            <a:endParaRPr lang="en-US" sz="1300" dirty="0"/>
          </a:p>
          <a:p>
            <a:pPr marL="0" indent="0">
              <a:buNone/>
            </a:pPr>
            <a:r>
              <a:rPr lang="en-US" sz="1300" b="1" dirty="0">
                <a:solidFill>
                  <a:srgbClr val="141413"/>
                </a:solidFill>
                <a:latin typeface="Lora" pitchFamily="34" charset="0"/>
                <a:ea typeface="Lora" pitchFamily="34" charset="-122"/>
                <a:cs typeface="Lora" pitchFamily="34" charset="-120"/>
              </a:rPr>
              <a:t>Slash commands: </a:t>
            </a:r>
            <a:r>
              <a:rPr lang="en-US" sz="1300" dirty="0">
                <a:solidFill>
                  <a:srgbClr val="141413"/>
                </a:solidFill>
                <a:latin typeface="Lora" pitchFamily="34" charset="0"/>
                <a:ea typeface="Lora" pitchFamily="34" charset="-122"/>
                <a:cs typeface="Lora" pitchFamily="34" charset="-120"/>
              </a:rPr>
              <a:t>User-triggered shortcuts for specific actions</a:t>
            </a:r>
            <a:endParaRPr lang="en-US" sz="1300" dirty="0"/>
          </a:p>
          <a:p>
            <a:pPr marL="0" indent="0">
              <a:buNone/>
            </a:pPr>
            <a:endParaRPr lang="en-US" sz="1300" dirty="0"/>
          </a:p>
          <a:p>
            <a:pPr marL="0" indent="0">
              <a:buNone/>
            </a:pPr>
            <a:r>
              <a:rPr lang="en-US" sz="1300" b="1" dirty="0">
                <a:solidFill>
                  <a:srgbClr val="141413"/>
                </a:solidFill>
                <a:latin typeface="Lora" pitchFamily="34" charset="0"/>
                <a:ea typeface="Lora" pitchFamily="34" charset="-122"/>
                <a:cs typeface="Lora" pitchFamily="34" charset="-120"/>
              </a:rPr>
              <a:t>Plugins: </a:t>
            </a:r>
            <a:r>
              <a:rPr lang="en-US" sz="1300" dirty="0">
                <a:solidFill>
                  <a:srgbClr val="141413"/>
                </a:solidFill>
                <a:latin typeface="Lora" pitchFamily="34" charset="0"/>
                <a:ea typeface="Lora" pitchFamily="34" charset="-122"/>
                <a:cs typeface="Lora" pitchFamily="34" charset="-120"/>
              </a:rPr>
              <a:t>Bundled packages combining skills, MCP, and tools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nvSpPr>
        <p:spPr>
          <a:xfrm>
            <a:off x="640080" y="182880"/>
            <a:ext cx="5212080" cy="548640"/>
          </a:xfrm>
          <a:prstGeom prst="rect">
            <a:avLst/>
          </a:prstGeom>
          <a:noFill/>
          <a:ln/>
        </p:spPr>
        <p:txBody>
          <a:bodyPr wrap="square" lIns="0" tIns="0" rIns="0" bIns="0" rtlCol="0" anchor="ctr"/>
          <a:lstStyle/>
          <a:p>
            <a:pPr marL="0" indent="0">
              <a:buNone/>
            </a:pPr>
            <a:r>
              <a:rPr lang="en-US" sz="2800" b="1" dirty="0">
                <a:solidFill>
                  <a:srgbClr val="141413"/>
                </a:solidFill>
                <a:latin typeface="Test Tiempos Headline Light" pitchFamily="34" charset="0"/>
                <a:ea typeface="Test Tiempos Headline Light" pitchFamily="34" charset="-122"/>
                <a:cs typeface="Test Tiempos Headline Light" pitchFamily="34" charset="-120"/>
              </a:rPr>
              <a:t>Discussion</a:t>
            </a:r>
            <a:endParaRPr lang="en-US" sz="2800" dirty="0"/>
          </a:p>
        </p:txBody>
      </p:sp>
      <p:sp>
        <p:nvSpPr>
          <p:cNvPr id="5" name="Shape 2"/>
          <p:cNvSpPr/>
          <p:nvPr/>
        </p:nvSpPr>
        <p:spPr>
          <a:xfrm>
            <a:off x="640080" y="1280160"/>
            <a:ext cx="8046720" cy="14630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 name="Shape 3"/>
          <p:cNvSpPr/>
          <p:nvPr/>
        </p:nvSpPr>
        <p:spPr>
          <a:xfrm>
            <a:off x="640080" y="1280160"/>
            <a:ext cx="54864" cy="1463040"/>
          </a:xfrm>
          <a:prstGeom prst="rect">
            <a:avLst/>
          </a:prstGeom>
          <a:solidFill>
            <a:schemeClr val="accent2"/>
          </a:solidFill>
          <a:ln/>
        </p:spPr>
        <p:txBody>
          <a:bodyPr/>
          <a:lstStyle/>
          <a:p>
            <a:endParaRPr lang="en-US"/>
          </a:p>
        </p:txBody>
      </p:sp>
      <p:sp>
        <p:nvSpPr>
          <p:cNvPr id="7" name="Text 4"/>
          <p:cNvSpPr/>
          <p:nvPr/>
        </p:nvSpPr>
        <p:spPr>
          <a:xfrm>
            <a:off x="918827" y="1371600"/>
            <a:ext cx="7585093" cy="1280160"/>
          </a:xfrm>
          <a:prstGeom prst="rect">
            <a:avLst/>
          </a:prstGeom>
          <a:noFill/>
          <a:ln/>
        </p:spPr>
        <p:txBody>
          <a:bodyPr wrap="square" lIns="0" tIns="0" rIns="0" bIns="0" rtlCol="0" anchor="ctr"/>
          <a:lstStyle/>
          <a:p>
            <a:pPr marL="0" indent="0">
              <a:buNone/>
            </a:pPr>
            <a:r>
              <a:rPr lang="en-US" sz="2000" dirty="0">
                <a:solidFill>
                  <a:srgbClr val="141413"/>
                </a:solidFill>
                <a:latin typeface="Lora" pitchFamily="34" charset="0"/>
                <a:ea typeface="Lora" pitchFamily="34" charset="-122"/>
                <a:cs typeface="Lora" pitchFamily="34" charset="-120"/>
              </a:rPr>
              <a:t>Your team has a deployment workflow, coding standards, and a Jira integration. Which Claude Code feature would you use for each, and why?</a:t>
            </a:r>
            <a:endParaRPr lang="en-US" sz="2000" dirty="0"/>
          </a:p>
        </p:txBody>
      </p:sp>
      <p:sp>
        <p:nvSpPr>
          <p:cNvPr id="8" name="Text 5"/>
          <p:cNvSpPr/>
          <p:nvPr/>
        </p:nvSpPr>
        <p:spPr>
          <a:xfrm>
            <a:off x="640080" y="3108960"/>
            <a:ext cx="7315200" cy="365760"/>
          </a:xfrm>
          <a:prstGeom prst="rect">
            <a:avLst/>
          </a:prstGeom>
          <a:noFill/>
          <a:ln/>
        </p:spPr>
        <p:txBody>
          <a:bodyPr wrap="square" lIns="0" tIns="0" rIns="0" bIns="0" rtlCol="0" anchor="ctr"/>
          <a:lstStyle/>
          <a:p>
            <a:pPr marL="0" indent="0">
              <a:buNone/>
            </a:pPr>
            <a:r>
              <a:rPr lang="en-US" sz="1400" b="1" dirty="0">
                <a:solidFill>
                  <a:srgbClr val="141413"/>
                </a:solidFill>
                <a:latin typeface="Lora" pitchFamily="34" charset="0"/>
                <a:ea typeface="Lora" pitchFamily="34" charset="-122"/>
                <a:cs typeface="Lora" pitchFamily="34" charset="-120"/>
              </a:rPr>
              <a:t>Discussion Guide:</a:t>
            </a:r>
            <a:endParaRPr lang="en-US" sz="1400" dirty="0"/>
          </a:p>
        </p:txBody>
      </p:sp>
      <p:sp>
        <p:nvSpPr>
          <p:cNvPr id="9" name="Text 6"/>
          <p:cNvSpPr/>
          <p:nvPr/>
        </p:nvSpPr>
        <p:spPr>
          <a:xfrm>
            <a:off x="822960" y="3474720"/>
            <a:ext cx="7315200" cy="1371600"/>
          </a:xfrm>
          <a:prstGeom prst="rect">
            <a:avLst/>
          </a:prstGeom>
          <a:noFill/>
          <a:ln/>
        </p:spPr>
        <p:txBody>
          <a:bodyPr wrap="square" rtlCol="0" anchor="ctr"/>
          <a:lstStyle/>
          <a:p>
            <a:pPr marL="342900" indent="-342900">
              <a:spcAft>
                <a:spcPts val="600"/>
              </a:spcAft>
              <a:buSzPct val="100000"/>
              <a:buChar char="•"/>
            </a:pPr>
            <a:r>
              <a:rPr lang="en-US" sz="1300" dirty="0">
                <a:solidFill>
                  <a:srgbClr val="B0AEA5"/>
                </a:solidFill>
                <a:latin typeface="Lora" pitchFamily="34" charset="0"/>
                <a:ea typeface="Lora" pitchFamily="34" charset="-122"/>
                <a:cs typeface="Lora" pitchFamily="34" charset="-120"/>
              </a:rPr>
              <a:t>Which belongs in CLAUDE.md vs. a skill?</a:t>
            </a:r>
            <a:endParaRPr lang="en-US" sz="1300" dirty="0"/>
          </a:p>
          <a:p>
            <a:pPr marL="342900" indent="-342900">
              <a:spcAft>
                <a:spcPts val="600"/>
              </a:spcAft>
              <a:buSzPct val="100000"/>
              <a:buChar char="•"/>
            </a:pPr>
            <a:r>
              <a:rPr lang="en-US" sz="1300" dirty="0">
                <a:solidFill>
                  <a:srgbClr val="B0AEA5"/>
                </a:solidFill>
                <a:latin typeface="Lora" pitchFamily="34" charset="0"/>
                <a:ea typeface="Lora" pitchFamily="34" charset="-122"/>
                <a:cs typeface="Lora" pitchFamily="34" charset="-120"/>
              </a:rPr>
              <a:t>Where do hooks fit in?</a:t>
            </a:r>
            <a:endParaRPr lang="en-US" sz="1300" dirty="0"/>
          </a:p>
          <a:p>
            <a:pPr marL="342900" indent="-342900">
              <a:spcAft>
                <a:spcPts val="600"/>
              </a:spcAft>
              <a:buSzPct val="100000"/>
              <a:buChar char="•"/>
            </a:pPr>
            <a:r>
              <a:rPr lang="en-US" sz="1300" dirty="0">
                <a:solidFill>
                  <a:srgbClr val="B0AEA5"/>
                </a:solidFill>
                <a:latin typeface="Lora" pitchFamily="34" charset="0"/>
                <a:ea typeface="Lora" pitchFamily="34" charset="-122"/>
                <a:cs typeface="Lora" pitchFamily="34" charset="-120"/>
              </a:rPr>
              <a:t>How would you handle the Jira integration?</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61" name="Shape 1">
            <a:extLst>
              <a:ext uri="{FF2B5EF4-FFF2-40B4-BE49-F238E27FC236}">
                <a16:creationId xmlns:a16="http://schemas.microsoft.com/office/drawing/2014/main" id="{8A67EAFC-7416-B735-898E-4F714BE03678}"/>
              </a:ext>
            </a:extLst>
          </p:cNvPr>
          <p:cNvSpPr/>
          <p:nvPr/>
        </p:nvSpPr>
        <p:spPr>
          <a:xfrm>
            <a:off x="447367" y="1636412"/>
            <a:ext cx="2606511" cy="22435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2" name="Shape 1">
            <a:extLst>
              <a:ext uri="{FF2B5EF4-FFF2-40B4-BE49-F238E27FC236}">
                <a16:creationId xmlns:a16="http://schemas.microsoft.com/office/drawing/2014/main" id="{69A43A87-D582-43E6-AB74-F0349B6A536F}"/>
              </a:ext>
            </a:extLst>
          </p:cNvPr>
          <p:cNvSpPr/>
          <p:nvPr/>
        </p:nvSpPr>
        <p:spPr>
          <a:xfrm>
            <a:off x="3282478" y="1636412"/>
            <a:ext cx="2606511" cy="2243579"/>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3" name="Shape 1">
            <a:extLst>
              <a:ext uri="{FF2B5EF4-FFF2-40B4-BE49-F238E27FC236}">
                <a16:creationId xmlns:a16="http://schemas.microsoft.com/office/drawing/2014/main" id="{274E6610-C9B3-CC13-26D2-4AC1DC5BBE0B}"/>
              </a:ext>
            </a:extLst>
          </p:cNvPr>
          <p:cNvSpPr/>
          <p:nvPr/>
        </p:nvSpPr>
        <p:spPr>
          <a:xfrm>
            <a:off x="6117589" y="1636412"/>
            <a:ext cx="2606511" cy="22435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 name="Text 0"/>
          <p:cNvSpPr/>
          <p:nvPr/>
        </p:nvSpPr>
        <p:spPr>
          <a:xfrm>
            <a:off x="640080" y="274320"/>
            <a:ext cx="7315200" cy="548640"/>
          </a:xfrm>
          <a:prstGeom prst="rect">
            <a:avLst/>
          </a:prstGeom>
          <a:noFill/>
          <a:ln/>
        </p:spPr>
        <p:txBody>
          <a:bodyPr wrap="square" lIns="0" tIns="0" rIns="0" bIns="0" rtlCol="0" anchor="ctr"/>
          <a:lstStyle/>
          <a:p>
            <a:pPr marL="0" indent="0">
              <a:buNone/>
            </a:pPr>
            <a:r>
              <a:rPr lang="en-US" sz="3000" dirty="0"/>
              <a:t>Three testing approaches</a:t>
            </a:r>
          </a:p>
        </p:txBody>
      </p:sp>
      <p:sp>
        <p:nvSpPr>
          <p:cNvPr id="42" name="Shape 1">
            <a:extLst>
              <a:ext uri="{FF2B5EF4-FFF2-40B4-BE49-F238E27FC236}">
                <a16:creationId xmlns:a16="http://schemas.microsoft.com/office/drawing/2014/main" id="{16293BB3-C41A-5EBE-1483-206678942217}"/>
              </a:ext>
            </a:extLst>
          </p:cNvPr>
          <p:cNvSpPr/>
          <p:nvPr/>
        </p:nvSpPr>
        <p:spPr>
          <a:xfrm>
            <a:off x="1498456" y="1397585"/>
            <a:ext cx="457200" cy="457200"/>
          </a:xfrm>
          <a:prstGeom prst="ellipse">
            <a:avLst/>
          </a:prstGeom>
          <a:solidFill>
            <a:srgbClr val="8B8CDF"/>
          </a:solidFill>
          <a:ln/>
        </p:spPr>
        <p:txBody>
          <a:bodyPr/>
          <a:lstStyle/>
          <a:p>
            <a:endParaRPr lang="en-US"/>
          </a:p>
        </p:txBody>
      </p:sp>
      <p:sp>
        <p:nvSpPr>
          <p:cNvPr id="43" name="Text 2">
            <a:extLst>
              <a:ext uri="{FF2B5EF4-FFF2-40B4-BE49-F238E27FC236}">
                <a16:creationId xmlns:a16="http://schemas.microsoft.com/office/drawing/2014/main" id="{95FD7D69-5D24-9271-DD80-8F59B4745E3E}"/>
              </a:ext>
            </a:extLst>
          </p:cNvPr>
          <p:cNvSpPr/>
          <p:nvPr/>
        </p:nvSpPr>
        <p:spPr>
          <a:xfrm>
            <a:off x="1498456" y="1397585"/>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Lora" pitchFamily="34" charset="0"/>
                <a:ea typeface="Lora" pitchFamily="34" charset="-122"/>
                <a:cs typeface="Lora" pitchFamily="34" charset="-120"/>
              </a:rPr>
              <a:t>1</a:t>
            </a:r>
            <a:endParaRPr lang="en-US" sz="1800" dirty="0"/>
          </a:p>
        </p:txBody>
      </p:sp>
      <p:sp>
        <p:nvSpPr>
          <p:cNvPr id="45" name="Text 4">
            <a:extLst>
              <a:ext uri="{FF2B5EF4-FFF2-40B4-BE49-F238E27FC236}">
                <a16:creationId xmlns:a16="http://schemas.microsoft.com/office/drawing/2014/main" id="{A325081A-7449-1ACE-07E9-FD6C206158CE}"/>
              </a:ext>
            </a:extLst>
          </p:cNvPr>
          <p:cNvSpPr/>
          <p:nvPr/>
        </p:nvSpPr>
        <p:spPr>
          <a:xfrm>
            <a:off x="673846" y="2383474"/>
            <a:ext cx="2058572" cy="320040"/>
          </a:xfrm>
          <a:prstGeom prst="rect">
            <a:avLst/>
          </a:prstGeom>
          <a:noFill/>
          <a:ln/>
        </p:spPr>
        <p:txBody>
          <a:bodyPr wrap="square" lIns="0" tIns="0" rIns="0" bIns="0" rtlCol="0" anchor="ctr"/>
          <a:lstStyle/>
          <a:p>
            <a:pPr algn="ctr"/>
            <a:r>
              <a:rPr lang="en-US" sz="1600" b="1" dirty="0">
                <a:latin typeface="Lora" pitchFamily="34" charset="0"/>
                <a:ea typeface="Lora" pitchFamily="34" charset="-122"/>
                <a:cs typeface="Lora" pitchFamily="34" charset="-120"/>
              </a:rPr>
              <a:t>Manual testing in Claude</a:t>
            </a:r>
            <a:endParaRPr lang="en-US" sz="1600" b="1" dirty="0"/>
          </a:p>
        </p:txBody>
      </p:sp>
      <p:sp>
        <p:nvSpPr>
          <p:cNvPr id="46" name="Text 5">
            <a:extLst>
              <a:ext uri="{FF2B5EF4-FFF2-40B4-BE49-F238E27FC236}">
                <a16:creationId xmlns:a16="http://schemas.microsoft.com/office/drawing/2014/main" id="{67800D17-ED07-A253-3616-26DE523E4BEF}"/>
              </a:ext>
            </a:extLst>
          </p:cNvPr>
          <p:cNvSpPr/>
          <p:nvPr/>
        </p:nvSpPr>
        <p:spPr>
          <a:xfrm>
            <a:off x="673846" y="3063451"/>
            <a:ext cx="2182069" cy="320040"/>
          </a:xfrm>
          <a:prstGeom prst="rect">
            <a:avLst/>
          </a:prstGeom>
          <a:noFill/>
          <a:ln/>
        </p:spPr>
        <p:txBody>
          <a:bodyPr wrap="square" lIns="0" tIns="0" rIns="0" bIns="0" rtlCol="0" anchor="ctr"/>
          <a:lstStyle/>
          <a:p>
            <a:pPr algn="ctr"/>
            <a:r>
              <a:rPr lang="en-US" sz="1300" dirty="0">
                <a:solidFill>
                  <a:srgbClr val="B0AEA5"/>
                </a:solidFill>
                <a:latin typeface="Lora" pitchFamily="34" charset="0"/>
                <a:ea typeface="Lora" pitchFamily="34" charset="-122"/>
                <a:cs typeface="Lora" pitchFamily="34" charset="-120"/>
              </a:rPr>
              <a:t>Fast iteration, no setup required</a:t>
            </a:r>
            <a:endParaRPr lang="en-US" sz="1300" dirty="0"/>
          </a:p>
        </p:txBody>
      </p:sp>
      <p:sp>
        <p:nvSpPr>
          <p:cNvPr id="47" name="Shape 6">
            <a:extLst>
              <a:ext uri="{FF2B5EF4-FFF2-40B4-BE49-F238E27FC236}">
                <a16:creationId xmlns:a16="http://schemas.microsoft.com/office/drawing/2014/main" id="{0F261702-8851-1336-E963-A71CA2A906E2}"/>
              </a:ext>
            </a:extLst>
          </p:cNvPr>
          <p:cNvSpPr/>
          <p:nvPr/>
        </p:nvSpPr>
        <p:spPr>
          <a:xfrm>
            <a:off x="4333567" y="1410782"/>
            <a:ext cx="457200" cy="457200"/>
          </a:xfrm>
          <a:prstGeom prst="ellipse">
            <a:avLst/>
          </a:prstGeom>
          <a:solidFill>
            <a:srgbClr val="8B8CDF"/>
          </a:solidFill>
          <a:ln/>
        </p:spPr>
        <p:txBody>
          <a:bodyPr/>
          <a:lstStyle/>
          <a:p>
            <a:endParaRPr lang="en-US"/>
          </a:p>
        </p:txBody>
      </p:sp>
      <p:sp>
        <p:nvSpPr>
          <p:cNvPr id="48" name="Text 7">
            <a:extLst>
              <a:ext uri="{FF2B5EF4-FFF2-40B4-BE49-F238E27FC236}">
                <a16:creationId xmlns:a16="http://schemas.microsoft.com/office/drawing/2014/main" id="{6C815600-D208-0CF7-3EED-B2D9D0E12C7B}"/>
              </a:ext>
            </a:extLst>
          </p:cNvPr>
          <p:cNvSpPr/>
          <p:nvPr/>
        </p:nvSpPr>
        <p:spPr>
          <a:xfrm>
            <a:off x="4333567" y="141078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Lora" pitchFamily="34" charset="0"/>
                <a:ea typeface="Lora" pitchFamily="34" charset="-122"/>
                <a:cs typeface="Lora" pitchFamily="34" charset="-120"/>
              </a:rPr>
              <a:t>2</a:t>
            </a:r>
            <a:endParaRPr lang="en-US" sz="1800" dirty="0"/>
          </a:p>
        </p:txBody>
      </p:sp>
      <p:sp>
        <p:nvSpPr>
          <p:cNvPr id="50" name="Text 9">
            <a:extLst>
              <a:ext uri="{FF2B5EF4-FFF2-40B4-BE49-F238E27FC236}">
                <a16:creationId xmlns:a16="http://schemas.microsoft.com/office/drawing/2014/main" id="{1006097C-3BE6-3061-1B41-74F2034669A6}"/>
              </a:ext>
            </a:extLst>
          </p:cNvPr>
          <p:cNvSpPr/>
          <p:nvPr/>
        </p:nvSpPr>
        <p:spPr>
          <a:xfrm>
            <a:off x="3465358" y="2374742"/>
            <a:ext cx="2256306" cy="320040"/>
          </a:xfrm>
          <a:prstGeom prst="rect">
            <a:avLst/>
          </a:prstGeom>
          <a:noFill/>
          <a:ln/>
        </p:spPr>
        <p:txBody>
          <a:bodyPr wrap="square" lIns="0" tIns="0" rIns="0" bIns="0" rtlCol="0" anchor="ctr"/>
          <a:lstStyle/>
          <a:p>
            <a:pPr algn="ctr"/>
            <a:r>
              <a:rPr lang="en-US" sz="1600" b="1" dirty="0">
                <a:latin typeface="Lora" pitchFamily="34" charset="0"/>
                <a:ea typeface="Lora" pitchFamily="34" charset="-122"/>
                <a:cs typeface="Lora" pitchFamily="34" charset="-120"/>
              </a:rPr>
              <a:t>Scripted testing in Claude Code</a:t>
            </a:r>
            <a:endParaRPr lang="en-US" sz="1600" b="1" dirty="0"/>
          </a:p>
        </p:txBody>
      </p:sp>
      <p:sp>
        <p:nvSpPr>
          <p:cNvPr id="51" name="Text 10">
            <a:extLst>
              <a:ext uri="{FF2B5EF4-FFF2-40B4-BE49-F238E27FC236}">
                <a16:creationId xmlns:a16="http://schemas.microsoft.com/office/drawing/2014/main" id="{5E1BA2F2-8D27-B377-1C7B-BB36B260C8FB}"/>
              </a:ext>
            </a:extLst>
          </p:cNvPr>
          <p:cNvSpPr/>
          <p:nvPr/>
        </p:nvSpPr>
        <p:spPr>
          <a:xfrm>
            <a:off x="3465358" y="3063451"/>
            <a:ext cx="2114904" cy="320040"/>
          </a:xfrm>
          <a:prstGeom prst="rect">
            <a:avLst/>
          </a:prstGeom>
          <a:noFill/>
          <a:ln/>
        </p:spPr>
        <p:txBody>
          <a:bodyPr wrap="square" lIns="0" tIns="0" rIns="0" bIns="0" rtlCol="0" anchor="ctr"/>
          <a:lstStyle/>
          <a:p>
            <a:pPr algn="ctr"/>
            <a:r>
              <a:rPr lang="en-US" sz="1300" dirty="0">
                <a:solidFill>
                  <a:srgbClr val="B0AEA5"/>
                </a:solidFill>
                <a:latin typeface="Lora" pitchFamily="34" charset="0"/>
                <a:ea typeface="Lora" pitchFamily="34" charset="-122"/>
                <a:cs typeface="Lora" pitchFamily="34" charset="-120"/>
              </a:rPr>
              <a:t>Repeatable validation across changes.</a:t>
            </a:r>
            <a:endParaRPr lang="en-US" sz="1300" dirty="0"/>
          </a:p>
        </p:txBody>
      </p:sp>
      <p:sp>
        <p:nvSpPr>
          <p:cNvPr id="52" name="Shape 11">
            <a:extLst>
              <a:ext uri="{FF2B5EF4-FFF2-40B4-BE49-F238E27FC236}">
                <a16:creationId xmlns:a16="http://schemas.microsoft.com/office/drawing/2014/main" id="{19AA1982-CCD6-FD01-F3C7-0FE81F5E3031}"/>
              </a:ext>
            </a:extLst>
          </p:cNvPr>
          <p:cNvSpPr/>
          <p:nvPr/>
        </p:nvSpPr>
        <p:spPr>
          <a:xfrm>
            <a:off x="7168678" y="1422966"/>
            <a:ext cx="457200" cy="457200"/>
          </a:xfrm>
          <a:prstGeom prst="ellipse">
            <a:avLst/>
          </a:prstGeom>
          <a:solidFill>
            <a:srgbClr val="8B8CDF"/>
          </a:solidFill>
          <a:ln/>
        </p:spPr>
        <p:txBody>
          <a:bodyPr/>
          <a:lstStyle/>
          <a:p>
            <a:endParaRPr lang="en-US"/>
          </a:p>
        </p:txBody>
      </p:sp>
      <p:sp>
        <p:nvSpPr>
          <p:cNvPr id="53" name="Text 12">
            <a:extLst>
              <a:ext uri="{FF2B5EF4-FFF2-40B4-BE49-F238E27FC236}">
                <a16:creationId xmlns:a16="http://schemas.microsoft.com/office/drawing/2014/main" id="{085D2560-8F4A-D011-1D5C-A6CEBD428A1F}"/>
              </a:ext>
            </a:extLst>
          </p:cNvPr>
          <p:cNvSpPr/>
          <p:nvPr/>
        </p:nvSpPr>
        <p:spPr>
          <a:xfrm>
            <a:off x="7168678" y="142296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Lora" pitchFamily="34" charset="0"/>
                <a:ea typeface="Lora" pitchFamily="34" charset="-122"/>
                <a:cs typeface="Lora" pitchFamily="34" charset="-120"/>
              </a:rPr>
              <a:t>3</a:t>
            </a:r>
            <a:endParaRPr lang="en-US" sz="1800" dirty="0"/>
          </a:p>
        </p:txBody>
      </p:sp>
      <p:sp>
        <p:nvSpPr>
          <p:cNvPr id="55" name="Text 14">
            <a:extLst>
              <a:ext uri="{FF2B5EF4-FFF2-40B4-BE49-F238E27FC236}">
                <a16:creationId xmlns:a16="http://schemas.microsoft.com/office/drawing/2014/main" id="{08274624-7117-E27C-A46F-50357088DDFA}"/>
              </a:ext>
            </a:extLst>
          </p:cNvPr>
          <p:cNvSpPr/>
          <p:nvPr/>
        </p:nvSpPr>
        <p:spPr>
          <a:xfrm>
            <a:off x="6273837" y="2383474"/>
            <a:ext cx="2294013" cy="320040"/>
          </a:xfrm>
          <a:prstGeom prst="rect">
            <a:avLst/>
          </a:prstGeom>
          <a:noFill/>
          <a:ln/>
        </p:spPr>
        <p:txBody>
          <a:bodyPr wrap="square" lIns="0" tIns="0" rIns="0" bIns="0" rtlCol="0" anchor="ctr"/>
          <a:lstStyle/>
          <a:p>
            <a:pPr algn="ctr"/>
            <a:r>
              <a:rPr lang="en-US" sz="1600" b="1" dirty="0">
                <a:latin typeface="Lora" pitchFamily="34" charset="0"/>
                <a:ea typeface="Lora" pitchFamily="34" charset="-122"/>
                <a:cs typeface="Lora" pitchFamily="34" charset="-120"/>
              </a:rPr>
              <a:t>Programmatic testing via skills API</a:t>
            </a:r>
            <a:endParaRPr lang="en-US" sz="1600" b="1" dirty="0"/>
          </a:p>
        </p:txBody>
      </p:sp>
      <p:sp>
        <p:nvSpPr>
          <p:cNvPr id="56" name="Text 15">
            <a:extLst>
              <a:ext uri="{FF2B5EF4-FFF2-40B4-BE49-F238E27FC236}">
                <a16:creationId xmlns:a16="http://schemas.microsoft.com/office/drawing/2014/main" id="{69408664-75B7-5340-53A1-7C5C568A2417}"/>
              </a:ext>
            </a:extLst>
          </p:cNvPr>
          <p:cNvSpPr/>
          <p:nvPr/>
        </p:nvSpPr>
        <p:spPr>
          <a:xfrm>
            <a:off x="6274546" y="3063451"/>
            <a:ext cx="2086623" cy="320040"/>
          </a:xfrm>
          <a:prstGeom prst="rect">
            <a:avLst/>
          </a:prstGeom>
          <a:noFill/>
          <a:ln/>
        </p:spPr>
        <p:txBody>
          <a:bodyPr wrap="square" lIns="0" tIns="0" rIns="0" bIns="0" rtlCol="0" anchor="ctr"/>
          <a:lstStyle/>
          <a:p>
            <a:pPr algn="ctr"/>
            <a:r>
              <a:rPr lang="en-US" sz="1300" dirty="0">
                <a:solidFill>
                  <a:srgbClr val="B0AEA5"/>
                </a:solidFill>
                <a:latin typeface="Lora" pitchFamily="34" charset="0"/>
                <a:ea typeface="Lora" pitchFamily="34" charset="-122"/>
                <a:cs typeface="Lora" pitchFamily="34" charset="-120"/>
              </a:rPr>
              <a:t>Evaluation suites against defined test sets.</a:t>
            </a:r>
            <a:endParaRPr lang="en-US" sz="1300" dirty="0"/>
          </a:p>
        </p:txBody>
      </p:sp>
      <p:sp>
        <p:nvSpPr>
          <p:cNvPr id="58" name="Text 17">
            <a:extLst>
              <a:ext uri="{FF2B5EF4-FFF2-40B4-BE49-F238E27FC236}">
                <a16:creationId xmlns:a16="http://schemas.microsoft.com/office/drawing/2014/main" id="{8F1FF038-A8CC-8167-EADE-625C6BC2B271}"/>
              </a:ext>
            </a:extLst>
          </p:cNvPr>
          <p:cNvSpPr/>
          <p:nvPr/>
        </p:nvSpPr>
        <p:spPr>
          <a:xfrm>
            <a:off x="640080" y="40690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Lora" pitchFamily="34" charset="0"/>
                <a:ea typeface="Lora" pitchFamily="34" charset="-122"/>
                <a:cs typeface="Lora" pitchFamily="34" charset="-120"/>
              </a:rPr>
              <a:t>4</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2E0ED-31CD-25A5-8B9D-2777C13ABDE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22A761D-6449-D058-8105-40F345A7C506}"/>
              </a:ext>
            </a:extLst>
          </p:cNvPr>
          <p:cNvSpPr/>
          <p:nvPr/>
        </p:nvSpPr>
        <p:spPr>
          <a:xfrm>
            <a:off x="640080" y="274320"/>
            <a:ext cx="7315200" cy="548640"/>
          </a:xfrm>
          <a:prstGeom prst="rect">
            <a:avLst/>
          </a:prstGeom>
          <a:noFill/>
          <a:ln/>
        </p:spPr>
        <p:txBody>
          <a:bodyPr wrap="square" lIns="0" tIns="0" rIns="0" bIns="0" rtlCol="0" anchor="ctr"/>
          <a:lstStyle/>
          <a:p>
            <a:pPr marL="0" indent="0">
              <a:buNone/>
            </a:pPr>
            <a:r>
              <a:rPr lang="en-US" sz="3000" b="1" dirty="0">
                <a:solidFill>
                  <a:srgbClr val="141413"/>
                </a:solidFill>
                <a:latin typeface="Test Tiempos Headline Light" pitchFamily="34" charset="0"/>
                <a:ea typeface="Test Tiempos Headline Light" pitchFamily="34" charset="-122"/>
                <a:cs typeface="Test Tiempos Headline Light" pitchFamily="34" charset="-120"/>
              </a:rPr>
              <a:t>Testing and iteration</a:t>
            </a:r>
            <a:endParaRPr lang="en-US" sz="3000" dirty="0"/>
          </a:p>
        </p:txBody>
      </p:sp>
      <p:sp>
        <p:nvSpPr>
          <p:cNvPr id="8" name="Shape 5">
            <a:extLst>
              <a:ext uri="{FF2B5EF4-FFF2-40B4-BE49-F238E27FC236}">
                <a16:creationId xmlns:a16="http://schemas.microsoft.com/office/drawing/2014/main" id="{8F9C26F7-F926-F3E0-BDD3-CE58067E2B61}"/>
              </a:ext>
            </a:extLst>
          </p:cNvPr>
          <p:cNvSpPr/>
          <p:nvPr/>
        </p:nvSpPr>
        <p:spPr>
          <a:xfrm>
            <a:off x="457200" y="1051559"/>
            <a:ext cx="3977640" cy="2594115"/>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9" name="Shape 6">
            <a:extLst>
              <a:ext uri="{FF2B5EF4-FFF2-40B4-BE49-F238E27FC236}">
                <a16:creationId xmlns:a16="http://schemas.microsoft.com/office/drawing/2014/main" id="{F2EC0EDF-7C30-83CA-0816-308A9BA4F424}"/>
              </a:ext>
            </a:extLst>
          </p:cNvPr>
          <p:cNvSpPr/>
          <p:nvPr/>
        </p:nvSpPr>
        <p:spPr>
          <a:xfrm>
            <a:off x="457200" y="1051560"/>
            <a:ext cx="3977640" cy="54864"/>
          </a:xfrm>
          <a:prstGeom prst="rect">
            <a:avLst/>
          </a:prstGeom>
          <a:solidFill>
            <a:schemeClr val="accent3"/>
          </a:solidFill>
          <a:ln/>
        </p:spPr>
        <p:txBody>
          <a:bodyPr/>
          <a:lstStyle/>
          <a:p>
            <a:endParaRPr lang="en-US"/>
          </a:p>
        </p:txBody>
      </p:sp>
      <p:sp>
        <p:nvSpPr>
          <p:cNvPr id="11" name="Text 7">
            <a:extLst>
              <a:ext uri="{FF2B5EF4-FFF2-40B4-BE49-F238E27FC236}">
                <a16:creationId xmlns:a16="http://schemas.microsoft.com/office/drawing/2014/main" id="{08C1A4DF-E658-433F-C4B6-38A6C20EBD9D}"/>
              </a:ext>
            </a:extLst>
          </p:cNvPr>
          <p:cNvSpPr/>
          <p:nvPr/>
        </p:nvSpPr>
        <p:spPr>
          <a:xfrm>
            <a:off x="1010412" y="1234440"/>
            <a:ext cx="3327908" cy="45720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What to test</a:t>
            </a:r>
            <a:endParaRPr lang="en-US" sz="1600" dirty="0"/>
          </a:p>
        </p:txBody>
      </p:sp>
      <p:sp>
        <p:nvSpPr>
          <p:cNvPr id="12" name="Text 8">
            <a:extLst>
              <a:ext uri="{FF2B5EF4-FFF2-40B4-BE49-F238E27FC236}">
                <a16:creationId xmlns:a16="http://schemas.microsoft.com/office/drawing/2014/main" id="{86B6E04B-78F5-6D1C-4C2C-0FD3E9937942}"/>
              </a:ext>
            </a:extLst>
          </p:cNvPr>
          <p:cNvSpPr/>
          <p:nvPr/>
        </p:nvSpPr>
        <p:spPr>
          <a:xfrm>
            <a:off x="640080" y="1763001"/>
            <a:ext cx="3566160" cy="1680649"/>
          </a:xfrm>
          <a:prstGeom prst="rect">
            <a:avLst/>
          </a:prstGeom>
          <a:noFill/>
          <a:ln/>
        </p:spPr>
        <p:txBody>
          <a:bodyPr wrap="square" lIns="0" tIns="0" rIns="0" bIns="0" rtlCol="0" anchor="ctr"/>
          <a:lstStyle/>
          <a:p>
            <a:pPr marL="0" indent="0">
              <a:buNone/>
            </a:pPr>
            <a:r>
              <a:rPr lang="en-US" sz="1200" b="1" dirty="0">
                <a:solidFill>
                  <a:srgbClr val="B0AEA5"/>
                </a:solidFill>
                <a:latin typeface="Lora" pitchFamily="34" charset="0"/>
                <a:ea typeface="Lora" pitchFamily="34" charset="-122"/>
                <a:cs typeface="Lora" pitchFamily="34" charset="-120"/>
              </a:rPr>
              <a:t>Triggering: </a:t>
            </a:r>
            <a:r>
              <a:rPr lang="en-US" sz="1200" dirty="0">
                <a:solidFill>
                  <a:srgbClr val="B0AEA5"/>
                </a:solidFill>
                <a:latin typeface="Lora" pitchFamily="34" charset="0"/>
                <a:ea typeface="Lora" pitchFamily="34" charset="-122"/>
                <a:cs typeface="Lora" pitchFamily="34" charset="-120"/>
              </a:rPr>
              <a:t>does it activate on obvious tasks AND paraphrased requests?</a:t>
            </a:r>
          </a:p>
          <a:p>
            <a:pPr marL="0" indent="0">
              <a:buNone/>
            </a:pPr>
            <a:endParaRPr lang="en-US" sz="1200" dirty="0">
              <a:solidFill>
                <a:srgbClr val="B0AEA5"/>
              </a:solidFill>
              <a:latin typeface="Lora" pitchFamily="34" charset="0"/>
              <a:ea typeface="Lora" pitchFamily="34" charset="-122"/>
              <a:cs typeface="Lora" pitchFamily="34" charset="-120"/>
            </a:endParaRPr>
          </a:p>
          <a:p>
            <a:pPr marL="0" indent="0">
              <a:buNone/>
            </a:pPr>
            <a:r>
              <a:rPr lang="en-US" sz="1200" b="1" dirty="0">
                <a:solidFill>
                  <a:srgbClr val="B0AEA5"/>
                </a:solidFill>
                <a:latin typeface="Lora" pitchFamily="34" charset="0"/>
                <a:ea typeface="Lora" pitchFamily="34" charset="-122"/>
                <a:cs typeface="Lora" pitchFamily="34" charset="-120"/>
              </a:rPr>
              <a:t>Functional: </a:t>
            </a:r>
            <a:r>
              <a:rPr lang="en-US" sz="1200" dirty="0">
                <a:solidFill>
                  <a:srgbClr val="B0AEA5"/>
                </a:solidFill>
                <a:latin typeface="Lora" pitchFamily="34" charset="0"/>
                <a:ea typeface="Lora" pitchFamily="34" charset="-122"/>
                <a:cs typeface="Lora" pitchFamily="34" charset="-120"/>
              </a:rPr>
              <a:t>does it produce valid outputs with correct tool calls?</a:t>
            </a:r>
          </a:p>
          <a:p>
            <a:pPr marL="0" indent="0">
              <a:buNone/>
            </a:pPr>
            <a:endParaRPr lang="en-US" sz="1200" dirty="0">
              <a:solidFill>
                <a:srgbClr val="B0AEA5"/>
              </a:solidFill>
              <a:latin typeface="Lora" pitchFamily="34" charset="0"/>
              <a:ea typeface="Lora" pitchFamily="34" charset="-122"/>
              <a:cs typeface="Lora" pitchFamily="34" charset="-120"/>
            </a:endParaRPr>
          </a:p>
          <a:p>
            <a:pPr marL="0" indent="0">
              <a:buNone/>
            </a:pPr>
            <a:r>
              <a:rPr lang="en-US" sz="1200" b="1" dirty="0">
                <a:solidFill>
                  <a:srgbClr val="B0AEA5"/>
                </a:solidFill>
                <a:latin typeface="Lora" pitchFamily="34" charset="0"/>
                <a:ea typeface="Lora" pitchFamily="34" charset="-122"/>
                <a:cs typeface="Lora" pitchFamily="34" charset="-120"/>
              </a:rPr>
              <a:t>Performance:</a:t>
            </a:r>
            <a:r>
              <a:rPr lang="en-US" sz="1200" dirty="0">
                <a:solidFill>
                  <a:srgbClr val="B0AEA5"/>
                </a:solidFill>
                <a:latin typeface="Lora" pitchFamily="34" charset="0"/>
                <a:ea typeface="Lora" pitchFamily="34" charset="-122"/>
                <a:cs typeface="Lora" pitchFamily="34" charset="-120"/>
              </a:rPr>
              <a:t> does it improve results vs. no-skill baseline?</a:t>
            </a:r>
            <a:endParaRPr lang="en-US" sz="1200" dirty="0"/>
          </a:p>
        </p:txBody>
      </p:sp>
      <p:sp>
        <p:nvSpPr>
          <p:cNvPr id="13" name="Shape 9">
            <a:extLst>
              <a:ext uri="{FF2B5EF4-FFF2-40B4-BE49-F238E27FC236}">
                <a16:creationId xmlns:a16="http://schemas.microsoft.com/office/drawing/2014/main" id="{8C7345DD-AC2A-9A58-32C0-BD4E61F6EC7F}"/>
              </a:ext>
            </a:extLst>
          </p:cNvPr>
          <p:cNvSpPr/>
          <p:nvPr/>
        </p:nvSpPr>
        <p:spPr>
          <a:xfrm>
            <a:off x="4709160" y="1059770"/>
            <a:ext cx="3977640" cy="25968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4" name="Shape 10">
            <a:extLst>
              <a:ext uri="{FF2B5EF4-FFF2-40B4-BE49-F238E27FC236}">
                <a16:creationId xmlns:a16="http://schemas.microsoft.com/office/drawing/2014/main" id="{CF983C36-63A6-2205-85E4-DF53E1EED3B9}"/>
              </a:ext>
            </a:extLst>
          </p:cNvPr>
          <p:cNvSpPr/>
          <p:nvPr/>
        </p:nvSpPr>
        <p:spPr>
          <a:xfrm>
            <a:off x="4709160" y="1059770"/>
            <a:ext cx="3977640" cy="54864"/>
          </a:xfrm>
          <a:prstGeom prst="rect">
            <a:avLst/>
          </a:prstGeom>
          <a:solidFill>
            <a:srgbClr val="6A9BCC"/>
          </a:solidFill>
          <a:ln/>
        </p:spPr>
        <p:txBody>
          <a:bodyPr/>
          <a:lstStyle/>
          <a:p>
            <a:endParaRPr lang="en-US"/>
          </a:p>
        </p:txBody>
      </p:sp>
      <p:sp>
        <p:nvSpPr>
          <p:cNvPr id="16" name="Text 11">
            <a:extLst>
              <a:ext uri="{FF2B5EF4-FFF2-40B4-BE49-F238E27FC236}">
                <a16:creationId xmlns:a16="http://schemas.microsoft.com/office/drawing/2014/main" id="{2C0899F0-4791-783C-9FE1-917831E7B28F}"/>
              </a:ext>
            </a:extLst>
          </p:cNvPr>
          <p:cNvSpPr/>
          <p:nvPr/>
        </p:nvSpPr>
        <p:spPr>
          <a:xfrm>
            <a:off x="5330952" y="1242650"/>
            <a:ext cx="3310128" cy="45720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Iteration signals</a:t>
            </a:r>
            <a:endParaRPr lang="en-US" sz="1600" dirty="0"/>
          </a:p>
        </p:txBody>
      </p:sp>
      <p:sp>
        <p:nvSpPr>
          <p:cNvPr id="17" name="Text 12">
            <a:extLst>
              <a:ext uri="{FF2B5EF4-FFF2-40B4-BE49-F238E27FC236}">
                <a16:creationId xmlns:a16="http://schemas.microsoft.com/office/drawing/2014/main" id="{66E8595F-BA32-B9CF-2A89-FDD8A8A699BF}"/>
              </a:ext>
            </a:extLst>
          </p:cNvPr>
          <p:cNvSpPr/>
          <p:nvPr/>
        </p:nvSpPr>
        <p:spPr>
          <a:xfrm>
            <a:off x="4892040" y="1760277"/>
            <a:ext cx="3566160" cy="1683374"/>
          </a:xfrm>
          <a:prstGeom prst="rect">
            <a:avLst/>
          </a:prstGeom>
          <a:noFill/>
          <a:ln/>
        </p:spPr>
        <p:txBody>
          <a:bodyPr wrap="square" lIns="0" tIns="0" rIns="0" bIns="0" rtlCol="0" anchor="ctr"/>
          <a:lstStyle/>
          <a:p>
            <a:pPr marL="0" indent="0">
              <a:buNone/>
            </a:pPr>
            <a:r>
              <a:rPr lang="en-US" sz="1200" b="1" dirty="0">
                <a:solidFill>
                  <a:srgbClr val="B0AEA5"/>
                </a:solidFill>
                <a:latin typeface="Lora" pitchFamily="34" charset="0"/>
                <a:ea typeface="Lora" pitchFamily="34" charset="-122"/>
                <a:cs typeface="Lora" pitchFamily="34" charset="-120"/>
              </a:rPr>
              <a:t>Undertriggering: </a:t>
            </a:r>
            <a:r>
              <a:rPr lang="en-US" sz="1200" dirty="0">
                <a:solidFill>
                  <a:srgbClr val="B0AEA5"/>
                </a:solidFill>
                <a:latin typeface="Lora" pitchFamily="34" charset="0"/>
                <a:ea typeface="Lora" pitchFamily="34" charset="-122"/>
                <a:cs typeface="Lora" pitchFamily="34" charset="-120"/>
              </a:rPr>
              <a:t>skill doesn't load </a:t>
            </a:r>
            <a:br>
              <a:rPr lang="en-US" sz="1200" dirty="0">
                <a:solidFill>
                  <a:srgbClr val="B0AEA5"/>
                </a:solidFill>
                <a:latin typeface="Lora" pitchFamily="34" charset="0"/>
                <a:ea typeface="Lora" pitchFamily="34" charset="-122"/>
                <a:cs typeface="Lora" pitchFamily="34" charset="-120"/>
              </a:rPr>
            </a:br>
            <a:r>
              <a:rPr lang="en-US" sz="1200" dirty="0">
                <a:solidFill>
                  <a:srgbClr val="B0AEA5"/>
                </a:solidFill>
                <a:latin typeface="Lora" pitchFamily="34" charset="0"/>
                <a:ea typeface="Lora" pitchFamily="34" charset="-122"/>
                <a:cs typeface="Lora" pitchFamily="34" charset="-120"/>
              </a:rPr>
              <a:t>→ add more detail and keywords to description.</a:t>
            </a:r>
          </a:p>
          <a:p>
            <a:pPr marL="0" indent="0">
              <a:buNone/>
            </a:pPr>
            <a:endParaRPr lang="en-US" sz="1200" dirty="0">
              <a:solidFill>
                <a:srgbClr val="B0AEA5"/>
              </a:solidFill>
              <a:latin typeface="Lora" pitchFamily="34" charset="0"/>
              <a:ea typeface="Lora" pitchFamily="34" charset="-122"/>
              <a:cs typeface="Lora" pitchFamily="34" charset="-120"/>
            </a:endParaRPr>
          </a:p>
          <a:p>
            <a:pPr marL="0" indent="0">
              <a:buNone/>
            </a:pPr>
            <a:r>
              <a:rPr lang="en-US" sz="1200" b="1" dirty="0" err="1">
                <a:solidFill>
                  <a:srgbClr val="B0AEA5"/>
                </a:solidFill>
                <a:latin typeface="Lora" pitchFamily="34" charset="0"/>
                <a:ea typeface="Lora" pitchFamily="34" charset="-122"/>
                <a:cs typeface="Lora" pitchFamily="34" charset="-120"/>
              </a:rPr>
              <a:t>Overtriggering</a:t>
            </a:r>
            <a:r>
              <a:rPr lang="en-US" sz="1200" b="1" dirty="0">
                <a:solidFill>
                  <a:srgbClr val="B0AEA5"/>
                </a:solidFill>
                <a:latin typeface="Lora" pitchFamily="34" charset="0"/>
                <a:ea typeface="Lora" pitchFamily="34" charset="-122"/>
                <a:cs typeface="Lora" pitchFamily="34" charset="-120"/>
              </a:rPr>
              <a:t>: </a:t>
            </a:r>
            <a:r>
              <a:rPr lang="en-US" sz="1200" dirty="0">
                <a:solidFill>
                  <a:srgbClr val="B0AEA5"/>
                </a:solidFill>
                <a:latin typeface="Lora" pitchFamily="34" charset="0"/>
                <a:ea typeface="Lora" pitchFamily="34" charset="-122"/>
                <a:cs typeface="Lora" pitchFamily="34" charset="-120"/>
              </a:rPr>
              <a:t>loads for irrelevant queries </a:t>
            </a:r>
            <a:br>
              <a:rPr lang="en-US" sz="1200" dirty="0">
                <a:solidFill>
                  <a:srgbClr val="B0AEA5"/>
                </a:solidFill>
                <a:latin typeface="Lora" pitchFamily="34" charset="0"/>
                <a:ea typeface="Lora" pitchFamily="34" charset="-122"/>
                <a:cs typeface="Lora" pitchFamily="34" charset="-120"/>
              </a:rPr>
            </a:br>
            <a:r>
              <a:rPr lang="en-US" sz="1200" dirty="0">
                <a:solidFill>
                  <a:srgbClr val="B0AEA5"/>
                </a:solidFill>
                <a:latin typeface="Lora" pitchFamily="34" charset="0"/>
                <a:ea typeface="Lora" pitchFamily="34" charset="-122"/>
                <a:cs typeface="Lora" pitchFamily="34" charset="-120"/>
              </a:rPr>
              <a:t>→ add negative triggers, be more specific.</a:t>
            </a:r>
          </a:p>
          <a:p>
            <a:pPr marL="0" indent="0">
              <a:buNone/>
            </a:pPr>
            <a:endParaRPr lang="en-US" sz="1200" dirty="0">
              <a:solidFill>
                <a:srgbClr val="B0AEA5"/>
              </a:solidFill>
              <a:latin typeface="Lora" pitchFamily="34" charset="0"/>
              <a:ea typeface="Lora" pitchFamily="34" charset="-122"/>
              <a:cs typeface="Lora" pitchFamily="34" charset="-120"/>
            </a:endParaRPr>
          </a:p>
          <a:p>
            <a:pPr marL="0" indent="0">
              <a:buNone/>
            </a:pPr>
            <a:r>
              <a:rPr lang="en-US" sz="1200" b="1" dirty="0">
                <a:solidFill>
                  <a:srgbClr val="B0AEA5"/>
                </a:solidFill>
                <a:latin typeface="Lora" pitchFamily="34" charset="0"/>
                <a:ea typeface="Lora" pitchFamily="34" charset="-122"/>
                <a:cs typeface="Lora" pitchFamily="34" charset="-120"/>
              </a:rPr>
              <a:t>Instructions not followed:</a:t>
            </a:r>
            <a:br>
              <a:rPr lang="en-US" sz="1200" dirty="0">
                <a:solidFill>
                  <a:srgbClr val="B0AEA5"/>
                </a:solidFill>
                <a:latin typeface="Lora" pitchFamily="34" charset="0"/>
                <a:ea typeface="Lora" pitchFamily="34" charset="-122"/>
                <a:cs typeface="Lora" pitchFamily="34" charset="-120"/>
              </a:rPr>
            </a:br>
            <a:r>
              <a:rPr lang="en-US" sz="1200" dirty="0">
                <a:solidFill>
                  <a:srgbClr val="B0AEA5"/>
                </a:solidFill>
                <a:latin typeface="Lora" pitchFamily="34" charset="0"/>
                <a:ea typeface="Lora" pitchFamily="34" charset="-122"/>
                <a:cs typeface="Lora" pitchFamily="34" charset="-120"/>
              </a:rPr>
              <a:t> → reduce verbosity, surface critical steps.</a:t>
            </a:r>
            <a:endParaRPr lang="en-US" sz="1200" dirty="0"/>
          </a:p>
        </p:txBody>
      </p:sp>
      <p:sp>
        <p:nvSpPr>
          <p:cNvPr id="18" name="Shape 13">
            <a:extLst>
              <a:ext uri="{FF2B5EF4-FFF2-40B4-BE49-F238E27FC236}">
                <a16:creationId xmlns:a16="http://schemas.microsoft.com/office/drawing/2014/main" id="{4D131FAD-17AF-4766-65D5-526EC5BF40BF}"/>
              </a:ext>
            </a:extLst>
          </p:cNvPr>
          <p:cNvSpPr/>
          <p:nvPr/>
        </p:nvSpPr>
        <p:spPr>
          <a:xfrm>
            <a:off x="502920" y="3817620"/>
            <a:ext cx="8183880" cy="1051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9" name="Shape 14">
            <a:extLst>
              <a:ext uri="{FF2B5EF4-FFF2-40B4-BE49-F238E27FC236}">
                <a16:creationId xmlns:a16="http://schemas.microsoft.com/office/drawing/2014/main" id="{31678F13-AA24-B14A-69EF-BA6EEC80597D}"/>
              </a:ext>
            </a:extLst>
          </p:cNvPr>
          <p:cNvSpPr/>
          <p:nvPr/>
        </p:nvSpPr>
        <p:spPr>
          <a:xfrm>
            <a:off x="502920" y="3828555"/>
            <a:ext cx="8183880" cy="54864"/>
          </a:xfrm>
          <a:prstGeom prst="rect">
            <a:avLst/>
          </a:prstGeom>
          <a:solidFill>
            <a:schemeClr val="accent5"/>
          </a:solidFill>
          <a:ln/>
        </p:spPr>
        <p:txBody>
          <a:bodyPr/>
          <a:lstStyle/>
          <a:p>
            <a:endParaRPr lang="en-US"/>
          </a:p>
        </p:txBody>
      </p:sp>
      <p:sp>
        <p:nvSpPr>
          <p:cNvPr id="21" name="Text 15">
            <a:extLst>
              <a:ext uri="{FF2B5EF4-FFF2-40B4-BE49-F238E27FC236}">
                <a16:creationId xmlns:a16="http://schemas.microsoft.com/office/drawing/2014/main" id="{62F27C5E-45D5-CD29-8DBE-05872944CD18}"/>
              </a:ext>
            </a:extLst>
          </p:cNvPr>
          <p:cNvSpPr/>
          <p:nvPr/>
        </p:nvSpPr>
        <p:spPr>
          <a:xfrm>
            <a:off x="1010412" y="3954780"/>
            <a:ext cx="3310128" cy="45720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Pro tip</a:t>
            </a:r>
            <a:endParaRPr lang="en-US" sz="1600" dirty="0"/>
          </a:p>
        </p:txBody>
      </p:sp>
      <p:sp>
        <p:nvSpPr>
          <p:cNvPr id="22" name="Text 16">
            <a:extLst>
              <a:ext uri="{FF2B5EF4-FFF2-40B4-BE49-F238E27FC236}">
                <a16:creationId xmlns:a16="http://schemas.microsoft.com/office/drawing/2014/main" id="{2D2E1E45-D37B-DF50-7C0B-18442F0D963A}"/>
              </a:ext>
            </a:extLst>
          </p:cNvPr>
          <p:cNvSpPr/>
          <p:nvPr/>
        </p:nvSpPr>
        <p:spPr>
          <a:xfrm>
            <a:off x="640080" y="4163301"/>
            <a:ext cx="5863856" cy="777240"/>
          </a:xfrm>
          <a:prstGeom prst="rect">
            <a:avLst/>
          </a:prstGeom>
          <a:noFill/>
          <a:ln/>
        </p:spPr>
        <p:txBody>
          <a:bodyPr wrap="square" lIns="0" tIns="0" rIns="0" bIns="0" rtlCol="0" anchor="ctr"/>
          <a:lstStyle/>
          <a:p>
            <a:pPr marL="0" indent="0">
              <a:buNone/>
            </a:pPr>
            <a:r>
              <a:rPr lang="en-US" sz="1200" dirty="0">
                <a:solidFill>
                  <a:srgbClr val="B0AEA5"/>
                </a:solidFill>
                <a:latin typeface="Lora" pitchFamily="34" charset="0"/>
                <a:ea typeface="Lora" pitchFamily="34" charset="-122"/>
                <a:cs typeface="Lora" pitchFamily="34" charset="-120"/>
              </a:rPr>
              <a:t>Iterate on a single task before expanding to multiple test cases.</a:t>
            </a:r>
            <a:endParaRPr lang="en-US" sz="1200" dirty="0"/>
          </a:p>
        </p:txBody>
      </p:sp>
      <p:pic>
        <p:nvPicPr>
          <p:cNvPr id="27" name="Picture 26" descr="A logo of a network  AI-generated content may be incorrect.">
            <a:extLst>
              <a:ext uri="{FF2B5EF4-FFF2-40B4-BE49-F238E27FC236}">
                <a16:creationId xmlns:a16="http://schemas.microsoft.com/office/drawing/2014/main" id="{3AC8A3C2-E7FB-1D7B-1972-CA2E7EDF65C7}"/>
              </a:ext>
            </a:extLst>
          </p:cNvPr>
          <p:cNvPicPr>
            <a:picLocks noChangeAspect="1"/>
          </p:cNvPicPr>
          <p:nvPr/>
        </p:nvPicPr>
        <p:blipFill>
          <a:blip r:embed="rId3"/>
          <a:stretch>
            <a:fillRect/>
          </a:stretch>
        </p:blipFill>
        <p:spPr>
          <a:xfrm>
            <a:off x="640080" y="4055364"/>
            <a:ext cx="256032" cy="256032"/>
          </a:xfrm>
          <a:prstGeom prst="rect">
            <a:avLst/>
          </a:prstGeom>
        </p:spPr>
      </p:pic>
      <p:pic>
        <p:nvPicPr>
          <p:cNvPr id="29" name="Picture 28" descr="A blue and black logo  AI-generated content may be incorrect.">
            <a:extLst>
              <a:ext uri="{FF2B5EF4-FFF2-40B4-BE49-F238E27FC236}">
                <a16:creationId xmlns:a16="http://schemas.microsoft.com/office/drawing/2014/main" id="{E9CC32C3-D979-13A3-8F49-BAC95CE4551B}"/>
              </a:ext>
            </a:extLst>
          </p:cNvPr>
          <p:cNvPicPr>
            <a:picLocks noChangeAspect="1"/>
          </p:cNvPicPr>
          <p:nvPr/>
        </p:nvPicPr>
        <p:blipFill>
          <a:blip r:embed="rId4"/>
          <a:stretch>
            <a:fillRect/>
          </a:stretch>
        </p:blipFill>
        <p:spPr>
          <a:xfrm>
            <a:off x="4892040" y="1343234"/>
            <a:ext cx="256032" cy="256032"/>
          </a:xfrm>
          <a:prstGeom prst="rect">
            <a:avLst/>
          </a:prstGeom>
        </p:spPr>
      </p:pic>
      <p:pic>
        <p:nvPicPr>
          <p:cNvPr id="31" name="Picture 30" descr="A magnifying glass in a circle  AI-generated content may be incorrect.">
            <a:extLst>
              <a:ext uri="{FF2B5EF4-FFF2-40B4-BE49-F238E27FC236}">
                <a16:creationId xmlns:a16="http://schemas.microsoft.com/office/drawing/2014/main" id="{45211D39-77D8-CEB4-D540-56A4C3F94CDE}"/>
              </a:ext>
            </a:extLst>
          </p:cNvPr>
          <p:cNvPicPr>
            <a:picLocks noChangeAspect="1"/>
          </p:cNvPicPr>
          <p:nvPr/>
        </p:nvPicPr>
        <p:blipFill>
          <a:blip r:embed="rId5"/>
          <a:stretch>
            <a:fillRect/>
          </a:stretch>
        </p:blipFill>
        <p:spPr>
          <a:xfrm>
            <a:off x="603885" y="1347724"/>
            <a:ext cx="259842" cy="259842"/>
          </a:xfrm>
          <a:prstGeom prst="rect">
            <a:avLst/>
          </a:prstGeom>
        </p:spPr>
      </p:pic>
    </p:spTree>
    <p:extLst>
      <p:ext uri="{BB962C8B-B14F-4D97-AF65-F5344CB8AC3E}">
        <p14:creationId xmlns:p14="http://schemas.microsoft.com/office/powerpoint/2010/main" val="3148429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274320"/>
            <a:ext cx="7315200" cy="548640"/>
          </a:xfrm>
          <a:prstGeom prst="rect">
            <a:avLst/>
          </a:prstGeom>
          <a:noFill/>
          <a:ln/>
        </p:spPr>
        <p:txBody>
          <a:bodyPr wrap="square" lIns="0" tIns="0" rIns="0" bIns="0" rtlCol="0" anchor="ctr"/>
          <a:lstStyle/>
          <a:p>
            <a:pPr marL="0" indent="0">
              <a:buNone/>
            </a:pPr>
            <a:r>
              <a:rPr lang="en-US" sz="3000" b="1" dirty="0">
                <a:solidFill>
                  <a:srgbClr val="141413"/>
                </a:solidFill>
                <a:latin typeface="Test Tiempos Headline Light" pitchFamily="34" charset="0"/>
                <a:ea typeface="Test Tiempos Headline Light" pitchFamily="34" charset="-122"/>
                <a:cs typeface="Test Tiempos Headline Light" pitchFamily="34" charset="-120"/>
              </a:rPr>
              <a:t>Troubleshooting skills</a:t>
            </a:r>
            <a:endParaRPr lang="en-US" sz="3000" dirty="0"/>
          </a:p>
        </p:txBody>
      </p:sp>
      <p:sp>
        <p:nvSpPr>
          <p:cNvPr id="3" name="Shape 1"/>
          <p:cNvSpPr/>
          <p:nvPr/>
        </p:nvSpPr>
        <p:spPr>
          <a:xfrm>
            <a:off x="640080" y="1188720"/>
            <a:ext cx="457200" cy="457200"/>
          </a:xfrm>
          <a:prstGeom prst="ellipse">
            <a:avLst/>
          </a:prstGeom>
          <a:solidFill>
            <a:srgbClr val="8B8CDF"/>
          </a:solidFill>
          <a:ln/>
        </p:spPr>
        <p:txBody>
          <a:bodyPr/>
          <a:lstStyle/>
          <a:p>
            <a:endParaRPr lang="en-US"/>
          </a:p>
        </p:txBody>
      </p:sp>
      <p:sp>
        <p:nvSpPr>
          <p:cNvPr id="4" name="Text 2"/>
          <p:cNvSpPr/>
          <p:nvPr/>
        </p:nvSpPr>
        <p:spPr>
          <a:xfrm>
            <a:off x="640080" y="118872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Lora" pitchFamily="34" charset="0"/>
                <a:ea typeface="Lora" pitchFamily="34" charset="-122"/>
                <a:cs typeface="Lora" pitchFamily="34" charset="-120"/>
              </a:rPr>
              <a:t>1</a:t>
            </a:r>
            <a:endParaRPr lang="en-US" sz="1800" dirty="0"/>
          </a:p>
        </p:txBody>
      </p:sp>
      <p:sp>
        <p:nvSpPr>
          <p:cNvPr id="5" name="Shape 3"/>
          <p:cNvSpPr/>
          <p:nvPr/>
        </p:nvSpPr>
        <p:spPr>
          <a:xfrm>
            <a:off x="868680" y="1691640"/>
            <a:ext cx="0" cy="365760"/>
          </a:xfrm>
          <a:prstGeom prst="line">
            <a:avLst/>
          </a:prstGeom>
          <a:noFill/>
          <a:ln w="25400">
            <a:solidFill>
              <a:srgbClr val="E8E6DC"/>
            </a:solidFill>
            <a:prstDash val="solid"/>
          </a:ln>
        </p:spPr>
        <p:txBody>
          <a:bodyPr/>
          <a:lstStyle/>
          <a:p>
            <a:endParaRPr lang="en-US"/>
          </a:p>
        </p:txBody>
      </p:sp>
      <p:sp>
        <p:nvSpPr>
          <p:cNvPr id="6" name="Text 4"/>
          <p:cNvSpPr/>
          <p:nvPr/>
        </p:nvSpPr>
        <p:spPr>
          <a:xfrm>
            <a:off x="1325880" y="1143000"/>
            <a:ext cx="3657600" cy="32004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Run the validator</a:t>
            </a:r>
            <a:endParaRPr lang="en-US" sz="1600" dirty="0"/>
          </a:p>
        </p:txBody>
      </p:sp>
      <p:sp>
        <p:nvSpPr>
          <p:cNvPr id="7" name="Text 5"/>
          <p:cNvSpPr/>
          <p:nvPr/>
        </p:nvSpPr>
        <p:spPr>
          <a:xfrm>
            <a:off x="1325880" y="1444752"/>
            <a:ext cx="6858000" cy="320040"/>
          </a:xfrm>
          <a:prstGeom prst="rect">
            <a:avLst/>
          </a:prstGeom>
          <a:noFill/>
          <a:ln/>
        </p:spPr>
        <p:txBody>
          <a:bodyPr wrap="square" lIns="0" tIns="0" rIns="0" bIns="0" rtlCol="0" anchor="ctr"/>
          <a:lstStyle/>
          <a:p>
            <a:pPr marL="0" indent="0">
              <a:buNone/>
            </a:pPr>
            <a:r>
              <a:rPr lang="en-US" sz="1300" dirty="0">
                <a:solidFill>
                  <a:srgbClr val="B0AEA5"/>
                </a:solidFill>
                <a:latin typeface="Lora" pitchFamily="34" charset="0"/>
                <a:ea typeface="Lora" pitchFamily="34" charset="-122"/>
                <a:cs typeface="Lora" pitchFamily="34" charset="-120"/>
              </a:rPr>
              <a:t>agent-skills CLI catches structural issues: path, filename, YAML syntax</a:t>
            </a:r>
            <a:endParaRPr lang="en-US" sz="1300" dirty="0"/>
          </a:p>
        </p:txBody>
      </p:sp>
      <p:sp>
        <p:nvSpPr>
          <p:cNvPr id="8" name="Shape 6"/>
          <p:cNvSpPr/>
          <p:nvPr/>
        </p:nvSpPr>
        <p:spPr>
          <a:xfrm>
            <a:off x="640080" y="2148840"/>
            <a:ext cx="457200" cy="457200"/>
          </a:xfrm>
          <a:prstGeom prst="ellipse">
            <a:avLst/>
          </a:prstGeom>
          <a:solidFill>
            <a:srgbClr val="8B8CDF"/>
          </a:solidFill>
          <a:ln/>
        </p:spPr>
        <p:txBody>
          <a:bodyPr/>
          <a:lstStyle/>
          <a:p>
            <a:endParaRPr lang="en-US"/>
          </a:p>
        </p:txBody>
      </p:sp>
      <p:sp>
        <p:nvSpPr>
          <p:cNvPr id="9" name="Text 7"/>
          <p:cNvSpPr/>
          <p:nvPr/>
        </p:nvSpPr>
        <p:spPr>
          <a:xfrm>
            <a:off x="640080" y="21488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Lora" pitchFamily="34" charset="0"/>
                <a:ea typeface="Lora" pitchFamily="34" charset="-122"/>
                <a:cs typeface="Lora" pitchFamily="34" charset="-120"/>
              </a:rPr>
              <a:t>2</a:t>
            </a:r>
            <a:endParaRPr lang="en-US" sz="1800" dirty="0"/>
          </a:p>
        </p:txBody>
      </p:sp>
      <p:sp>
        <p:nvSpPr>
          <p:cNvPr id="10" name="Shape 8"/>
          <p:cNvSpPr/>
          <p:nvPr/>
        </p:nvSpPr>
        <p:spPr>
          <a:xfrm>
            <a:off x="868680" y="2651760"/>
            <a:ext cx="0" cy="365760"/>
          </a:xfrm>
          <a:prstGeom prst="line">
            <a:avLst/>
          </a:prstGeom>
          <a:noFill/>
          <a:ln w="25400">
            <a:solidFill>
              <a:srgbClr val="E8E6DC"/>
            </a:solidFill>
            <a:prstDash val="solid"/>
          </a:ln>
        </p:spPr>
        <p:txBody>
          <a:bodyPr/>
          <a:lstStyle/>
          <a:p>
            <a:endParaRPr lang="en-US"/>
          </a:p>
        </p:txBody>
      </p:sp>
      <p:sp>
        <p:nvSpPr>
          <p:cNvPr id="11" name="Text 9"/>
          <p:cNvSpPr/>
          <p:nvPr/>
        </p:nvSpPr>
        <p:spPr>
          <a:xfrm>
            <a:off x="1325880" y="2103120"/>
            <a:ext cx="3657600" cy="32004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Check description</a:t>
            </a:r>
            <a:endParaRPr lang="en-US" sz="1600" dirty="0"/>
          </a:p>
        </p:txBody>
      </p:sp>
      <p:sp>
        <p:nvSpPr>
          <p:cNvPr id="12" name="Text 10"/>
          <p:cNvSpPr/>
          <p:nvPr/>
        </p:nvSpPr>
        <p:spPr>
          <a:xfrm>
            <a:off x="1325880" y="2404872"/>
            <a:ext cx="6858000" cy="320040"/>
          </a:xfrm>
          <a:prstGeom prst="rect">
            <a:avLst/>
          </a:prstGeom>
          <a:noFill/>
          <a:ln/>
        </p:spPr>
        <p:txBody>
          <a:bodyPr wrap="square" lIns="0" tIns="0" rIns="0" bIns="0" rtlCol="0" anchor="ctr"/>
          <a:lstStyle/>
          <a:p>
            <a:pPr marL="0" indent="0">
              <a:buNone/>
            </a:pPr>
            <a:r>
              <a:rPr lang="en-US" sz="1300" dirty="0">
                <a:solidFill>
                  <a:srgbClr val="B0AEA5"/>
                </a:solidFill>
                <a:latin typeface="Lora" pitchFamily="34" charset="0"/>
                <a:ea typeface="Lora" pitchFamily="34" charset="-122"/>
                <a:cs typeface="Lora" pitchFamily="34" charset="-120"/>
              </a:rPr>
              <a:t>Vague descriptions cause false positives/negatives. Add specific keywords.</a:t>
            </a:r>
            <a:endParaRPr lang="en-US" sz="1300" dirty="0"/>
          </a:p>
        </p:txBody>
      </p:sp>
      <p:sp>
        <p:nvSpPr>
          <p:cNvPr id="13" name="Shape 11"/>
          <p:cNvSpPr/>
          <p:nvPr/>
        </p:nvSpPr>
        <p:spPr>
          <a:xfrm>
            <a:off x="640080" y="3108960"/>
            <a:ext cx="457200" cy="457200"/>
          </a:xfrm>
          <a:prstGeom prst="ellipse">
            <a:avLst/>
          </a:prstGeom>
          <a:solidFill>
            <a:srgbClr val="8B8CDF"/>
          </a:solidFill>
          <a:ln/>
        </p:spPr>
        <p:txBody>
          <a:bodyPr/>
          <a:lstStyle/>
          <a:p>
            <a:endParaRPr lang="en-US"/>
          </a:p>
        </p:txBody>
      </p:sp>
      <p:sp>
        <p:nvSpPr>
          <p:cNvPr id="14" name="Text 12"/>
          <p:cNvSpPr/>
          <p:nvPr/>
        </p:nvSpPr>
        <p:spPr>
          <a:xfrm>
            <a:off x="640080" y="31089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Lora" pitchFamily="34" charset="0"/>
                <a:ea typeface="Lora" pitchFamily="34" charset="-122"/>
                <a:cs typeface="Lora" pitchFamily="34" charset="-120"/>
              </a:rPr>
              <a:t>3</a:t>
            </a:r>
            <a:endParaRPr lang="en-US" sz="1800" dirty="0"/>
          </a:p>
        </p:txBody>
      </p:sp>
      <p:sp>
        <p:nvSpPr>
          <p:cNvPr id="15" name="Shape 13"/>
          <p:cNvSpPr/>
          <p:nvPr/>
        </p:nvSpPr>
        <p:spPr>
          <a:xfrm>
            <a:off x="868680" y="3611880"/>
            <a:ext cx="0" cy="365760"/>
          </a:xfrm>
          <a:prstGeom prst="line">
            <a:avLst/>
          </a:prstGeom>
          <a:noFill/>
          <a:ln w="25400">
            <a:solidFill>
              <a:srgbClr val="E8E6DC"/>
            </a:solidFill>
            <a:prstDash val="solid"/>
          </a:ln>
        </p:spPr>
        <p:txBody>
          <a:bodyPr/>
          <a:lstStyle/>
          <a:p>
            <a:endParaRPr lang="en-US"/>
          </a:p>
        </p:txBody>
      </p:sp>
      <p:sp>
        <p:nvSpPr>
          <p:cNvPr id="16" name="Text 14"/>
          <p:cNvSpPr/>
          <p:nvPr/>
        </p:nvSpPr>
        <p:spPr>
          <a:xfrm>
            <a:off x="1325880" y="3063240"/>
            <a:ext cx="3657600" cy="32004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Check priority</a:t>
            </a:r>
            <a:endParaRPr lang="en-US" sz="1600" dirty="0"/>
          </a:p>
        </p:txBody>
      </p:sp>
      <p:sp>
        <p:nvSpPr>
          <p:cNvPr id="17" name="Text 15"/>
          <p:cNvSpPr/>
          <p:nvPr/>
        </p:nvSpPr>
        <p:spPr>
          <a:xfrm>
            <a:off x="1325880" y="3364992"/>
            <a:ext cx="6858000" cy="320040"/>
          </a:xfrm>
          <a:prstGeom prst="rect">
            <a:avLst/>
          </a:prstGeom>
          <a:noFill/>
          <a:ln/>
        </p:spPr>
        <p:txBody>
          <a:bodyPr wrap="square" lIns="0" tIns="0" rIns="0" bIns="0" rtlCol="0" anchor="ctr"/>
          <a:lstStyle/>
          <a:p>
            <a:pPr marL="0" indent="0">
              <a:buNone/>
            </a:pPr>
            <a:r>
              <a:rPr lang="en-US" sz="1300" dirty="0">
                <a:solidFill>
                  <a:srgbClr val="B0AEA5"/>
                </a:solidFill>
                <a:latin typeface="Lora" pitchFamily="34" charset="0"/>
                <a:ea typeface="Lora" pitchFamily="34" charset="-122"/>
                <a:cs typeface="Lora" pitchFamily="34" charset="-120"/>
              </a:rPr>
              <a:t>Enterprise and project skills supersede personal ones. Rename to avoid conflicts.</a:t>
            </a:r>
            <a:endParaRPr lang="en-US" sz="1300" dirty="0"/>
          </a:p>
        </p:txBody>
      </p:sp>
      <p:sp>
        <p:nvSpPr>
          <p:cNvPr id="18" name="Shape 16"/>
          <p:cNvSpPr/>
          <p:nvPr/>
        </p:nvSpPr>
        <p:spPr>
          <a:xfrm>
            <a:off x="640080" y="4069080"/>
            <a:ext cx="457200" cy="457200"/>
          </a:xfrm>
          <a:prstGeom prst="ellipse">
            <a:avLst/>
          </a:prstGeom>
          <a:solidFill>
            <a:srgbClr val="8B8CDF"/>
          </a:solidFill>
          <a:ln/>
        </p:spPr>
        <p:txBody>
          <a:bodyPr/>
          <a:lstStyle/>
          <a:p>
            <a:endParaRPr lang="en-US"/>
          </a:p>
        </p:txBody>
      </p:sp>
      <p:sp>
        <p:nvSpPr>
          <p:cNvPr id="19" name="Text 17"/>
          <p:cNvSpPr/>
          <p:nvPr/>
        </p:nvSpPr>
        <p:spPr>
          <a:xfrm>
            <a:off x="640080" y="40690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Lora" pitchFamily="34" charset="0"/>
                <a:ea typeface="Lora" pitchFamily="34" charset="-122"/>
                <a:cs typeface="Lora" pitchFamily="34" charset="-120"/>
              </a:rPr>
              <a:t>4</a:t>
            </a:r>
            <a:endParaRPr lang="en-US" sz="1800" dirty="0"/>
          </a:p>
        </p:txBody>
      </p:sp>
      <p:sp>
        <p:nvSpPr>
          <p:cNvPr id="20" name="Text 18"/>
          <p:cNvSpPr/>
          <p:nvPr/>
        </p:nvSpPr>
        <p:spPr>
          <a:xfrm>
            <a:off x="1325880" y="4023360"/>
            <a:ext cx="3657600" cy="32004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Check context budget</a:t>
            </a:r>
            <a:endParaRPr lang="en-US" sz="1600" dirty="0"/>
          </a:p>
        </p:txBody>
      </p:sp>
      <p:sp>
        <p:nvSpPr>
          <p:cNvPr id="21" name="Text 19"/>
          <p:cNvSpPr/>
          <p:nvPr/>
        </p:nvSpPr>
        <p:spPr>
          <a:xfrm>
            <a:off x="1325880" y="4335386"/>
            <a:ext cx="6858000" cy="320040"/>
          </a:xfrm>
          <a:prstGeom prst="rect">
            <a:avLst/>
          </a:prstGeom>
          <a:noFill/>
          <a:ln/>
        </p:spPr>
        <p:txBody>
          <a:bodyPr wrap="square" lIns="0" tIns="0" rIns="0" bIns="0" rtlCol="0" anchor="ctr"/>
          <a:lstStyle/>
          <a:p>
            <a:pPr marL="0" indent="0">
              <a:buNone/>
            </a:pPr>
            <a:r>
              <a:rPr lang="en-US" sz="1300" dirty="0">
                <a:solidFill>
                  <a:srgbClr val="B0AEA5"/>
                </a:solidFill>
                <a:latin typeface="Lora" pitchFamily="34" charset="0"/>
                <a:ea typeface="Lora" pitchFamily="34" charset="-122"/>
                <a:cs typeface="Lora" pitchFamily="34" charset="-120"/>
              </a:rPr>
              <a:t>Too many or too-large skills hit the budget. Override with SLASH_COMMAND_TOOL_CHAR_BUDGET or split large skills.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nvSpPr>
        <p:spPr>
          <a:xfrm>
            <a:off x="640079" y="182880"/>
            <a:ext cx="6377169" cy="548640"/>
          </a:xfrm>
          <a:prstGeom prst="rect">
            <a:avLst/>
          </a:prstGeom>
          <a:noFill/>
          <a:ln/>
        </p:spPr>
        <p:txBody>
          <a:bodyPr wrap="square" lIns="0" tIns="0" rIns="0" bIns="0" rtlCol="0" anchor="ctr"/>
          <a:lstStyle/>
          <a:p>
            <a:pPr marL="0" indent="0">
              <a:buNone/>
            </a:pPr>
            <a:r>
              <a:rPr lang="en-US" sz="2800" b="1" dirty="0">
                <a:solidFill>
                  <a:srgbClr val="141413"/>
                </a:solidFill>
                <a:latin typeface="Test Tiempos Headline Light" pitchFamily="34" charset="0"/>
                <a:ea typeface="Test Tiempos Headline Light" pitchFamily="34" charset="-122"/>
                <a:cs typeface="Test Tiempos Headline Light" pitchFamily="34" charset="-120"/>
              </a:rPr>
              <a:t>Test your troubleshooting skills</a:t>
            </a:r>
            <a:endParaRPr lang="en-US" sz="2800" dirty="0"/>
          </a:p>
        </p:txBody>
      </p:sp>
      <p:sp>
        <p:nvSpPr>
          <p:cNvPr id="7" name="Shape 4"/>
          <p:cNvSpPr/>
          <p:nvPr/>
        </p:nvSpPr>
        <p:spPr>
          <a:xfrm>
            <a:off x="642004" y="1630509"/>
            <a:ext cx="5303520" cy="731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8" name="Shape 5"/>
          <p:cNvSpPr/>
          <p:nvPr/>
        </p:nvSpPr>
        <p:spPr>
          <a:xfrm>
            <a:off x="642004" y="1630509"/>
            <a:ext cx="54864" cy="731520"/>
          </a:xfrm>
          <a:prstGeom prst="rect">
            <a:avLst/>
          </a:prstGeom>
          <a:solidFill>
            <a:schemeClr val="accent2"/>
          </a:solidFill>
          <a:ln/>
        </p:spPr>
        <p:txBody>
          <a:bodyPr/>
          <a:lstStyle/>
          <a:p>
            <a:endParaRPr lang="en-US">
              <a:solidFill>
                <a:schemeClr val="accent2"/>
              </a:solidFill>
            </a:endParaRPr>
          </a:p>
        </p:txBody>
      </p:sp>
      <p:sp>
        <p:nvSpPr>
          <p:cNvPr id="9" name="Text 6"/>
          <p:cNvSpPr/>
          <p:nvPr/>
        </p:nvSpPr>
        <p:spPr>
          <a:xfrm>
            <a:off x="870604" y="1630509"/>
            <a:ext cx="914400" cy="731520"/>
          </a:xfrm>
          <a:prstGeom prst="rect">
            <a:avLst/>
          </a:prstGeom>
          <a:noFill/>
          <a:ln/>
        </p:spPr>
        <p:txBody>
          <a:bodyPr wrap="square" lIns="0" tIns="0" rIns="0" bIns="0" rtlCol="0" anchor="ctr"/>
          <a:lstStyle/>
          <a:p>
            <a:pPr marL="0" indent="0">
              <a:buNone/>
            </a:pPr>
            <a:r>
              <a:rPr lang="en-US" sz="1300" b="1" dirty="0">
                <a:solidFill>
                  <a:schemeClr val="accent2"/>
                </a:solidFill>
                <a:latin typeface="Lora" pitchFamily="34" charset="0"/>
                <a:ea typeface="Lora" pitchFamily="34" charset="-122"/>
                <a:cs typeface="Lora" pitchFamily="34" charset="-120"/>
              </a:rPr>
              <a:t>Task 1:</a:t>
            </a:r>
            <a:endParaRPr lang="en-US" sz="1300" dirty="0">
              <a:solidFill>
                <a:schemeClr val="accent2"/>
              </a:solidFill>
            </a:endParaRPr>
          </a:p>
        </p:txBody>
      </p:sp>
      <p:sp>
        <p:nvSpPr>
          <p:cNvPr id="10" name="Text 7"/>
          <p:cNvSpPr/>
          <p:nvPr/>
        </p:nvSpPr>
        <p:spPr>
          <a:xfrm>
            <a:off x="1594904" y="1721949"/>
            <a:ext cx="4259179" cy="548640"/>
          </a:xfrm>
          <a:prstGeom prst="rect">
            <a:avLst/>
          </a:prstGeom>
          <a:noFill/>
          <a:ln/>
        </p:spPr>
        <p:txBody>
          <a:bodyPr wrap="square" lIns="0" tIns="0" rIns="0" bIns="0" rtlCol="0" anchor="ctr"/>
          <a:lstStyle/>
          <a:p>
            <a:pPr marL="0" indent="0">
              <a:buNone/>
            </a:pPr>
            <a:r>
              <a:rPr lang="en-US" sz="1300" dirty="0">
                <a:solidFill>
                  <a:srgbClr val="141413"/>
                </a:solidFill>
                <a:latin typeface="Lora" pitchFamily="34" charset="0"/>
                <a:ea typeface="Lora" pitchFamily="34" charset="-122"/>
                <a:cs typeface="Lora" pitchFamily="34" charset="-120"/>
              </a:rPr>
              <a:t>Run the agent-skills CLI validator on your code review skill and resolve any warnings it reports</a:t>
            </a:r>
            <a:endParaRPr lang="en-US" sz="1300" dirty="0"/>
          </a:p>
        </p:txBody>
      </p:sp>
      <p:sp>
        <p:nvSpPr>
          <p:cNvPr id="11" name="Shape 8"/>
          <p:cNvSpPr/>
          <p:nvPr/>
        </p:nvSpPr>
        <p:spPr>
          <a:xfrm>
            <a:off x="642004" y="2602059"/>
            <a:ext cx="5303520" cy="731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2" name="Shape 9"/>
          <p:cNvSpPr/>
          <p:nvPr/>
        </p:nvSpPr>
        <p:spPr>
          <a:xfrm>
            <a:off x="640079" y="2602059"/>
            <a:ext cx="54864" cy="731520"/>
          </a:xfrm>
          <a:prstGeom prst="rect">
            <a:avLst/>
          </a:prstGeom>
          <a:solidFill>
            <a:schemeClr val="accent2"/>
          </a:solidFill>
          <a:ln/>
        </p:spPr>
        <p:txBody>
          <a:bodyPr/>
          <a:lstStyle/>
          <a:p>
            <a:endParaRPr lang="en-US">
              <a:solidFill>
                <a:schemeClr val="accent2"/>
              </a:solidFill>
            </a:endParaRPr>
          </a:p>
        </p:txBody>
      </p:sp>
      <p:sp>
        <p:nvSpPr>
          <p:cNvPr id="13" name="Text 10"/>
          <p:cNvSpPr/>
          <p:nvPr/>
        </p:nvSpPr>
        <p:spPr>
          <a:xfrm>
            <a:off x="822959" y="2602059"/>
            <a:ext cx="914400" cy="731520"/>
          </a:xfrm>
          <a:prstGeom prst="rect">
            <a:avLst/>
          </a:prstGeom>
          <a:noFill/>
          <a:ln/>
        </p:spPr>
        <p:txBody>
          <a:bodyPr wrap="square" lIns="0" tIns="0" rIns="0" bIns="0" rtlCol="0" anchor="ctr"/>
          <a:lstStyle/>
          <a:p>
            <a:pPr marL="0" indent="0">
              <a:buNone/>
            </a:pPr>
            <a:r>
              <a:rPr lang="en-US" sz="1300" b="1" dirty="0">
                <a:solidFill>
                  <a:schemeClr val="accent2"/>
                </a:solidFill>
                <a:latin typeface="Lora" pitchFamily="34" charset="0"/>
                <a:ea typeface="Lora" pitchFamily="34" charset="-122"/>
                <a:cs typeface="Lora" pitchFamily="34" charset="-120"/>
              </a:rPr>
              <a:t>Task 2:</a:t>
            </a:r>
            <a:endParaRPr lang="en-US" sz="1300" dirty="0">
              <a:solidFill>
                <a:schemeClr val="accent2"/>
              </a:solidFill>
            </a:endParaRPr>
          </a:p>
        </p:txBody>
      </p:sp>
      <p:sp>
        <p:nvSpPr>
          <p:cNvPr id="14" name="Text 11"/>
          <p:cNvSpPr/>
          <p:nvPr/>
        </p:nvSpPr>
        <p:spPr>
          <a:xfrm>
            <a:off x="1594904" y="2682069"/>
            <a:ext cx="4259179" cy="548640"/>
          </a:xfrm>
          <a:prstGeom prst="rect">
            <a:avLst/>
          </a:prstGeom>
          <a:noFill/>
          <a:ln/>
        </p:spPr>
        <p:txBody>
          <a:bodyPr wrap="square" lIns="0" tIns="0" rIns="0" bIns="0" rtlCol="0" anchor="ctr"/>
          <a:lstStyle/>
          <a:p>
            <a:pPr marL="0" indent="0">
              <a:buNone/>
            </a:pPr>
            <a:r>
              <a:rPr lang="en-US" sz="1300" dirty="0">
                <a:solidFill>
                  <a:srgbClr val="141413"/>
                </a:solidFill>
                <a:latin typeface="Lora" pitchFamily="34" charset="0"/>
                <a:ea typeface="Lora" pitchFamily="34" charset="-122"/>
                <a:cs typeface="Lora" pitchFamily="34" charset="-120"/>
              </a:rPr>
              <a:t>Walk through the discover, load, behave flow on your skill to verify each stage works correctly</a:t>
            </a:r>
            <a:endParaRPr lang="en-US" sz="1300" dirty="0"/>
          </a:p>
        </p:txBody>
      </p:sp>
      <p:sp>
        <p:nvSpPr>
          <p:cNvPr id="15" name="Shape 12"/>
          <p:cNvSpPr/>
          <p:nvPr/>
        </p:nvSpPr>
        <p:spPr>
          <a:xfrm>
            <a:off x="642004" y="3573609"/>
            <a:ext cx="5303520" cy="731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6" name="Shape 13"/>
          <p:cNvSpPr/>
          <p:nvPr/>
        </p:nvSpPr>
        <p:spPr>
          <a:xfrm>
            <a:off x="640079" y="3573609"/>
            <a:ext cx="54864" cy="731520"/>
          </a:xfrm>
          <a:prstGeom prst="rect">
            <a:avLst/>
          </a:prstGeom>
          <a:solidFill>
            <a:schemeClr val="accent2"/>
          </a:solidFill>
          <a:ln/>
        </p:spPr>
        <p:txBody>
          <a:bodyPr/>
          <a:lstStyle/>
          <a:p>
            <a:endParaRPr lang="en-US">
              <a:solidFill>
                <a:schemeClr val="accent2"/>
              </a:solidFill>
            </a:endParaRPr>
          </a:p>
        </p:txBody>
      </p:sp>
      <p:sp>
        <p:nvSpPr>
          <p:cNvPr id="17" name="Text 14"/>
          <p:cNvSpPr/>
          <p:nvPr/>
        </p:nvSpPr>
        <p:spPr>
          <a:xfrm>
            <a:off x="870604" y="3573609"/>
            <a:ext cx="914400" cy="731520"/>
          </a:xfrm>
          <a:prstGeom prst="rect">
            <a:avLst/>
          </a:prstGeom>
          <a:noFill/>
          <a:ln/>
        </p:spPr>
        <p:txBody>
          <a:bodyPr wrap="square" lIns="0" tIns="0" rIns="0" bIns="0" rtlCol="0" anchor="ctr"/>
          <a:lstStyle/>
          <a:p>
            <a:pPr marL="0" indent="0">
              <a:buNone/>
            </a:pPr>
            <a:r>
              <a:rPr lang="en-US" sz="1300" b="1" dirty="0">
                <a:solidFill>
                  <a:schemeClr val="accent2"/>
                </a:solidFill>
                <a:latin typeface="Lora" pitchFamily="34" charset="0"/>
                <a:ea typeface="Lora" pitchFamily="34" charset="-122"/>
                <a:cs typeface="Lora" pitchFamily="34" charset="-120"/>
              </a:rPr>
              <a:t>Task 3:</a:t>
            </a:r>
            <a:endParaRPr lang="en-US" sz="1300" dirty="0">
              <a:solidFill>
                <a:schemeClr val="accent2"/>
              </a:solidFill>
            </a:endParaRPr>
          </a:p>
        </p:txBody>
      </p:sp>
      <p:sp>
        <p:nvSpPr>
          <p:cNvPr id="18" name="Text 15"/>
          <p:cNvSpPr/>
          <p:nvPr/>
        </p:nvSpPr>
        <p:spPr>
          <a:xfrm>
            <a:off x="1594904" y="3665049"/>
            <a:ext cx="4259179" cy="548640"/>
          </a:xfrm>
          <a:prstGeom prst="rect">
            <a:avLst/>
          </a:prstGeom>
          <a:noFill/>
          <a:ln/>
        </p:spPr>
        <p:txBody>
          <a:bodyPr wrap="square" lIns="0" tIns="0" rIns="0" bIns="0" rtlCol="0" anchor="ctr"/>
          <a:lstStyle/>
          <a:p>
            <a:pPr marL="0" indent="0">
              <a:buNone/>
            </a:pPr>
            <a:r>
              <a:rPr lang="en-US" sz="1300" dirty="0">
                <a:solidFill>
                  <a:srgbClr val="141413"/>
                </a:solidFill>
                <a:latin typeface="Lora" pitchFamily="34" charset="0"/>
                <a:ea typeface="Lora" pitchFamily="34" charset="-122"/>
                <a:cs typeface="Lora" pitchFamily="34" charset="-120"/>
              </a:rPr>
              <a:t>Intentionally break one thing in your skill, then swap with a partner and diagnose each other’s issue</a:t>
            </a:r>
            <a:endParaRPr lang="en-US" sz="1300" dirty="0"/>
          </a:p>
        </p:txBody>
      </p:sp>
      <p:sp>
        <p:nvSpPr>
          <p:cNvPr id="19" name="Shape 16"/>
          <p:cNvSpPr/>
          <p:nvPr/>
        </p:nvSpPr>
        <p:spPr>
          <a:xfrm>
            <a:off x="6219844" y="1630509"/>
            <a:ext cx="2286000" cy="2697480"/>
          </a:xfrm>
          <a:prstGeom prst="rect">
            <a:avLst/>
          </a:prstGeom>
          <a:solidFill>
            <a:schemeClr val="accent2">
              <a:lumMod val="20000"/>
              <a:lumOff val="80000"/>
            </a:schemeClr>
          </a:solidFill>
          <a:ln/>
        </p:spPr>
        <p:txBody>
          <a:bodyPr/>
          <a:lstStyle/>
          <a:p>
            <a:endParaRPr lang="en-US"/>
          </a:p>
        </p:txBody>
      </p:sp>
      <p:sp>
        <p:nvSpPr>
          <p:cNvPr id="20" name="Text 17"/>
          <p:cNvSpPr/>
          <p:nvPr/>
        </p:nvSpPr>
        <p:spPr>
          <a:xfrm>
            <a:off x="6219844" y="1813389"/>
            <a:ext cx="2286000" cy="274320"/>
          </a:xfrm>
          <a:prstGeom prst="rect">
            <a:avLst/>
          </a:prstGeom>
          <a:noFill/>
          <a:ln/>
        </p:spPr>
        <p:txBody>
          <a:bodyPr wrap="square" lIns="0" tIns="0" rIns="0" bIns="0" rtlCol="0" anchor="ctr"/>
          <a:lstStyle/>
          <a:p>
            <a:pPr marL="0" indent="0" algn="ctr">
              <a:buNone/>
            </a:pPr>
            <a:r>
              <a:rPr lang="en-US" sz="1100" b="1" dirty="0">
                <a:solidFill>
                  <a:schemeClr val="accent6"/>
                </a:solidFill>
                <a:latin typeface="Lora" pitchFamily="34" charset="0"/>
                <a:ea typeface="Lora" pitchFamily="34" charset="-122"/>
                <a:cs typeface="Lora" pitchFamily="34" charset="-120"/>
              </a:rPr>
              <a:t>Time</a:t>
            </a:r>
            <a:endParaRPr lang="en-US" sz="1100" dirty="0">
              <a:solidFill>
                <a:schemeClr val="accent6"/>
              </a:solidFill>
            </a:endParaRPr>
          </a:p>
        </p:txBody>
      </p:sp>
      <p:sp>
        <p:nvSpPr>
          <p:cNvPr id="21" name="Text 18"/>
          <p:cNvSpPr/>
          <p:nvPr/>
        </p:nvSpPr>
        <p:spPr>
          <a:xfrm>
            <a:off x="6219844" y="2087709"/>
            <a:ext cx="2286000" cy="365760"/>
          </a:xfrm>
          <a:prstGeom prst="rect">
            <a:avLst/>
          </a:prstGeom>
          <a:noFill/>
          <a:ln/>
        </p:spPr>
        <p:txBody>
          <a:bodyPr wrap="square" lIns="0" tIns="0" rIns="0" bIns="0" rtlCol="0" anchor="ctr"/>
          <a:lstStyle/>
          <a:p>
            <a:pPr marL="0" indent="0" algn="ctr">
              <a:buNone/>
            </a:pPr>
            <a:r>
              <a:rPr lang="en-US" sz="2200" b="1" dirty="0">
                <a:solidFill>
                  <a:schemeClr val="accent2"/>
                </a:solidFill>
                <a:latin typeface="Lora" pitchFamily="34" charset="0"/>
                <a:ea typeface="Lora" pitchFamily="34" charset="-122"/>
                <a:cs typeface="Lora" pitchFamily="34" charset="-120"/>
              </a:rPr>
              <a:t>10 min</a:t>
            </a:r>
            <a:endParaRPr lang="en-US" sz="2200" dirty="0">
              <a:solidFill>
                <a:schemeClr val="accent2"/>
              </a:solidFill>
            </a:endParaRPr>
          </a:p>
        </p:txBody>
      </p:sp>
      <p:sp>
        <p:nvSpPr>
          <p:cNvPr id="22" name="Shape 19"/>
          <p:cNvSpPr/>
          <p:nvPr/>
        </p:nvSpPr>
        <p:spPr>
          <a:xfrm>
            <a:off x="6494164" y="2636349"/>
            <a:ext cx="1737360" cy="0"/>
          </a:xfrm>
          <a:prstGeom prst="line">
            <a:avLst/>
          </a:prstGeom>
          <a:noFill/>
          <a:ln w="12700">
            <a:solidFill>
              <a:srgbClr val="B0AEA5"/>
            </a:solidFill>
            <a:prstDash val="dash"/>
          </a:ln>
        </p:spPr>
        <p:txBody>
          <a:bodyPr/>
          <a:lstStyle/>
          <a:p>
            <a:endParaRPr lang="en-US"/>
          </a:p>
        </p:txBody>
      </p:sp>
      <p:sp>
        <p:nvSpPr>
          <p:cNvPr id="23" name="Text 20"/>
          <p:cNvSpPr/>
          <p:nvPr/>
        </p:nvSpPr>
        <p:spPr>
          <a:xfrm>
            <a:off x="6219844" y="2819229"/>
            <a:ext cx="2286000" cy="274320"/>
          </a:xfrm>
          <a:prstGeom prst="rect">
            <a:avLst/>
          </a:prstGeom>
          <a:noFill/>
          <a:ln/>
        </p:spPr>
        <p:txBody>
          <a:bodyPr wrap="square" lIns="0" tIns="0" rIns="0" bIns="0" rtlCol="0" anchor="ctr"/>
          <a:lstStyle/>
          <a:p>
            <a:pPr marL="0" indent="0" algn="ctr">
              <a:buNone/>
            </a:pPr>
            <a:r>
              <a:rPr lang="en-US" sz="1100" b="1" dirty="0">
                <a:solidFill>
                  <a:schemeClr val="accent6"/>
                </a:solidFill>
                <a:latin typeface="Lora" pitchFamily="34" charset="0"/>
                <a:ea typeface="Lora" pitchFamily="34" charset="-122"/>
                <a:cs typeface="Lora" pitchFamily="34" charset="-120"/>
              </a:rPr>
              <a:t>Success Criteria</a:t>
            </a:r>
            <a:endParaRPr lang="en-US" sz="1100" dirty="0">
              <a:solidFill>
                <a:schemeClr val="accent6"/>
              </a:solidFill>
            </a:endParaRPr>
          </a:p>
        </p:txBody>
      </p:sp>
      <p:sp>
        <p:nvSpPr>
          <p:cNvPr id="24" name="Text 21"/>
          <p:cNvSpPr/>
          <p:nvPr/>
        </p:nvSpPr>
        <p:spPr>
          <a:xfrm>
            <a:off x="6402724" y="3139269"/>
            <a:ext cx="1920240" cy="640080"/>
          </a:xfrm>
          <a:prstGeom prst="rect">
            <a:avLst/>
          </a:prstGeom>
          <a:noFill/>
          <a:ln/>
        </p:spPr>
        <p:txBody>
          <a:bodyPr wrap="square" lIns="0" tIns="0" rIns="0" bIns="0" rtlCol="0" anchor="ctr"/>
          <a:lstStyle/>
          <a:p>
            <a:pPr marL="0" indent="0" algn="ctr">
              <a:buNone/>
            </a:pPr>
            <a:r>
              <a:rPr lang="en-US" sz="1100" dirty="0">
                <a:latin typeface="Lora" pitchFamily="34" charset="0"/>
                <a:ea typeface="Lora" pitchFamily="34" charset="-122"/>
                <a:cs typeface="Lora" pitchFamily="34" charset="-120"/>
              </a:rPr>
              <a:t>Skill passes validation and you can diagnose a partner’s bug using the debugging flow</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640080" y="274320"/>
            <a:ext cx="6995160" cy="502920"/>
          </a:xfrm>
          <a:prstGeom prst="rect">
            <a:avLst/>
          </a:prstGeom>
          <a:noFill/>
          <a:ln/>
        </p:spPr>
        <p:txBody>
          <a:bodyPr wrap="square" lIns="0" tIns="0" rIns="0" bIns="0" rtlCol="0" anchor="ctr"/>
          <a:lstStyle/>
          <a:p>
            <a:pPr marL="0" indent="0">
              <a:buNone/>
            </a:pPr>
            <a:r>
              <a:rPr lang="en-US" sz="2800" b="1" dirty="0">
                <a:solidFill>
                  <a:srgbClr val="141413"/>
                </a:solidFill>
                <a:latin typeface="Test Tiempos Headline Light" pitchFamily="34" charset="0"/>
                <a:ea typeface="Test Tiempos Headline Light" pitchFamily="34" charset="-122"/>
                <a:cs typeface="Test Tiempos Headline Light" pitchFamily="34" charset="-120"/>
              </a:rPr>
              <a:t>Distribution and API access</a:t>
            </a:r>
            <a:endParaRPr lang="en-US" sz="2800" dirty="0"/>
          </a:p>
        </p:txBody>
      </p:sp>
      <p:sp>
        <p:nvSpPr>
          <p:cNvPr id="4" name="Shape 1"/>
          <p:cNvSpPr/>
          <p:nvPr/>
        </p:nvSpPr>
        <p:spPr>
          <a:xfrm>
            <a:off x="640080" y="1005840"/>
            <a:ext cx="7863840" cy="2926080"/>
          </a:xfrm>
          <a:prstGeom prst="rect">
            <a:avLst/>
          </a:prstGeom>
          <a:solidFill>
            <a:srgbClr val="1E1E1E"/>
          </a:solidFill>
          <a:ln/>
          <a:effectLst>
            <a:outerShdw blurRad="76200" dist="25400" dir="8100000" algn="bl" rotWithShape="0">
              <a:srgbClr val="000000">
                <a:alpha val="12000"/>
              </a:srgbClr>
            </a:outerShdw>
          </a:effectLst>
        </p:spPr>
        <p:txBody>
          <a:bodyPr/>
          <a:lstStyle/>
          <a:p>
            <a:endParaRPr lang="en-US"/>
          </a:p>
        </p:txBody>
      </p:sp>
      <p:sp>
        <p:nvSpPr>
          <p:cNvPr id="5" name="Shape 2"/>
          <p:cNvSpPr/>
          <p:nvPr/>
        </p:nvSpPr>
        <p:spPr>
          <a:xfrm>
            <a:off x="640080" y="1005840"/>
            <a:ext cx="7863840" cy="320040"/>
          </a:xfrm>
          <a:prstGeom prst="rect">
            <a:avLst/>
          </a:prstGeom>
          <a:solidFill>
            <a:srgbClr val="2D2D2D"/>
          </a:solidFill>
          <a:ln/>
        </p:spPr>
        <p:txBody>
          <a:bodyPr/>
          <a:lstStyle/>
          <a:p>
            <a:endParaRPr lang="en-US"/>
          </a:p>
        </p:txBody>
      </p:sp>
      <p:sp>
        <p:nvSpPr>
          <p:cNvPr id="6" name="Shape 3"/>
          <p:cNvSpPr/>
          <p:nvPr/>
        </p:nvSpPr>
        <p:spPr>
          <a:xfrm>
            <a:off x="822960" y="1097280"/>
            <a:ext cx="118872" cy="118872"/>
          </a:xfrm>
          <a:prstGeom prst="ellipse">
            <a:avLst/>
          </a:prstGeom>
          <a:solidFill>
            <a:srgbClr val="FF5F56"/>
          </a:solidFill>
          <a:ln/>
        </p:spPr>
        <p:txBody>
          <a:bodyPr/>
          <a:lstStyle/>
          <a:p>
            <a:endParaRPr lang="en-US"/>
          </a:p>
        </p:txBody>
      </p:sp>
      <p:sp>
        <p:nvSpPr>
          <p:cNvPr id="7" name="Shape 4"/>
          <p:cNvSpPr/>
          <p:nvPr/>
        </p:nvSpPr>
        <p:spPr>
          <a:xfrm>
            <a:off x="1005840" y="1097280"/>
            <a:ext cx="118872" cy="118872"/>
          </a:xfrm>
          <a:prstGeom prst="ellipse">
            <a:avLst/>
          </a:prstGeom>
          <a:solidFill>
            <a:srgbClr val="FFBD2E"/>
          </a:solidFill>
          <a:ln/>
        </p:spPr>
        <p:txBody>
          <a:bodyPr/>
          <a:lstStyle/>
          <a:p>
            <a:endParaRPr lang="en-US"/>
          </a:p>
        </p:txBody>
      </p:sp>
      <p:sp>
        <p:nvSpPr>
          <p:cNvPr id="8" name="Shape 5"/>
          <p:cNvSpPr/>
          <p:nvPr/>
        </p:nvSpPr>
        <p:spPr>
          <a:xfrm>
            <a:off x="1188720" y="1097280"/>
            <a:ext cx="118872" cy="118872"/>
          </a:xfrm>
          <a:prstGeom prst="ellipse">
            <a:avLst/>
          </a:prstGeom>
          <a:solidFill>
            <a:srgbClr val="27C93F"/>
          </a:solidFill>
          <a:ln/>
        </p:spPr>
        <p:txBody>
          <a:bodyPr/>
          <a:lstStyle/>
          <a:p>
            <a:endParaRPr lang="en-US"/>
          </a:p>
        </p:txBody>
      </p:sp>
      <p:sp>
        <p:nvSpPr>
          <p:cNvPr id="9" name="Text 6"/>
          <p:cNvSpPr/>
          <p:nvPr/>
        </p:nvSpPr>
        <p:spPr>
          <a:xfrm>
            <a:off x="1463040" y="1005840"/>
            <a:ext cx="3657600" cy="320040"/>
          </a:xfrm>
          <a:prstGeom prst="rect">
            <a:avLst/>
          </a:prstGeom>
          <a:noFill/>
          <a:ln/>
        </p:spPr>
        <p:txBody>
          <a:bodyPr wrap="square" lIns="0" tIns="0" rIns="0" bIns="0" rtlCol="0" anchor="ctr"/>
          <a:lstStyle/>
          <a:p>
            <a:pPr marL="0" indent="0">
              <a:buNone/>
            </a:pPr>
            <a:r>
              <a:rPr lang="en-US" sz="1100" dirty="0">
                <a:solidFill>
                  <a:srgbClr val="B0AEA5"/>
                </a:solidFill>
                <a:latin typeface="Courier New" pitchFamily="34" charset="0"/>
                <a:ea typeface="Courier New" pitchFamily="34" charset="-122"/>
                <a:cs typeface="Courier New" pitchFamily="34" charset="-120"/>
              </a:rPr>
              <a:t>Deployment options and API integration</a:t>
            </a:r>
            <a:endParaRPr lang="en-US" sz="1100" dirty="0"/>
          </a:p>
        </p:txBody>
      </p:sp>
      <p:sp>
        <p:nvSpPr>
          <p:cNvPr id="10" name="Text 7"/>
          <p:cNvSpPr/>
          <p:nvPr/>
        </p:nvSpPr>
        <p:spPr>
          <a:xfrm>
            <a:off x="868680" y="1554480"/>
            <a:ext cx="7498080" cy="2263141"/>
          </a:xfrm>
          <a:prstGeom prst="rect">
            <a:avLst/>
          </a:prstGeom>
          <a:noFill/>
          <a:ln/>
        </p:spPr>
        <p:txBody>
          <a:bodyPr wrap="square" lIns="0" tIns="0" rIns="0" bIns="0" rtlCol="0" anchor="t"/>
          <a:lstStyle/>
          <a:p>
            <a:r>
              <a:rPr lang="en-US" sz="1300" b="1" dirty="0">
                <a:solidFill>
                  <a:schemeClr val="bg1"/>
                </a:solidFill>
                <a:latin typeface="Courier New" panose="02070309020205020404" pitchFamily="49" charset="0"/>
                <a:cs typeface="Courier New" panose="02070309020205020404" pitchFamily="49" charset="0"/>
              </a:rPr>
              <a:t>Individual</a:t>
            </a:r>
            <a:r>
              <a:rPr lang="en-US" sz="1300" dirty="0">
                <a:solidFill>
                  <a:schemeClr val="bg1"/>
                </a:solidFill>
                <a:latin typeface="Courier New" panose="02070309020205020404" pitchFamily="49" charset="0"/>
                <a:cs typeface="Courier New" panose="02070309020205020404" pitchFamily="49" charset="0"/>
              </a:rPr>
              <a:t> </a:t>
            </a:r>
          </a:p>
          <a:p>
            <a:r>
              <a:rPr lang="en-US" sz="1300" dirty="0">
                <a:solidFill>
                  <a:schemeClr val="bg1"/>
                </a:solidFill>
                <a:latin typeface="Courier New" panose="02070309020205020404" pitchFamily="49" charset="0"/>
                <a:cs typeface="Courier New" panose="02070309020205020404" pitchFamily="49" charset="0"/>
              </a:rPr>
              <a:t>Download the folder → zip it → upload via Settings &gt; Capabilities &gt; Skills (or drop it in ~/.</a:t>
            </a:r>
            <a:r>
              <a:rPr lang="en-US" sz="1300" dirty="0" err="1">
                <a:solidFill>
                  <a:schemeClr val="bg1"/>
                </a:solidFill>
                <a:latin typeface="Courier New" panose="02070309020205020404" pitchFamily="49" charset="0"/>
                <a:cs typeface="Courier New" panose="02070309020205020404" pitchFamily="49" charset="0"/>
              </a:rPr>
              <a:t>claude</a:t>
            </a:r>
            <a:r>
              <a:rPr lang="en-US" sz="1300" dirty="0">
                <a:solidFill>
                  <a:schemeClr val="bg1"/>
                </a:solidFill>
                <a:latin typeface="Courier New" panose="02070309020205020404" pitchFamily="49" charset="0"/>
                <a:cs typeface="Courier New" panose="02070309020205020404" pitchFamily="49" charset="0"/>
              </a:rPr>
              <a:t>/skills/) </a:t>
            </a:r>
          </a:p>
          <a:p>
            <a:endParaRPr lang="en-US" sz="1300" b="1" dirty="0">
              <a:solidFill>
                <a:schemeClr val="bg1"/>
              </a:solidFill>
              <a:latin typeface="Courier New" panose="02070309020205020404" pitchFamily="49" charset="0"/>
              <a:cs typeface="Courier New" panose="02070309020205020404" pitchFamily="49" charset="0"/>
            </a:endParaRPr>
          </a:p>
          <a:p>
            <a:r>
              <a:rPr lang="en-US" sz="1300" b="1" dirty="0">
                <a:solidFill>
                  <a:schemeClr val="bg1"/>
                </a:solidFill>
                <a:latin typeface="Courier New" panose="02070309020205020404" pitchFamily="49" charset="0"/>
                <a:cs typeface="Courier New" panose="02070309020205020404" pitchFamily="49" charset="0"/>
              </a:rPr>
              <a:t>Team or org</a:t>
            </a:r>
          </a:p>
          <a:p>
            <a:r>
              <a:rPr lang="en-US" sz="1300" dirty="0">
                <a:solidFill>
                  <a:schemeClr val="bg1"/>
                </a:solidFill>
                <a:latin typeface="Courier New" panose="02070309020205020404" pitchFamily="49" charset="0"/>
                <a:cs typeface="Courier New" panose="02070309020205020404" pitchFamily="49" charset="0"/>
              </a:rPr>
              <a:t>Admins deploy workspace-wide with automatic updates </a:t>
            </a:r>
            <a:r>
              <a:rPr lang="en-US" sz="1300" b="1" dirty="0">
                <a:solidFill>
                  <a:schemeClr val="bg1"/>
                </a:solidFill>
                <a:latin typeface="Courier New" panose="02070309020205020404" pitchFamily="49" charset="0"/>
                <a:cs typeface="Courier New" panose="02070309020205020404" pitchFamily="49" charset="0"/>
              </a:rPr>
              <a:t>API / </a:t>
            </a:r>
          </a:p>
          <a:p>
            <a:endParaRPr lang="en-US" sz="1300" b="1" dirty="0">
              <a:solidFill>
                <a:schemeClr val="bg1"/>
              </a:solidFill>
              <a:latin typeface="Courier New" panose="02070309020205020404" pitchFamily="49" charset="0"/>
              <a:cs typeface="Courier New" panose="02070309020205020404" pitchFamily="49" charset="0"/>
            </a:endParaRPr>
          </a:p>
          <a:p>
            <a:r>
              <a:rPr lang="en-US" sz="1300" b="1" dirty="0">
                <a:solidFill>
                  <a:schemeClr val="bg1"/>
                </a:solidFill>
                <a:latin typeface="Courier New" panose="02070309020205020404" pitchFamily="49" charset="0"/>
                <a:cs typeface="Courier New" panose="02070309020205020404" pitchFamily="49" charset="0"/>
              </a:rPr>
              <a:t>Production</a:t>
            </a:r>
            <a:r>
              <a:rPr lang="en-US" sz="1300" dirty="0">
                <a:solidFill>
                  <a:schemeClr val="bg1"/>
                </a:solidFill>
                <a:latin typeface="Courier New" panose="02070309020205020404" pitchFamily="49" charset="0"/>
                <a:cs typeface="Courier New" panose="02070309020205020404" pitchFamily="49" charset="0"/>
              </a:rPr>
              <a:t> </a:t>
            </a:r>
          </a:p>
          <a:p>
            <a:r>
              <a:rPr lang="en-US" sz="1300" dirty="0">
                <a:solidFill>
                  <a:schemeClr val="bg1"/>
                </a:solidFill>
                <a:latin typeface="Courier New" panose="02070309020205020404" pitchFamily="49" charset="0"/>
                <a:cs typeface="Courier New" panose="02070309020205020404" pitchFamily="49" charset="0"/>
              </a:rPr>
              <a:t>Use /v1/skills endpoint and </a:t>
            </a:r>
            <a:r>
              <a:rPr lang="en-US" sz="1300" dirty="0" err="1">
                <a:solidFill>
                  <a:schemeClr val="bg1"/>
                </a:solidFill>
                <a:latin typeface="Courier New" panose="02070309020205020404" pitchFamily="49" charset="0"/>
                <a:cs typeface="Courier New" panose="02070309020205020404" pitchFamily="49" charset="0"/>
              </a:rPr>
              <a:t>container.skills</a:t>
            </a:r>
            <a:r>
              <a:rPr lang="en-US" sz="1300" dirty="0">
                <a:solidFill>
                  <a:schemeClr val="bg1"/>
                </a:solidFill>
                <a:latin typeface="Courier New" panose="02070309020205020404" pitchFamily="49" charset="0"/>
                <a:cs typeface="Courier New" panose="02070309020205020404" pitchFamily="49" charset="0"/>
              </a:rPr>
              <a:t> parameter in Messages API</a:t>
            </a:r>
          </a:p>
        </p:txBody>
      </p:sp>
      <p:sp>
        <p:nvSpPr>
          <p:cNvPr id="11" name="Shape 8"/>
          <p:cNvSpPr/>
          <p:nvPr/>
        </p:nvSpPr>
        <p:spPr>
          <a:xfrm>
            <a:off x="640080" y="4160520"/>
            <a:ext cx="7863840" cy="640080"/>
          </a:xfrm>
          <a:prstGeom prst="rect">
            <a:avLst/>
          </a:prstGeom>
          <a:solidFill>
            <a:srgbClr val="788C5D">
              <a:alpha val="12000"/>
            </a:srgbClr>
          </a:solidFill>
          <a:ln/>
        </p:spPr>
        <p:txBody>
          <a:bodyPr/>
          <a:lstStyle/>
          <a:p>
            <a:endParaRPr lang="en-US"/>
          </a:p>
        </p:txBody>
      </p:sp>
      <p:sp>
        <p:nvSpPr>
          <p:cNvPr id="12" name="Text 9"/>
          <p:cNvSpPr/>
          <p:nvPr/>
        </p:nvSpPr>
        <p:spPr>
          <a:xfrm>
            <a:off x="868680" y="4160520"/>
            <a:ext cx="7498080" cy="640080"/>
          </a:xfrm>
          <a:prstGeom prst="rect">
            <a:avLst/>
          </a:prstGeom>
          <a:noFill/>
          <a:ln/>
        </p:spPr>
        <p:txBody>
          <a:bodyPr wrap="square" lIns="0" tIns="0" rIns="0" bIns="0" rtlCol="0" anchor="ctr"/>
          <a:lstStyle/>
          <a:p>
            <a:r>
              <a:rPr lang="en-US" sz="1400" dirty="0"/>
              <a:t>Skills follow the open Agent Skills standard — portable across Claude and other AI platforms.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0">
    <p:bg>
      <p:bgPr>
        <a:solidFill>
          <a:srgbClr val="FAF9F5"/>
        </a:solidFill>
        <a:effectLst/>
      </p:bgPr>
    </p:bg>
    <p:spTree>
      <p:nvGrpSpPr>
        <p:cNvPr id="1" name=""/>
        <p:cNvGrpSpPr/>
        <p:nvPr/>
      </p:nvGrpSpPr>
      <p:grpSpPr>
        <a:xfrm>
          <a:off x="0" y="0"/>
          <a:ext cx="0" cy="0"/>
          <a:chOff x="0" y="0"/>
          <a:chExt cx="0" cy="0"/>
        </a:xfrm>
      </p:grpSpPr>
      <p:sp>
        <p:nvSpPr>
          <p:cNvPr id="2" name="TopAccent"/>
          <p:cNvSpPr/>
          <p:nvPr/>
        </p:nvSpPr>
        <p:spPr>
          <a:xfrm>
            <a:off x="0" y="0"/>
            <a:ext cx="9144000" cy="54864"/>
          </a:xfrm>
          <a:prstGeom prst="rect">
            <a:avLst/>
          </a:prstGeom>
          <a:solidFill>
            <a:srgbClr val="788C5D"/>
          </a:solidFill>
          <a:ln>
            <a:noFill/>
          </a:ln>
        </p:spPr>
        <p:txBody>
          <a:bodyPr/>
          <a:lstStyle/>
          <a:p>
            <a:endParaRPr lang="en-US"/>
          </a:p>
        </p:txBody>
      </p:sp>
      <p:sp>
        <p:nvSpPr>
          <p:cNvPr id="3" name="HeaderBand"/>
          <p:cNvSpPr/>
          <p:nvPr/>
        </p:nvSpPr>
        <p:spPr>
          <a:xfrm>
            <a:off x="0" y="54864"/>
            <a:ext cx="9144000" cy="731520"/>
          </a:xfrm>
          <a:prstGeom prst="rect">
            <a:avLst/>
          </a:prstGeom>
          <a:solidFill>
            <a:srgbClr val="788C5D">
              <a:alpha val="12000"/>
            </a:srgbClr>
          </a:solidFill>
          <a:ln>
            <a:noFill/>
          </a:ln>
        </p:spPr>
        <p:txBody>
          <a:bodyPr wrap="square" lIns="457200" rIns="457200" rtlCol="0" anchor="ctr"/>
          <a:lstStyle/>
          <a:p>
            <a:pPr marL="0" indent="0">
              <a:buNone/>
            </a:pPr>
            <a:r>
              <a:rPr lang="en-US" sz="1000" dirty="0">
                <a:solidFill>
                  <a:srgbClr val="788C5D"/>
                </a:solidFill>
                <a:latin typeface="Lora" pitchFamily="34" charset="0"/>
                <a:ea typeface="Lora" pitchFamily="34" charset="-122"/>
                <a:cs typeface="Lora" pitchFamily="34" charset="-120"/>
              </a:rPr>
              <a:t>REFLECTION</a:t>
            </a:r>
            <a:endParaRPr lang="en-US" sz="1000" dirty="0"/>
          </a:p>
        </p:txBody>
      </p:sp>
      <p:sp>
        <p:nvSpPr>
          <p:cNvPr id="4" name="Title"/>
          <p:cNvSpPr/>
          <p:nvPr/>
        </p:nvSpPr>
        <p:spPr>
          <a:xfrm>
            <a:off x="457200" y="914400"/>
            <a:ext cx="8229600" cy="457200"/>
          </a:xfrm>
          <a:prstGeom prst="rect">
            <a:avLst/>
          </a:prstGeom>
          <a:noFill/>
        </p:spPr>
        <p:txBody>
          <a:bodyPr wrap="square" lIns="0" rIns="0" rtlCol="0" anchor="b"/>
          <a:lstStyle/>
          <a:p>
            <a:pPr marL="0" indent="0">
              <a:buNone/>
            </a:pPr>
            <a:r>
              <a:rPr lang="en-US" sz="2400" b="1" dirty="0">
                <a:solidFill>
                  <a:srgbClr val="141413"/>
                </a:solidFill>
                <a:latin typeface="Lora" pitchFamily="34" charset="0"/>
                <a:ea typeface="Lora" pitchFamily="34" charset="-122"/>
                <a:cs typeface="Lora" pitchFamily="34" charset="-120"/>
              </a:rPr>
              <a:t>Reflect and apply</a:t>
            </a:r>
            <a:endParaRPr lang="en-US" sz="2400" dirty="0"/>
          </a:p>
        </p:txBody>
      </p:sp>
      <p:sp>
        <p:nvSpPr>
          <p:cNvPr id="5" name="Subtitle"/>
          <p:cNvSpPr/>
          <p:nvPr/>
        </p:nvSpPr>
        <p:spPr>
          <a:xfrm>
            <a:off x="457200" y="1371600"/>
            <a:ext cx="8229600" cy="274320"/>
          </a:xfrm>
          <a:prstGeom prst="rect">
            <a:avLst/>
          </a:prstGeom>
          <a:noFill/>
        </p:spPr>
        <p:txBody>
          <a:bodyPr wrap="square" lIns="0" rIns="0" rtlCol="0" anchor="t"/>
          <a:lstStyle/>
          <a:p>
            <a:pPr marL="0" indent="0">
              <a:buNone/>
            </a:pPr>
            <a:r>
              <a:rPr lang="en-US" sz="1200" dirty="0">
                <a:solidFill>
                  <a:srgbClr val="B0AEA5"/>
                </a:solidFill>
                <a:latin typeface="Lora" pitchFamily="34" charset="0"/>
                <a:ea typeface="Lora" pitchFamily="34" charset="-122"/>
                <a:cs typeface="Lora" pitchFamily="34" charset="-120"/>
              </a:rPr>
              <a:t>Take a moment to consider how you will apply what you've learned</a:t>
            </a:r>
            <a:endParaRPr lang="en-US" sz="1200" dirty="0"/>
          </a:p>
        </p:txBody>
      </p:sp>
      <p:sp>
        <p:nvSpPr>
          <p:cNvPr id="6" name="Prompt1Card"/>
          <p:cNvSpPr/>
          <p:nvPr/>
        </p:nvSpPr>
        <p:spPr>
          <a:xfrm>
            <a:off x="457200" y="1828800"/>
            <a:ext cx="3886200" cy="1371600"/>
          </a:xfrm>
          <a:prstGeom prst="roundRect">
            <a:avLst>
              <a:gd name="adj" fmla="val 5000"/>
            </a:avLst>
          </a:prstGeom>
          <a:solidFill>
            <a:srgbClr val="FFFFFF"/>
          </a:solidFill>
          <a:ln w="12700">
            <a:solidFill>
              <a:srgbClr val="788C5D">
                <a:alpha val="40000"/>
              </a:srgbClr>
            </a:solidFill>
          </a:ln>
        </p:spPr>
        <p:txBody>
          <a:bodyPr wrap="square" lIns="228600" tIns="182880" rIns="228600" bIns="182880" rtlCol="0" anchor="t"/>
          <a:lstStyle/>
          <a:p>
            <a:pPr marL="0" indent="0">
              <a:buNone/>
            </a:pPr>
            <a:r>
              <a:rPr lang="en-US" sz="1000" dirty="0">
                <a:solidFill>
                  <a:srgbClr val="788C5D"/>
                </a:solidFill>
                <a:latin typeface="Lora" pitchFamily="34" charset="0"/>
                <a:ea typeface="Lora" pitchFamily="34" charset="-122"/>
                <a:cs typeface="Lora" pitchFamily="34" charset="-120"/>
              </a:rPr>
              <a:t>WHAT I LEARNED</a:t>
            </a:r>
            <a:endParaRPr lang="en-US" sz="1000" dirty="0"/>
          </a:p>
          <a:p>
            <a:pPr marL="0" indent="0">
              <a:buNone/>
            </a:pPr>
            <a:endParaRPr lang="en-US" sz="600" dirty="0"/>
          </a:p>
          <a:p>
            <a:pPr marL="0" indent="0">
              <a:buNone/>
            </a:pPr>
            <a:r>
              <a:rPr lang="en-US" sz="1200" i="1" dirty="0">
                <a:solidFill>
                  <a:srgbClr val="B0AEA5"/>
                </a:solidFill>
                <a:latin typeface="Lora" pitchFamily="34" charset="0"/>
                <a:ea typeface="Lora" pitchFamily="34" charset="-122"/>
                <a:cs typeface="Lora" pitchFamily="34" charset="-120"/>
              </a:rPr>
              <a:t>What capability of skills surprised you the most?</a:t>
            </a:r>
            <a:endParaRPr lang="en-US" sz="1200" dirty="0"/>
          </a:p>
        </p:txBody>
      </p:sp>
      <p:sp>
        <p:nvSpPr>
          <p:cNvPr id="7" name="Prompt2Card"/>
          <p:cNvSpPr/>
          <p:nvPr/>
        </p:nvSpPr>
        <p:spPr>
          <a:xfrm>
            <a:off x="4800600" y="1828800"/>
            <a:ext cx="3886200" cy="1371600"/>
          </a:xfrm>
          <a:prstGeom prst="roundRect">
            <a:avLst>
              <a:gd name="adj" fmla="val 5000"/>
            </a:avLst>
          </a:prstGeom>
          <a:solidFill>
            <a:srgbClr val="FFFFFF"/>
          </a:solidFill>
          <a:ln w="12700">
            <a:solidFill>
              <a:srgbClr val="788C5D">
                <a:alpha val="40000"/>
              </a:srgbClr>
            </a:solidFill>
          </a:ln>
        </p:spPr>
        <p:txBody>
          <a:bodyPr wrap="square" lIns="228600" tIns="182880" rIns="228600" bIns="182880" rtlCol="0" anchor="t"/>
          <a:lstStyle/>
          <a:p>
            <a:pPr marL="0" indent="0">
              <a:buNone/>
            </a:pPr>
            <a:r>
              <a:rPr lang="en-US" sz="1000" dirty="0">
                <a:solidFill>
                  <a:srgbClr val="788C5D"/>
                </a:solidFill>
                <a:latin typeface="Lora" pitchFamily="34" charset="0"/>
                <a:ea typeface="Lora" pitchFamily="34" charset="-122"/>
                <a:cs typeface="Lora" pitchFamily="34" charset="-120"/>
              </a:rPr>
              <a:t>HOW I'LL USE IT</a:t>
            </a:r>
            <a:endParaRPr lang="en-US" sz="1000" dirty="0"/>
          </a:p>
          <a:p>
            <a:pPr marL="0" indent="0">
              <a:buNone/>
            </a:pPr>
            <a:endParaRPr lang="en-US" sz="600" dirty="0"/>
          </a:p>
          <a:p>
            <a:pPr marL="0" indent="0">
              <a:buNone/>
            </a:pPr>
            <a:r>
              <a:rPr lang="en-US" sz="1200" i="1" dirty="0">
                <a:solidFill>
                  <a:srgbClr val="B0AEA5"/>
                </a:solidFill>
                <a:latin typeface="Lora" pitchFamily="34" charset="0"/>
                <a:ea typeface="Lora" pitchFamily="34" charset="-122"/>
                <a:cs typeface="Lora" pitchFamily="34" charset="-120"/>
              </a:rPr>
              <a:t>Which skill will you build first for your workflow?</a:t>
            </a:r>
            <a:endParaRPr lang="en-US" sz="1200" dirty="0"/>
          </a:p>
        </p:txBody>
      </p:sp>
      <p:sp>
        <p:nvSpPr>
          <p:cNvPr id="8" name="Prompt3Card"/>
          <p:cNvSpPr/>
          <p:nvPr/>
        </p:nvSpPr>
        <p:spPr>
          <a:xfrm>
            <a:off x="457200" y="3383280"/>
            <a:ext cx="3886200" cy="1371600"/>
          </a:xfrm>
          <a:prstGeom prst="roundRect">
            <a:avLst>
              <a:gd name="adj" fmla="val 5000"/>
            </a:avLst>
          </a:prstGeom>
          <a:solidFill>
            <a:srgbClr val="FFFFFF"/>
          </a:solidFill>
          <a:ln w="12700">
            <a:solidFill>
              <a:srgbClr val="788C5D">
                <a:alpha val="40000"/>
              </a:srgbClr>
            </a:solidFill>
          </a:ln>
        </p:spPr>
        <p:txBody>
          <a:bodyPr wrap="square" lIns="228600" tIns="182880" rIns="228600" bIns="182880" rtlCol="0" anchor="t"/>
          <a:lstStyle/>
          <a:p>
            <a:pPr marL="0" indent="0">
              <a:buNone/>
            </a:pPr>
            <a:r>
              <a:rPr lang="en-US" sz="1000" dirty="0">
                <a:solidFill>
                  <a:srgbClr val="788C5D"/>
                </a:solidFill>
                <a:latin typeface="Lora" pitchFamily="34" charset="0"/>
                <a:ea typeface="Lora" pitchFamily="34" charset="-122"/>
                <a:cs typeface="Lora" pitchFamily="34" charset="-120"/>
              </a:rPr>
              <a:t>WHAT SURPRISED ME</a:t>
            </a:r>
            <a:endParaRPr lang="en-US" sz="1000" dirty="0"/>
          </a:p>
          <a:p>
            <a:pPr marL="0" indent="0">
              <a:buNone/>
            </a:pPr>
            <a:endParaRPr lang="en-US" sz="600" dirty="0"/>
          </a:p>
          <a:p>
            <a:pPr marL="0" indent="0">
              <a:buNone/>
            </a:pPr>
            <a:r>
              <a:rPr lang="en-US" sz="1200" i="1" dirty="0">
                <a:solidFill>
                  <a:srgbClr val="B0AEA5"/>
                </a:solidFill>
                <a:latin typeface="Lora" pitchFamily="34" charset="0"/>
                <a:ea typeface="Lora" pitchFamily="34" charset="-122"/>
                <a:cs typeface="Lora" pitchFamily="34" charset="-120"/>
              </a:rPr>
              <a:t>Was there a pattern you expected to be harder or easier?</a:t>
            </a:r>
            <a:endParaRPr lang="en-US" sz="1200" dirty="0"/>
          </a:p>
        </p:txBody>
      </p:sp>
      <p:sp>
        <p:nvSpPr>
          <p:cNvPr id="9" name="Prompt4Card"/>
          <p:cNvSpPr/>
          <p:nvPr/>
        </p:nvSpPr>
        <p:spPr>
          <a:xfrm>
            <a:off x="4800600" y="3383280"/>
            <a:ext cx="3886200" cy="1371600"/>
          </a:xfrm>
          <a:prstGeom prst="roundRect">
            <a:avLst>
              <a:gd name="adj" fmla="val 5000"/>
            </a:avLst>
          </a:prstGeom>
          <a:solidFill>
            <a:srgbClr val="FFFFFF"/>
          </a:solidFill>
          <a:ln w="12700">
            <a:solidFill>
              <a:srgbClr val="788C5D">
                <a:alpha val="40000"/>
              </a:srgbClr>
            </a:solidFill>
          </a:ln>
        </p:spPr>
        <p:txBody>
          <a:bodyPr wrap="square" lIns="228600" tIns="182880" rIns="228600" bIns="182880" rtlCol="0" anchor="t"/>
          <a:lstStyle/>
          <a:p>
            <a:pPr marL="0" indent="0">
              <a:buNone/>
            </a:pPr>
            <a:r>
              <a:rPr lang="en-US" sz="1000" dirty="0">
                <a:solidFill>
                  <a:srgbClr val="788C5D"/>
                </a:solidFill>
                <a:latin typeface="Lora" pitchFamily="34" charset="0"/>
                <a:ea typeface="Lora" pitchFamily="34" charset="-122"/>
                <a:cs typeface="Lora" pitchFamily="34" charset="-120"/>
              </a:rPr>
              <a:t>QUESTIONS I STILL HAVE</a:t>
            </a:r>
            <a:endParaRPr lang="en-US" sz="1000" dirty="0"/>
          </a:p>
          <a:p>
            <a:pPr marL="0" indent="0">
              <a:buNone/>
            </a:pPr>
            <a:endParaRPr lang="en-US" sz="600" dirty="0"/>
          </a:p>
          <a:p>
            <a:pPr marL="0" indent="0">
              <a:buNone/>
            </a:pPr>
            <a:r>
              <a:rPr lang="en-US" sz="1200" i="1" dirty="0">
                <a:solidFill>
                  <a:srgbClr val="B0AEA5"/>
                </a:solidFill>
                <a:latin typeface="Lora" pitchFamily="34" charset="0"/>
                <a:ea typeface="Lora" pitchFamily="34" charset="-122"/>
                <a:cs typeface="Lora" pitchFamily="34" charset="-120"/>
              </a:rPr>
              <a:t>What edge cases or limitations do you want to explore?</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nvSpPr>
        <p:spPr>
          <a:xfrm>
            <a:off x="640080" y="320040"/>
            <a:ext cx="7040880" cy="502920"/>
          </a:xfrm>
          <a:prstGeom prst="rect">
            <a:avLst/>
          </a:prstGeom>
          <a:noFill/>
          <a:ln/>
        </p:spPr>
        <p:txBody>
          <a:bodyPr wrap="square" lIns="0" tIns="0" rIns="0" bIns="0" rtlCol="0" anchor="ctr"/>
          <a:lstStyle/>
          <a:p>
            <a:pPr marL="0" indent="0">
              <a:buNone/>
            </a:pPr>
            <a:r>
              <a:rPr lang="en-US" sz="3200" b="1" dirty="0">
                <a:solidFill>
                  <a:srgbClr val="141413"/>
                </a:solidFill>
                <a:latin typeface="Test Tiempos Headline Light" pitchFamily="34" charset="0"/>
                <a:ea typeface="Test Tiempos Headline Light" pitchFamily="34" charset="-122"/>
                <a:cs typeface="Test Tiempos Headline Light" pitchFamily="34" charset="-120"/>
              </a:rPr>
              <a:t>Key takeaways</a:t>
            </a:r>
            <a:endParaRPr lang="en-US" sz="3200" dirty="0"/>
          </a:p>
        </p:txBody>
      </p:sp>
      <p:sp>
        <p:nvSpPr>
          <p:cNvPr id="4" name="Shape 1"/>
          <p:cNvSpPr/>
          <p:nvPr/>
        </p:nvSpPr>
        <p:spPr>
          <a:xfrm>
            <a:off x="640080" y="1188720"/>
            <a:ext cx="7863840" cy="9601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5" name="Shape 2"/>
          <p:cNvSpPr/>
          <p:nvPr/>
        </p:nvSpPr>
        <p:spPr>
          <a:xfrm>
            <a:off x="640080" y="1188720"/>
            <a:ext cx="54864" cy="960120"/>
          </a:xfrm>
          <a:prstGeom prst="rect">
            <a:avLst/>
          </a:prstGeom>
          <a:solidFill>
            <a:srgbClr val="D97757"/>
          </a:solidFill>
          <a:ln/>
        </p:spPr>
        <p:txBody>
          <a:bodyPr/>
          <a:lstStyle/>
          <a:p>
            <a:endParaRPr lang="en-US"/>
          </a:p>
        </p:txBody>
      </p:sp>
      <p:sp>
        <p:nvSpPr>
          <p:cNvPr id="6" name="Shape 3"/>
          <p:cNvSpPr/>
          <p:nvPr/>
        </p:nvSpPr>
        <p:spPr>
          <a:xfrm>
            <a:off x="914400" y="1371600"/>
            <a:ext cx="548640" cy="548640"/>
          </a:xfrm>
          <a:prstGeom prst="ellipse">
            <a:avLst/>
          </a:prstGeom>
          <a:solidFill>
            <a:srgbClr val="D97757"/>
          </a:solidFill>
          <a:ln/>
        </p:spPr>
        <p:txBody>
          <a:bodyPr/>
          <a:lstStyle/>
          <a:p>
            <a:endParaRPr lang="en-US"/>
          </a:p>
        </p:txBody>
      </p:sp>
      <p:sp>
        <p:nvSpPr>
          <p:cNvPr id="7" name="Text 4"/>
          <p:cNvSpPr/>
          <p:nvPr/>
        </p:nvSpPr>
        <p:spPr>
          <a:xfrm>
            <a:off x="914400" y="137160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Lora" pitchFamily="34" charset="0"/>
                <a:ea typeface="Lora" pitchFamily="34" charset="-122"/>
                <a:cs typeface="Lora" pitchFamily="34" charset="-120"/>
              </a:rPr>
              <a:t>1</a:t>
            </a:r>
            <a:endParaRPr lang="en-US" sz="2200" dirty="0"/>
          </a:p>
        </p:txBody>
      </p:sp>
      <p:sp>
        <p:nvSpPr>
          <p:cNvPr id="8" name="Text 5"/>
          <p:cNvSpPr/>
          <p:nvPr/>
        </p:nvSpPr>
        <p:spPr>
          <a:xfrm>
            <a:off x="1691640" y="1188720"/>
            <a:ext cx="6583680" cy="960120"/>
          </a:xfrm>
          <a:prstGeom prst="rect">
            <a:avLst/>
          </a:prstGeom>
          <a:noFill/>
          <a:ln/>
        </p:spPr>
        <p:txBody>
          <a:bodyPr wrap="square" lIns="0" tIns="0" rIns="0" bIns="0" rtlCol="0" anchor="ctr"/>
          <a:lstStyle/>
          <a:p>
            <a:pPr marL="0" indent="0">
              <a:buNone/>
            </a:pPr>
            <a:r>
              <a:rPr lang="en-US" sz="1500" dirty="0">
                <a:solidFill>
                  <a:srgbClr val="141413"/>
                </a:solidFill>
                <a:latin typeface="Lora" pitchFamily="34" charset="0"/>
                <a:ea typeface="Lora" pitchFamily="34" charset="-122"/>
                <a:cs typeface="Lora" pitchFamily="34" charset="-120"/>
              </a:rPr>
              <a:t>Skills load knowledge on demand through semantic matching. Keep descriptions specific and SKILL.md under 500 lines for reliable activation.</a:t>
            </a:r>
            <a:endParaRPr lang="en-US" sz="1500" dirty="0"/>
          </a:p>
        </p:txBody>
      </p:sp>
      <p:sp>
        <p:nvSpPr>
          <p:cNvPr id="9" name="Shape 6"/>
          <p:cNvSpPr/>
          <p:nvPr/>
        </p:nvSpPr>
        <p:spPr>
          <a:xfrm>
            <a:off x="640080" y="2377440"/>
            <a:ext cx="7863840" cy="9601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0" name="Shape 7"/>
          <p:cNvSpPr/>
          <p:nvPr/>
        </p:nvSpPr>
        <p:spPr>
          <a:xfrm>
            <a:off x="640080" y="2377440"/>
            <a:ext cx="54864" cy="960120"/>
          </a:xfrm>
          <a:prstGeom prst="rect">
            <a:avLst/>
          </a:prstGeom>
          <a:solidFill>
            <a:srgbClr val="6A9BCC"/>
          </a:solidFill>
          <a:ln/>
        </p:spPr>
        <p:txBody>
          <a:bodyPr/>
          <a:lstStyle/>
          <a:p>
            <a:endParaRPr lang="en-US"/>
          </a:p>
        </p:txBody>
      </p:sp>
      <p:sp>
        <p:nvSpPr>
          <p:cNvPr id="11" name="Shape 8"/>
          <p:cNvSpPr/>
          <p:nvPr/>
        </p:nvSpPr>
        <p:spPr>
          <a:xfrm>
            <a:off x="914400" y="2560320"/>
            <a:ext cx="548640" cy="548640"/>
          </a:xfrm>
          <a:prstGeom prst="ellipse">
            <a:avLst/>
          </a:prstGeom>
          <a:solidFill>
            <a:srgbClr val="6A9BCC"/>
          </a:solidFill>
          <a:ln/>
        </p:spPr>
        <p:txBody>
          <a:bodyPr/>
          <a:lstStyle/>
          <a:p>
            <a:endParaRPr lang="en-US"/>
          </a:p>
        </p:txBody>
      </p:sp>
      <p:sp>
        <p:nvSpPr>
          <p:cNvPr id="12" name="Text 9"/>
          <p:cNvSpPr/>
          <p:nvPr/>
        </p:nvSpPr>
        <p:spPr>
          <a:xfrm>
            <a:off x="914400" y="256032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Lora" pitchFamily="34" charset="0"/>
                <a:ea typeface="Lora" pitchFamily="34" charset="-122"/>
                <a:cs typeface="Lora" pitchFamily="34" charset="-120"/>
              </a:rPr>
              <a:t>2</a:t>
            </a:r>
            <a:endParaRPr lang="en-US" sz="2200" dirty="0"/>
          </a:p>
        </p:txBody>
      </p:sp>
      <p:sp>
        <p:nvSpPr>
          <p:cNvPr id="13" name="Text 10"/>
          <p:cNvSpPr/>
          <p:nvPr/>
        </p:nvSpPr>
        <p:spPr>
          <a:xfrm>
            <a:off x="1691640" y="2377440"/>
            <a:ext cx="6583680" cy="960120"/>
          </a:xfrm>
          <a:prstGeom prst="rect">
            <a:avLst/>
          </a:prstGeom>
          <a:noFill/>
          <a:ln/>
        </p:spPr>
        <p:txBody>
          <a:bodyPr wrap="square" lIns="0" tIns="0" rIns="0" bIns="0" rtlCol="0" anchor="ctr"/>
          <a:lstStyle/>
          <a:p>
            <a:pPr marL="0" indent="0">
              <a:buNone/>
            </a:pPr>
            <a:r>
              <a:rPr lang="en-US" sz="1500" dirty="0">
                <a:solidFill>
                  <a:srgbClr val="141413"/>
                </a:solidFill>
                <a:latin typeface="Lora" pitchFamily="34" charset="0"/>
                <a:ea typeface="Lora" pitchFamily="34" charset="-122"/>
                <a:cs typeface="Lora" pitchFamily="34" charset="-120"/>
              </a:rPr>
              <a:t>Use frontmatter to control invocation, restrict tools, and run in subagents. Pair with supporting files and scripts for complex workflows.</a:t>
            </a:r>
            <a:endParaRPr lang="en-US" sz="1500" dirty="0"/>
          </a:p>
        </p:txBody>
      </p:sp>
      <p:sp>
        <p:nvSpPr>
          <p:cNvPr id="14" name="Shape 11"/>
          <p:cNvSpPr/>
          <p:nvPr/>
        </p:nvSpPr>
        <p:spPr>
          <a:xfrm>
            <a:off x="640080" y="3566160"/>
            <a:ext cx="7863840" cy="9601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5" name="Shape 12"/>
          <p:cNvSpPr/>
          <p:nvPr/>
        </p:nvSpPr>
        <p:spPr>
          <a:xfrm>
            <a:off x="640080" y="3566160"/>
            <a:ext cx="54864" cy="960120"/>
          </a:xfrm>
          <a:prstGeom prst="rect">
            <a:avLst/>
          </a:prstGeom>
          <a:solidFill>
            <a:srgbClr val="788C5D"/>
          </a:solidFill>
          <a:ln/>
        </p:spPr>
        <p:txBody>
          <a:bodyPr/>
          <a:lstStyle/>
          <a:p>
            <a:endParaRPr lang="en-US"/>
          </a:p>
        </p:txBody>
      </p:sp>
      <p:sp>
        <p:nvSpPr>
          <p:cNvPr id="16" name="Shape 13"/>
          <p:cNvSpPr/>
          <p:nvPr/>
        </p:nvSpPr>
        <p:spPr>
          <a:xfrm>
            <a:off x="914400" y="3749040"/>
            <a:ext cx="548640" cy="548640"/>
          </a:xfrm>
          <a:prstGeom prst="ellipse">
            <a:avLst/>
          </a:prstGeom>
          <a:solidFill>
            <a:srgbClr val="788C5D"/>
          </a:solidFill>
          <a:ln/>
        </p:spPr>
        <p:txBody>
          <a:bodyPr/>
          <a:lstStyle/>
          <a:p>
            <a:endParaRPr lang="en-US"/>
          </a:p>
        </p:txBody>
      </p:sp>
      <p:sp>
        <p:nvSpPr>
          <p:cNvPr id="17" name="Text 14"/>
          <p:cNvSpPr/>
          <p:nvPr/>
        </p:nvSpPr>
        <p:spPr>
          <a:xfrm>
            <a:off x="914400" y="37490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Lora" pitchFamily="34" charset="0"/>
                <a:ea typeface="Lora" pitchFamily="34" charset="-122"/>
                <a:cs typeface="Lora" pitchFamily="34" charset="-120"/>
              </a:rPr>
              <a:t>3</a:t>
            </a:r>
            <a:endParaRPr lang="en-US" sz="2200" dirty="0"/>
          </a:p>
        </p:txBody>
      </p:sp>
      <p:sp>
        <p:nvSpPr>
          <p:cNvPr id="18" name="Text 15"/>
          <p:cNvSpPr/>
          <p:nvPr/>
        </p:nvSpPr>
        <p:spPr>
          <a:xfrm>
            <a:off x="1691640" y="3566160"/>
            <a:ext cx="6583680" cy="960120"/>
          </a:xfrm>
          <a:prstGeom prst="rect">
            <a:avLst/>
          </a:prstGeom>
          <a:noFill/>
          <a:ln/>
        </p:spPr>
        <p:txBody>
          <a:bodyPr wrap="square" lIns="0" tIns="0" rIns="0" bIns="0" rtlCol="0" anchor="ctr"/>
          <a:lstStyle/>
          <a:p>
            <a:pPr marL="0" indent="0">
              <a:buNone/>
            </a:pPr>
            <a:r>
              <a:rPr lang="en-US" sz="1500" dirty="0">
                <a:solidFill>
                  <a:srgbClr val="141413"/>
                </a:solidFill>
                <a:latin typeface="Lora" pitchFamily="34" charset="0"/>
                <a:ea typeface="Lora" pitchFamily="34" charset="-122"/>
                <a:cs typeface="Lora" pitchFamily="34" charset="-120"/>
              </a:rPr>
              <a:t>Skills complement CLAUDE.md, hooks, subagents, and MCP. Choose the right tool for each concern rather than forcing everything into one.</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p:nvPr/>
        </p:nvSpPr>
        <p:spPr>
          <a:xfrm>
            <a:off x="640080" y="320040"/>
            <a:ext cx="7040880" cy="502920"/>
          </a:xfrm>
          <a:prstGeom prst="rect">
            <a:avLst/>
          </a:prstGeom>
          <a:noFill/>
          <a:ln/>
        </p:spPr>
        <p:txBody>
          <a:bodyPr wrap="square" lIns="0" tIns="0" rIns="0" bIns="0" rtlCol="0" anchor="ctr"/>
          <a:lstStyle/>
          <a:p>
            <a:pPr marL="0" indent="0">
              <a:buNone/>
            </a:pPr>
            <a:r>
              <a:rPr lang="en-US" sz="3000" b="1" dirty="0">
                <a:solidFill>
                  <a:srgbClr val="141413"/>
                </a:solidFill>
                <a:latin typeface="Test Tiempos Headline Light" pitchFamily="34" charset="0"/>
                <a:ea typeface="Test Tiempos Headline Light" pitchFamily="34" charset="-122"/>
                <a:cs typeface="Test Tiempos Headline Light" pitchFamily="34" charset="-120"/>
              </a:rPr>
              <a:t>Resources and next steps</a:t>
            </a:r>
            <a:endParaRPr lang="en-US" sz="3000" dirty="0"/>
          </a:p>
        </p:txBody>
      </p:sp>
      <p:sp>
        <p:nvSpPr>
          <p:cNvPr id="4" name="Text 1"/>
          <p:cNvSpPr/>
          <p:nvPr/>
        </p:nvSpPr>
        <p:spPr>
          <a:xfrm>
            <a:off x="640080" y="1051560"/>
            <a:ext cx="3840480" cy="36576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Documentation</a:t>
            </a:r>
            <a:endParaRPr lang="en-US" sz="1600" dirty="0"/>
          </a:p>
        </p:txBody>
      </p:sp>
      <p:sp>
        <p:nvSpPr>
          <p:cNvPr id="5" name="Text 2"/>
          <p:cNvSpPr/>
          <p:nvPr/>
        </p:nvSpPr>
        <p:spPr>
          <a:xfrm>
            <a:off x="640080" y="1479020"/>
            <a:ext cx="3657600" cy="2286000"/>
          </a:xfrm>
          <a:prstGeom prst="rect">
            <a:avLst/>
          </a:prstGeom>
          <a:noFill/>
          <a:ln/>
        </p:spPr>
        <p:txBody>
          <a:bodyPr wrap="square" rtlCol="0" anchor="t"/>
          <a:lstStyle/>
          <a:p>
            <a:pPr marL="342900" indent="-342900">
              <a:spcAft>
                <a:spcPts val="1000"/>
              </a:spcAft>
              <a:buSzPct val="100000"/>
              <a:buChar char="•"/>
            </a:pPr>
            <a:r>
              <a:rPr lang="en-US" sz="1300" dirty="0">
                <a:solidFill>
                  <a:srgbClr val="6A9BCC"/>
                </a:solidFill>
                <a:latin typeface="Lora" pitchFamily="34" charset="0"/>
                <a:ea typeface="Lora" pitchFamily="34" charset="-122"/>
                <a:cs typeface="Lora" pitchFamily="34" charset="-120"/>
              </a:rPr>
              <a:t>Skills documentation: code.claude.com/docs/en/skills</a:t>
            </a:r>
            <a:endParaRPr lang="en-US" sz="1300" dirty="0"/>
          </a:p>
          <a:p>
            <a:pPr marL="342900" indent="-342900">
              <a:spcAft>
                <a:spcPts val="1000"/>
              </a:spcAft>
              <a:buSzPct val="100000"/>
              <a:buChar char="•"/>
            </a:pPr>
            <a:r>
              <a:rPr lang="en-US" sz="1300" dirty="0">
                <a:solidFill>
                  <a:srgbClr val="6A9BCC"/>
                </a:solidFill>
                <a:latin typeface="Lora" pitchFamily="34" charset="0"/>
                <a:ea typeface="Lora" pitchFamily="34" charset="-122"/>
                <a:cs typeface="Lora" pitchFamily="34" charset="-120"/>
              </a:rPr>
              <a:t>Agent Skills standard: agentskills.org</a:t>
            </a:r>
            <a:endParaRPr lang="en-US" sz="1300" dirty="0"/>
          </a:p>
          <a:p>
            <a:pPr marL="342900" indent="-342900">
              <a:spcAft>
                <a:spcPts val="1000"/>
              </a:spcAft>
              <a:buSzPct val="100000"/>
              <a:buChar char="•"/>
            </a:pPr>
            <a:r>
              <a:rPr lang="en-US" sz="1300" dirty="0">
                <a:solidFill>
                  <a:srgbClr val="6A9BCC"/>
                </a:solidFill>
                <a:latin typeface="Lora" pitchFamily="34" charset="0"/>
                <a:ea typeface="Lora" pitchFamily="34" charset="-122"/>
                <a:cs typeface="Lora" pitchFamily="34" charset="-120"/>
              </a:rPr>
              <a:t>Claude Code docs: code.claude.com</a:t>
            </a:r>
            <a:endParaRPr lang="en-US" sz="1300" dirty="0"/>
          </a:p>
          <a:p>
            <a:pPr marL="342900" indent="-342900">
              <a:spcAft>
                <a:spcPts val="1000"/>
              </a:spcAft>
              <a:buSzPct val="100000"/>
              <a:buChar char="•"/>
            </a:pPr>
            <a:r>
              <a:rPr lang="en-US" sz="1300" dirty="0">
                <a:solidFill>
                  <a:srgbClr val="6A9BCC"/>
                </a:solidFill>
                <a:latin typeface="Lora" pitchFamily="34" charset="0"/>
                <a:ea typeface="Lora" pitchFamily="34" charset="-122"/>
                <a:cs typeface="Lora" pitchFamily="34" charset="-120"/>
              </a:rPr>
              <a:t>Anthropic Academy: academy.anthropic.com</a:t>
            </a:r>
            <a:endParaRPr lang="en-US" sz="1300" dirty="0"/>
          </a:p>
        </p:txBody>
      </p:sp>
      <p:sp>
        <p:nvSpPr>
          <p:cNvPr id="6" name="Text 3"/>
          <p:cNvSpPr/>
          <p:nvPr/>
        </p:nvSpPr>
        <p:spPr>
          <a:xfrm>
            <a:off x="4754880" y="1051560"/>
            <a:ext cx="3840480" cy="365760"/>
          </a:xfrm>
          <a:prstGeom prst="rect">
            <a:avLst/>
          </a:prstGeom>
          <a:noFill/>
          <a:ln/>
        </p:spPr>
        <p:txBody>
          <a:bodyPr wrap="square" lIns="0" tIns="0" rIns="0" bIns="0" rtlCol="0" anchor="ctr"/>
          <a:lstStyle/>
          <a:p>
            <a:pPr marL="0" indent="0">
              <a:buNone/>
            </a:pPr>
            <a:r>
              <a:rPr lang="en-US" sz="1600" b="1" dirty="0">
                <a:solidFill>
                  <a:srgbClr val="141413"/>
                </a:solidFill>
                <a:latin typeface="Lora" pitchFamily="34" charset="0"/>
                <a:ea typeface="Lora" pitchFamily="34" charset="-122"/>
                <a:cs typeface="Lora" pitchFamily="34" charset="-120"/>
              </a:rPr>
              <a:t>Recommended Next Steps</a:t>
            </a:r>
            <a:endParaRPr lang="en-US" sz="1600" dirty="0"/>
          </a:p>
        </p:txBody>
      </p:sp>
      <p:sp>
        <p:nvSpPr>
          <p:cNvPr id="7" name="Text 4"/>
          <p:cNvSpPr/>
          <p:nvPr/>
        </p:nvSpPr>
        <p:spPr>
          <a:xfrm>
            <a:off x="4754880" y="1463040"/>
            <a:ext cx="3840480" cy="2286000"/>
          </a:xfrm>
          <a:prstGeom prst="rect">
            <a:avLst/>
          </a:prstGeom>
          <a:noFill/>
          <a:ln/>
        </p:spPr>
        <p:txBody>
          <a:bodyPr wrap="square" rtlCol="0" anchor="t"/>
          <a:lstStyle/>
          <a:p>
            <a:pPr marL="342900" indent="-342900">
              <a:spcAft>
                <a:spcPts val="1000"/>
              </a:spcAft>
              <a:buSzPct val="100000"/>
              <a:buChar char="•"/>
            </a:pPr>
            <a:r>
              <a:rPr lang="en-US" sz="1300" dirty="0">
                <a:solidFill>
                  <a:srgbClr val="141413"/>
                </a:solidFill>
                <a:latin typeface="Lora" pitchFamily="34" charset="0"/>
                <a:ea typeface="Lora" pitchFamily="34" charset="-122"/>
                <a:cs typeface="Lora" pitchFamily="34" charset="-120"/>
              </a:rPr>
              <a:t>Audit your team's workflows for three tasks that should become shared project-scope skills</a:t>
            </a:r>
            <a:endParaRPr lang="en-US" sz="1300" dirty="0"/>
          </a:p>
          <a:p>
            <a:pPr marL="342900" indent="-342900">
              <a:spcAft>
                <a:spcPts val="1000"/>
              </a:spcAft>
              <a:buSzPct val="100000"/>
              <a:buChar char="•"/>
            </a:pPr>
            <a:r>
              <a:rPr lang="en-US" sz="1300" dirty="0">
                <a:solidFill>
                  <a:srgbClr val="141413"/>
                </a:solidFill>
                <a:latin typeface="Lora" pitchFamily="34" charset="0"/>
                <a:ea typeface="Lora" pitchFamily="34" charset="-122"/>
                <a:cs typeface="Lora" pitchFamily="34" charset="-120"/>
              </a:rPr>
              <a:t>Set up the agent-skills validator in your CI pipeline</a:t>
            </a:r>
            <a:endParaRPr lang="en-US" sz="1300" dirty="0"/>
          </a:p>
        </p:txBody>
      </p:sp>
      <p:sp>
        <p:nvSpPr>
          <p:cNvPr id="8" name="Shape 5"/>
          <p:cNvSpPr/>
          <p:nvPr/>
        </p:nvSpPr>
        <p:spPr>
          <a:xfrm>
            <a:off x="640080" y="3931920"/>
            <a:ext cx="7863840" cy="822960"/>
          </a:xfrm>
          <a:prstGeom prst="rect">
            <a:avLst/>
          </a:prstGeom>
          <a:solidFill>
            <a:srgbClr val="141413"/>
          </a:solidFill>
          <a:ln/>
        </p:spPr>
        <p:txBody>
          <a:bodyPr/>
          <a:lstStyle/>
          <a:p>
            <a:endParaRPr lang="en-US"/>
          </a:p>
        </p:txBody>
      </p:sp>
      <p:sp>
        <p:nvSpPr>
          <p:cNvPr id="9" name="Text 6"/>
          <p:cNvSpPr/>
          <p:nvPr/>
        </p:nvSpPr>
        <p:spPr>
          <a:xfrm>
            <a:off x="868680" y="3977640"/>
            <a:ext cx="2743200" cy="365760"/>
          </a:xfrm>
          <a:prstGeom prst="rect">
            <a:avLst/>
          </a:prstGeom>
          <a:noFill/>
          <a:ln/>
        </p:spPr>
        <p:txBody>
          <a:bodyPr wrap="square" lIns="0" tIns="0" rIns="0" bIns="0" rtlCol="0" anchor="ctr"/>
          <a:lstStyle/>
          <a:p>
            <a:pPr marL="0" indent="0">
              <a:buNone/>
            </a:pPr>
            <a:r>
              <a:rPr lang="en-US" sz="1400" b="1" dirty="0">
                <a:solidFill>
                  <a:srgbClr val="FAF9F5"/>
                </a:solidFill>
                <a:latin typeface="Lora" pitchFamily="34" charset="0"/>
                <a:ea typeface="Lora" pitchFamily="34" charset="-122"/>
                <a:cs typeface="Lora" pitchFamily="34" charset="-120"/>
              </a:rPr>
              <a:t>Questions or need help?</a:t>
            </a:r>
            <a:endParaRPr lang="en-US" sz="1400" dirty="0"/>
          </a:p>
        </p:txBody>
      </p:sp>
      <p:sp>
        <p:nvSpPr>
          <p:cNvPr id="10" name="Text 7"/>
          <p:cNvSpPr/>
          <p:nvPr/>
        </p:nvSpPr>
        <p:spPr>
          <a:xfrm>
            <a:off x="868680" y="4297680"/>
            <a:ext cx="7315200" cy="365760"/>
          </a:xfrm>
          <a:prstGeom prst="rect">
            <a:avLst/>
          </a:prstGeom>
          <a:noFill/>
          <a:ln/>
        </p:spPr>
        <p:txBody>
          <a:bodyPr wrap="square" lIns="0" tIns="0" rIns="0" bIns="0" rtlCol="0" anchor="ctr"/>
          <a:lstStyle/>
          <a:p>
            <a:pPr marL="0" indent="0">
              <a:buNone/>
            </a:pPr>
            <a:r>
              <a:rPr lang="en-US" sz="1200" dirty="0">
                <a:solidFill>
                  <a:srgbClr val="B0AEA5"/>
                </a:solidFill>
                <a:latin typeface="Lora" pitchFamily="34" charset="0"/>
                <a:ea typeface="Lora" pitchFamily="34" charset="-122"/>
                <a:cs typeface="Lora" pitchFamily="34" charset="-120"/>
              </a:rPr>
              <a:t>training@anthropic.com | Slack #claude-code-skills | Office hours: Thursdays 2-3pm PT</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40080" y="1645920"/>
            <a:ext cx="7315200" cy="914400"/>
          </a:xfrm>
          <a:prstGeom prst="rect">
            <a:avLst/>
          </a:prstGeom>
          <a:noFill/>
          <a:ln/>
        </p:spPr>
        <p:txBody>
          <a:bodyPr wrap="square" lIns="0" tIns="0" rIns="0" bIns="0" rtlCol="0" anchor="ctr"/>
          <a:lstStyle/>
          <a:p>
            <a:pPr marL="0" indent="0">
              <a:buNone/>
            </a:pPr>
            <a:r>
              <a:rPr lang="en-US" sz="4800" b="1" dirty="0">
                <a:solidFill>
                  <a:srgbClr val="FAF9F5"/>
                </a:solidFill>
                <a:latin typeface="Test Tiempos Headline Light" pitchFamily="34" charset="0"/>
                <a:ea typeface="Test Tiempos Headline Light" pitchFamily="34" charset="-122"/>
                <a:cs typeface="Test Tiempos Headline Light" pitchFamily="34" charset="-120"/>
              </a:rPr>
              <a:t>Questions?</a:t>
            </a:r>
            <a:endParaRPr lang="en-US" sz="4800" dirty="0"/>
          </a:p>
        </p:txBody>
      </p:sp>
      <p:sp>
        <p:nvSpPr>
          <p:cNvPr id="3" name="Text 1"/>
          <p:cNvSpPr/>
          <p:nvPr/>
        </p:nvSpPr>
        <p:spPr>
          <a:xfrm>
            <a:off x="640080" y="2926080"/>
            <a:ext cx="7315200" cy="457200"/>
          </a:xfrm>
          <a:prstGeom prst="rect">
            <a:avLst/>
          </a:prstGeom>
          <a:noFill/>
          <a:ln/>
        </p:spPr>
        <p:txBody>
          <a:bodyPr wrap="square" lIns="0" tIns="0" rIns="0" bIns="0" rtlCol="0" anchor="ctr"/>
          <a:lstStyle/>
          <a:p>
            <a:pPr marL="0" indent="0">
              <a:buNone/>
            </a:pPr>
            <a:r>
              <a:rPr lang="en-US" sz="1600" dirty="0">
                <a:solidFill>
                  <a:srgbClr val="D97757"/>
                </a:solidFill>
                <a:latin typeface="Lora" pitchFamily="34" charset="0"/>
                <a:ea typeface="Lora" pitchFamily="34" charset="-122"/>
                <a:cs typeface="Lora" pitchFamily="34" charset="-120"/>
              </a:rPr>
              <a:t>Your Trainer | training@anthropic.com | #claude-code-skills</a:t>
            </a:r>
            <a:endParaRPr lang="en-US" sz="1600" dirty="0"/>
          </a:p>
        </p:txBody>
      </p:sp>
      <p:sp>
        <p:nvSpPr>
          <p:cNvPr id="4" name="Text 2"/>
          <p:cNvSpPr/>
          <p:nvPr/>
        </p:nvSpPr>
        <p:spPr>
          <a:xfrm>
            <a:off x="640080" y="3566160"/>
            <a:ext cx="7315200" cy="365760"/>
          </a:xfrm>
          <a:prstGeom prst="rect">
            <a:avLst/>
          </a:prstGeom>
          <a:noFill/>
          <a:ln/>
        </p:spPr>
        <p:txBody>
          <a:bodyPr wrap="square" lIns="0" tIns="0" rIns="0" bIns="0" rtlCol="0" anchor="ctr"/>
          <a:lstStyle/>
          <a:p>
            <a:pPr marL="0" indent="0">
              <a:buNone/>
            </a:pPr>
            <a:r>
              <a:rPr lang="en-US" sz="1400" dirty="0">
                <a:solidFill>
                  <a:srgbClr val="6A9BCC"/>
                </a:solidFill>
                <a:latin typeface="Lora" pitchFamily="34" charset="0"/>
                <a:ea typeface="Lora" pitchFamily="34" charset="-122"/>
                <a:cs typeface="Lora" pitchFamily="34" charset="-120"/>
              </a:rPr>
              <a:t>forms.anthropic.com/training-feedback</a:t>
            </a:r>
            <a:endParaRPr lang="en-US" sz="1400" dirty="0"/>
          </a:p>
        </p:txBody>
      </p:sp>
    </p:spTree>
  </p:cSld>
  <p:clrMapOvr>
    <a:masterClrMapping/>
  </p:clrMapOvr>
</p:sld>
</file>

<file path=ppt/theme/theme1.xml><?xml version="1.0" encoding="utf-8"?>
<a:theme xmlns:a="http://schemas.openxmlformats.org/drawingml/2006/main" name="Anthropic theme">
  <a:themeElements>
    <a:clrScheme name="Custom 1">
      <a:dk1>
        <a:srgbClr val="141413"/>
      </a:dk1>
      <a:lt1>
        <a:srgbClr val="FAF9F5"/>
      </a:lt1>
      <a:dk2>
        <a:srgbClr val="B0AEA5"/>
      </a:dk2>
      <a:lt2>
        <a:srgbClr val="E8E6DC"/>
      </a:lt2>
      <a:accent1>
        <a:srgbClr val="D97757"/>
      </a:accent1>
      <a:accent2>
        <a:srgbClr val="6A9BCC"/>
      </a:accent2>
      <a:accent3>
        <a:srgbClr val="788C5D"/>
      </a:accent3>
      <a:accent4>
        <a:srgbClr val="B0AEA5"/>
      </a:accent4>
      <a:accent5>
        <a:srgbClr val="D4A47F"/>
      </a:accent5>
      <a:accent6>
        <a:srgbClr val="141413"/>
      </a:accent6>
      <a:hlink>
        <a:srgbClr val="6A9BCC"/>
      </a:hlink>
      <a:folHlink>
        <a:srgbClr val="D97757"/>
      </a:folHlink>
    </a:clrScheme>
    <a:fontScheme name="Anthropic">
      <a:majorFont>
        <a:latin typeface="Test Tiempos Headline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or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thropic theme" id="{5F584736-ACA1-6F4F-BBB6-7971DA643673}" vid="{0C1CBA2A-7D55-8C40-82F9-92E088EEFF1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229</TotalTime>
  <Words>10450</Words>
  <Application>Microsoft Macintosh PowerPoint</Application>
  <PresentationFormat>On-screen Show (16:9)</PresentationFormat>
  <Paragraphs>530</Paragraphs>
  <Slides>43</Slides>
  <Notes>43</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Courier New</vt:lpstr>
      <vt:lpstr>Lora</vt:lpstr>
      <vt:lpstr>Test Tiempos Headline Light</vt:lpstr>
      <vt:lpstr>Anthropic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Anthropic Training Template</dc:title>
  <dc:subject>PptxGenJS Presentation</dc:subject>
  <dc:creator>Anthropic Training Team</dc:creator>
  <cp:lastModifiedBy>Kylie Cowden</cp:lastModifiedBy>
  <cp:revision>15</cp:revision>
  <dcterms:created xsi:type="dcterms:W3CDTF">2026-02-28T19:46:15Z</dcterms:created>
  <dcterms:modified xsi:type="dcterms:W3CDTF">2026-03-02T07:15:14Z</dcterms:modified>
</cp:coreProperties>
</file>