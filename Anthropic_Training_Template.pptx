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71" r:id="rId9"/>
    <p:sldId id="262" r:id="rId10"/>
    <p:sldId id="263" r:id="rId11"/>
    <p:sldId id="274" r:id="rId12"/>
    <p:sldId id="272" r:id="rId13"/>
    <p:sldId id="264" r:id="rId14"/>
    <p:sldId id="265" r:id="rId15"/>
    <p:sldId id="266" r:id="rId16"/>
    <p:sldId id="267" r:id="rId17"/>
    <p:sldId id="275" r:id="rId18"/>
    <p:sldId id="268" r:id="rId19"/>
    <p:sldId id="269" r:id="rId20"/>
    <p:sldId id="270" r:id="rId21"/>
    <p:sldId id="277" r:id="rId22"/>
    <p:sldId id="278" r:id="rId23"/>
    <p:sldId id="279" r:id="rId24"/>
    <p:sldId id="280" r:id="rId25"/>
    <p:sldId id="28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8CDF"/>
    <a:srgbClr val="D5A480"/>
    <a:srgbClr val="D3B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44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81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TITLE SLIDE
-------------------------------
Welcome &amp; Introduction:
- Greet the audience and introduce yourself
- State the training topic and which Claude feature this covers
- Mention the target audience (developers, partners, or champions)
- Set expectations for duration and format
- Mention any prerequisites or prior knowledge needed
Key Setup:
- Ensure demo environment is ready
- Confirm audience has necessary access/credentials
- Share any links or resources in 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AGENDA
-------------------------------
Walk Through the Agenda:
- Briefly describe each section and what attendees will learn
- Highlight the knowledge checks and when they occur
- Mention approximate time for each section
- Ask if there are any specific topics the audience wants to focus on
Logistics:
- Explain how questions will be handled (live Q&amp;A, chat, hold until end)
- Mention any breaks for longer sessions
- Point out supplementary resources that will be shared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LEARNING OBJECTIVES
-------------------------------
Present Each Objective:
- Read each learning objective aloud
- Briefly explain what 'success' looks like for each objective
- Connect objectives to real-world use cases the audience cares about
- Mention which knowledge checks will assess each objective
Engagement:
- Ask audience to identify which objective is most relevant to them
- This helps you tailor emphasis throughout the session
Bloom's Taxonomy Reminder:
- Use action verbs that match the desired cognitive level
- Remember/Understand: define, describe, explain, identify
- Apply/Analyze: implement, configure, compare, troubleshoot
- Evaluate/Create: design, build, optimize, architect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SECTION DIVIDER
-------------------------------
Transition:
- Briefly recap what was covered in the previous section (if applicable)
- Introduce the new section topic and its relevance
- State what the audience will learn in this section
- Mention estimated duration
Pacing:
- Check time against your schedule
- Ask if there are questions from the previous section before moving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KEY CONCEPTS
-------------------------------
Teaching Approach:
- Walk through each concept card one at a time
- Use real-world examples or analogies for each concept
- Ask the audience for their experience with each concept
- Highlight connections between concepts
Tips:
- Don't read the card text verbatim — expand on it
- Use the demo environment to show each concept in action
- Pause for questions after every 2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- FULL-SCREEN IMAGE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Usage: Replace this placeholder with a full-bleed image (screenshot, diagram, photo, or infographic).</a:t>
            </a:r>
          </a:p>
          <a:p>
            <a:r>
              <a:rPr lang="en-US" dirty="0"/>
              <a:t>Image Guidelines: Use high-resolution images (minimum 1920x1080). Ensure text in the caption bar remains readable against the image.</a:t>
            </a:r>
          </a:p>
          <a:p>
            <a:r>
              <a:rPr lang="en-US" dirty="0"/>
              <a:t>Caption Bar: The semi-transparent dark bar at the bottom provides space for a caption and source attribution. Update both placeholders.</a:t>
            </a:r>
          </a:p>
          <a:p>
            <a:r>
              <a:rPr lang="en-US" dirty="0"/>
              <a:t>Delivery: Pause briefly to let participants absorb the visual before discussing. Use the image to reinforce the preceding content.</a:t>
            </a:r>
          </a:p>
          <a:p>
            <a:r>
              <a:rPr lang="en-US" dirty="0"/>
              <a:t>Accessibility: Describe the image verbally for participants who may have visual impairments.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STEP-BY-STEP PROCESS
-------------------------------
Delivery:
- Walk through each step sequentially
- DEMO each step live if possible
- Pause between steps for audience to follow along
- Highlight common mistakes or gotchas at each step
Hands-On:
- Consider having the audience follow along in their own environment
- Provide code snippets or commands in chat for copy-paste
- Check in with audience after each step to ensure they're keeping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- VIDEO TUTORIAL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Source: Select a relevant tutorial video from https://www.anthropic.com/learn or https://www.youtube.com/@claude</a:t>
            </a:r>
          </a:p>
          <a:p>
            <a:r>
              <a:rPr lang="en-US" dirty="0"/>
              <a:t>Setup: Test the video link before the session. Ensure audio works and the video is accessible to participants.</a:t>
            </a:r>
          </a:p>
          <a:p>
            <a:r>
              <a:rPr lang="en-US" dirty="0"/>
              <a:t>During Playback: Pause at key moments to highlight concepts. Ask participants to note observations.</a:t>
            </a:r>
          </a:p>
          <a:p>
            <a:r>
              <a:rPr lang="en-US" dirty="0"/>
              <a:t>After Video: Facilitate a brief discussion connecting the video content to the training objectives.</a:t>
            </a:r>
          </a:p>
          <a:p>
            <a:r>
              <a:rPr lang="en-US" dirty="0"/>
              <a:t>Fallback: If video cannot play, describe the key concepts shown and move to the next slide.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CODE / DEMO
-------------------------------
Demo Preparation:
- Have the code pre-loaded in your IDE or terminal
- Test the demo before the session to ensure it works
- Have a backup plan (screenshots/recording) if live demo fails
Delivery:
- Walk through the code line by line for key sections
- Explain WHY, not just WHAT the code does
- Show the output/result after running the code
- Point out best practices and anti-patterns
Audience Engagement:
- Ask audience to predict output before running
- Share the code snippet so audience can try it themselves
- Ask if anyone has questions about specific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COMPARISON
-------------------------------
Teaching Strategy:
- Start with the 'before' / 'without' side to establish baseline
- Then reveal the 'after' / 'with' side to show improvement
- Emphasize the delta — what changes and why it matters
- Use concrete metrics or examples where possible
Discussion:
- Ask audience about their current approach (left side)
- Discuss transition path from left to right
- Address potential concerns or tradeoffs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- FULL-SCREEN IMAGE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Usage: Replace this placeholder with a full-bleed image (screenshot, diagram, photo, or infographic).</a:t>
            </a:r>
          </a:p>
          <a:p>
            <a:r>
              <a:rPr lang="en-US" dirty="0"/>
              <a:t>Image Guidelines: Use high-resolution images (minimum 1920x1080). Ensure text in the caption bar remains readable against the image.</a:t>
            </a:r>
          </a:p>
          <a:p>
            <a:r>
              <a:rPr lang="en-US" dirty="0"/>
              <a:t>Caption Bar: The semi-transparent dark bar at the bottom provides space for a caption and source attribution. Update both placeholders.</a:t>
            </a:r>
          </a:p>
          <a:p>
            <a:r>
              <a:rPr lang="en-US" dirty="0"/>
              <a:t>Delivery: Pause briefly to let participants absorb the visual before discussing. Use the image to reinforce the preceding content.</a:t>
            </a:r>
          </a:p>
          <a:p>
            <a:r>
              <a:rPr lang="en-US" dirty="0"/>
              <a:t>Accessibility: Describe the image verbally for participants who may have visual impairments.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- VIDEO TUTORIAL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Source: Select a relevant tutorial video from https://www.anthropic.com/learn or https://www.youtube.com/@claude</a:t>
            </a:r>
          </a:p>
          <a:p>
            <a:r>
              <a:rPr lang="en-US" dirty="0"/>
              <a:t>Setup: Test the video link before the session. Ensure audio works and the video is accessible to participants.</a:t>
            </a:r>
          </a:p>
          <a:p>
            <a:r>
              <a:rPr lang="en-US" dirty="0"/>
              <a:t>During Playback: Pause at key moments to highlight concepts. Ask participants to note observations.</a:t>
            </a:r>
          </a:p>
          <a:p>
            <a:r>
              <a:rPr lang="en-US" dirty="0"/>
              <a:t>After Video: Facilitate a brief discussion connecting the video content to the training objectives.</a:t>
            </a:r>
          </a:p>
          <a:p>
            <a:r>
              <a:rPr lang="en-US" dirty="0"/>
              <a:t>Fallback: If video cannot play, describe the key concepts shown and move to the next slide.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KNOWLEDGE CHECK (MULTIPLE CHOICE)
-------------------------------
Correct Answer: [LETTER] — [Brief explanation]
Facilitation:
- Read the question aloud and give 30-60 seconds to think
- Use polls if available (Zoom poll, Slido, raise hands)
- Ask a volunteer to explain their answer before revealing
- Explain WHY the correct answer is right
- Explain WHY each distractor is wrong — this deepens understanding
If Most Get It Wrong:
- Don't rush past — this signals a gap
- Re-explain the concept using a different example
- Ask what was confusing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KNOWLEDGE CHECK (TRUE/FALSE)
-------------------------------
Correct Answer: [TRUE/FALSE]
Explanation: [Why this is the correct answer]
Facilitation:
- Read the statement clearly
- Give 15-30 seconds for audience to decide
- Use thumbs up/down or polls for response
- Reveal the answer and explain the reasoning
- Connect back to the specific concept being tested
Common Misconception:
- [Note any common misconception this question addresses]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DISCUSSION / OPEN-ENDED
-------------------------------
Facilitation Strategy:
- Pose the question and give 1-2 minutes of silent thinking time
- For virtual: use breakout rooms (3-4 people, 5 min)
- For in-person: pair-share then group discussion
- Use the guiding questions to redirect if discussion stalls
Expected Responses:
- [List 2-3 strong responses you'd hope to hear]
- [Note any responses that indicate misconceptions]
Wrap-Up:
- Synthesize key themes from the discussion
- Connect insights back to learning objectives
- Transition to next section or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HANDS-ON EXERCISE
-------------------------------
Setup:
- Ensure all participants have access to the required environment
- Share starter code or boilerplate if needed
- Set a visible timer for the exercise duration
During Exercise:
- Walk around (in-person) or monitor chat (virtual) for questions
- Provide hints for those who are stuck — don't give answers directly
- Check in at the halfway point
After Exercise:
- Ask 1-2 volunteers to share their solution
- Show the reference solution and explain key decisions
- Discuss alternative approaches
- Connect back to 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- REFLECTION</a:t>
            </a:r>
          </a:p>
          <a:p>
            <a:r>
              <a:rPr lang="en-US" dirty="0"/>
              <a:t>-------------------------------</a:t>
            </a:r>
          </a:p>
          <a:p>
            <a:r>
              <a:rPr lang="en-US" dirty="0"/>
              <a:t>Purpose: Give learners a structured pause to internalize what they learned and plan how to apply it. This bridges the gap between learning and doing.</a:t>
            </a:r>
          </a:p>
          <a:p>
            <a:r>
              <a:rPr lang="en-US" dirty="0"/>
              <a:t>Format: Allow 3-5 minutes of quiet individual reflection, then optionally invite 2-3 volunteers to share one response. Can also be done in pairs or small groups.</a:t>
            </a:r>
          </a:p>
          <a:p>
            <a:r>
              <a:rPr lang="en-US" dirty="0"/>
              <a:t>Customization: Replace the four prompt questions with prompts specific to your training topic. Keep them open-ended and action-oriented.</a:t>
            </a:r>
          </a:p>
          <a:p>
            <a:r>
              <a:rPr lang="en-US" dirty="0"/>
              <a:t>Tip: Consider providing sticky notes or a digital whiteboard for participants to capture their reflections. These can inform follow-up actions or coaching.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KEY TAKEAWAYS
-------------------------------
Summary:
- Recap each takeaway and connect it to a learning objective
- Ask participants to share which takeaway resonates most
- Reinforce the practical application of each point
Next Steps:
- Mention what participants should do after the training
- Provide links to documentation, sandbox environments, or follow-up materials
- Set expectations for follow-up sessions or office hours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RESOURCES &amp; NEXT STEPS
-------------------------------
Share Resources:
- Paste all links in the chat so participants can click directly
- Briefly describe each resource and when to use it
- Mention which resources are most important for immediate use
Next Steps:
- Be specific about what participants should do within 24-48 hours
- Mention any follow-up training or advanced sessions available
- Explain how to get support if they get stuck
Feedback:
- Share the training feedback form link
- Ask for verbal feedback on what went well and what could improve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CLOSING / Q&amp;A
-------------------------------
Q&amp;A Session:
- Open the floor for questions
- If no questions, prompt with: 'A common question I get is...'
- For questions you can't answer, note them and follow up later
Closing:
- Thank the audience for their time and participation
- Remind them of the feedback form
- Reiterate the key contact channels for support
- Share any recording/slides access information
Post-Session:
- Send follow-up email with slides, recording link, and resources
- Review feedback form responses
- Note any content updates needed for future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50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RAND">
    <p:bg>
      <p:bgPr>
        <a:solidFill>
          <a:srgbClr val="D977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letter on a black background  AI-generated content may be incorrect.">
            <a:extLst>
              <a:ext uri="{FF2B5EF4-FFF2-40B4-BE49-F238E27FC236}">
                <a16:creationId xmlns:a16="http://schemas.microsoft.com/office/drawing/2014/main" id="{50A4B41F-2666-D493-A8B5-179058A0D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82" y="366548"/>
            <a:ext cx="487680" cy="342900"/>
          </a:xfrm>
          <a:prstGeom prst="rect">
            <a:avLst/>
          </a:prstGeom>
        </p:spPr>
      </p:pic>
      <p:pic>
        <p:nvPicPr>
          <p:cNvPr id="3" name="Picture 2" descr="A white letter on a black background  AI-generated content may be incorrect.">
            <a:extLst>
              <a:ext uri="{FF2B5EF4-FFF2-40B4-BE49-F238E27FC236}">
                <a16:creationId xmlns:a16="http://schemas.microsoft.com/office/drawing/2014/main" id="{C8B91FC9-AF61-A9F8-42DD-FE0DCE44C2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7482" y="366548"/>
            <a:ext cx="48768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1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ORANGE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96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BLUE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0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GREEN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171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NOWLEDGE_CHECK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A9BC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57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144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bjdBVZa66oU?start=1&amp;feature=oembed" TargetMode="Externa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[TRAINING TITLE]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[Feature Name] | [Version/Date]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14141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[AUDIENCE: Developers / Partners / Champions]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4864" cy="6858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57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54480" y="1280160"/>
            <a:ext cx="7019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[Topic 1]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first section]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4864" cy="68580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A9BCC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7019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[Topic 2]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second section]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4864" cy="68580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3108960"/>
            <a:ext cx="7019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[Topic 3]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third section]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4864" cy="685800"/>
          </a:xfrm>
          <a:prstGeom prst="rect">
            <a:avLst/>
          </a:prstGeom>
          <a:solidFill>
            <a:srgbClr val="D5A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5A480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04</a:t>
            </a:r>
            <a:endParaRPr lang="en-US" sz="2400" dirty="0">
              <a:solidFill>
                <a:srgbClr val="D5A48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7019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[Topic 4 / Knowledge Check]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assessment]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657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Today you’ll learn...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By the end of this training, you will be able to: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864" cy="65836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37742" y="1655064"/>
            <a:ext cx="71373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[Objective 1: Use action verb — e.g., Explain, Implement, Configure, Demonstrate]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3774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0080" y="2377440"/>
            <a:ext cx="54864" cy="65836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237742" y="2478024"/>
            <a:ext cx="71373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[Objective 2: Use action verb — e.g., Identify, Analyze, Compare, Evaluate]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2004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40080" y="3200400"/>
            <a:ext cx="54864" cy="65836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1234440" y="3300984"/>
            <a:ext cx="7140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[Objective 3: Use action verb — e.g., Build, Integrate, Deploy, Troubleshoot]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402336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4864" cy="658368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1234440" y="4123944"/>
            <a:ext cx="71406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[Objective 4: Use action verb — e.g., Apply, Design, Optimize, Customize]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B40941-33AC-23CE-FE4C-C5BC4EE48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2591562"/>
            <a:ext cx="271018" cy="271018"/>
          </a:xfrm>
          <a:prstGeom prst="rect">
            <a:avLst/>
          </a:prstGeom>
        </p:spPr>
      </p:pic>
      <p:pic>
        <p:nvPicPr>
          <p:cNvPr id="28" name="Picture 27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110B13F6-591E-5747-4F57-0FD397576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3402076"/>
            <a:ext cx="274320" cy="274320"/>
          </a:xfrm>
          <a:prstGeom prst="rect">
            <a:avLst/>
          </a:prstGeom>
        </p:spPr>
      </p:pic>
      <p:pic>
        <p:nvPicPr>
          <p:cNvPr id="32" name="Picture 31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B3D6FEDE-7748-2DCC-DDD4-7192F9BEB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4215384"/>
            <a:ext cx="274320" cy="274320"/>
          </a:xfrm>
          <a:prstGeom prst="rect">
            <a:avLst/>
          </a:prstGeom>
        </p:spPr>
      </p:pic>
      <p:pic>
        <p:nvPicPr>
          <p:cNvPr id="34" name="Picture 33" descr="A black background with a black square  AI-generated content may be incorrect.">
            <a:extLst>
              <a:ext uri="{FF2B5EF4-FFF2-40B4-BE49-F238E27FC236}">
                <a16:creationId xmlns:a16="http://schemas.microsoft.com/office/drawing/2014/main" id="{4CE821F1-65BE-9E3E-9500-7441F1A913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" y="1767967"/>
            <a:ext cx="271018" cy="2710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88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[Chapter N]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this section covers and why it matters]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141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[~X minutes]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[Concept title]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8B8C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42797" y="1234440"/>
            <a:ext cx="33463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[Concept A]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[Explain the concept clearly. Keep to 2-3 sentences maximum.]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262372" y="1234440"/>
            <a:ext cx="3327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[Concept B]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9204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[Explain the concept clearly. Keep to 2-3 sentences maximum.]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3977640" cy="54864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078992" y="315468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[Concept C]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008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[Explain the concept clearly. Keep to 2-3 sentences maximum.]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297180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3977640" cy="54864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5330952" y="3154680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[Concept D]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89204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[Explain the concept clearly. Keep to 2-3 sentences maximum.]</a:t>
            </a:r>
            <a:endParaRPr lang="en-US" sz="1200" dirty="0"/>
          </a:p>
        </p:txBody>
      </p:sp>
      <p:pic>
        <p:nvPicPr>
          <p:cNvPr id="25" name="Picture 24" descr="A purple and black logo  AI-generated content may be incorrect.">
            <a:extLst>
              <a:ext uri="{FF2B5EF4-FFF2-40B4-BE49-F238E27FC236}">
                <a16:creationId xmlns:a16="http://schemas.microsoft.com/office/drawing/2014/main" id="{FB21F7C6-8317-3594-7C4A-DAF5FDD25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38834"/>
            <a:ext cx="256032" cy="256032"/>
          </a:xfrm>
          <a:prstGeom prst="rect">
            <a:avLst/>
          </a:prstGeom>
        </p:spPr>
      </p:pic>
      <p:pic>
        <p:nvPicPr>
          <p:cNvPr id="27" name="Picture 26" descr="A logo of a network  AI-generated content may be incorrect.">
            <a:extLst>
              <a:ext uri="{FF2B5EF4-FFF2-40B4-BE49-F238E27FC236}">
                <a16:creationId xmlns:a16="http://schemas.microsoft.com/office/drawing/2014/main" id="{8B4B857E-4628-0F54-6C1C-C75FD9BDC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66567"/>
            <a:ext cx="256032" cy="256032"/>
          </a:xfrm>
          <a:prstGeom prst="rect">
            <a:avLst/>
          </a:prstGeom>
        </p:spPr>
      </p:pic>
      <p:pic>
        <p:nvPicPr>
          <p:cNvPr id="29" name="Picture 28" descr="A blue and black logo  AI-generated content may be incorrect.">
            <a:extLst>
              <a:ext uri="{FF2B5EF4-FFF2-40B4-BE49-F238E27FC236}">
                <a16:creationId xmlns:a16="http://schemas.microsoft.com/office/drawing/2014/main" id="{F0DB1518-E8B2-AD73-D1BB-51AE1A4C9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55264"/>
            <a:ext cx="256032" cy="256032"/>
          </a:xfrm>
          <a:prstGeom prst="rect">
            <a:avLst/>
          </a:prstGeom>
        </p:spPr>
      </p:pic>
      <p:pic>
        <p:nvPicPr>
          <p:cNvPr id="31" name="Picture 30" descr="A magnifying glass in a circle  AI-generated content may be incorrect.">
            <a:extLst>
              <a:ext uri="{FF2B5EF4-FFF2-40B4-BE49-F238E27FC236}">
                <a16:creationId xmlns:a16="http://schemas.microsoft.com/office/drawing/2014/main" id="{04B4D812-9AF8-BAC7-990F-8A55C46B9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845" y="1347724"/>
            <a:ext cx="259842" cy="259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Area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IconCircle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D97757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ImageIcon"/>
          <p:cNvSpPr/>
          <p:nvPr/>
        </p:nvSpPr>
        <p:spPr>
          <a:xfrm>
            <a:off x="4343400" y="205740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5" y="10"/>
                </a:moveTo>
                <a:lnTo>
                  <a:pt x="95" y="10"/>
                </a:lnTo>
                <a:lnTo>
                  <a:pt x="95" y="90"/>
                </a:lnTo>
                <a:lnTo>
                  <a:pt x="5" y="90"/>
                </a:lnTo>
                <a:close/>
                <a:moveTo>
                  <a:pt x="5" y="90"/>
                </a:moveTo>
                <a:lnTo>
                  <a:pt x="30" y="60"/>
                </a:lnTo>
                <a:lnTo>
                  <a:pt x="50" y="75"/>
                </a:lnTo>
                <a:lnTo>
                  <a:pt x="70" y="45"/>
                </a:lnTo>
                <a:lnTo>
                  <a:pt x="95" y="70"/>
                </a:lnTo>
                <a:moveTo>
                  <a:pt x="25" y="35"/>
                </a:moveTo>
                <a:lnTo>
                  <a:pt x="30" y="30"/>
                </a:lnTo>
                <a:lnTo>
                  <a:pt x="35" y="35"/>
                </a:lnTo>
                <a:lnTo>
                  <a:pt x="30" y="40"/>
                </a:lnTo>
                <a:close/>
              </a:path>
            </a:pathLst>
          </a:custGeom>
          <a:noFill/>
          <a:ln w="12700">
            <a:solidFill>
              <a:srgbClr val="D977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PlaceholderLabel"/>
          <p:cNvSpPr/>
          <p:nvPr/>
        </p:nvSpPr>
        <p:spPr>
          <a:xfrm>
            <a:off x="228600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FULL-SCREEN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[Replace this slide with a full-screen image]</a:t>
            </a:r>
            <a:endParaRPr lang="en-US" sz="1000" dirty="0"/>
          </a:p>
        </p:txBody>
      </p:sp>
      <p:sp>
        <p:nvSpPr>
          <p:cNvPr id="6" name="CaptionBar"/>
          <p:cNvSpPr/>
          <p:nvPr/>
        </p:nvSpPr>
        <p:spPr>
          <a:xfrm>
            <a:off x="0" y="4571999"/>
            <a:ext cx="9144000" cy="571501"/>
          </a:xfrm>
          <a:prstGeom prst="rect">
            <a:avLst/>
          </a:prstGeom>
          <a:solidFill>
            <a:srgbClr val="141413">
              <a:alpha val="70000"/>
            </a:srgbClr>
          </a:solidFill>
          <a:ln>
            <a:noFill/>
          </a:ln>
        </p:spPr>
        <p:txBody>
          <a:bodyPr wrap="square" lIns="457200" rIns="4572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5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[Image Caption]</a:t>
            </a:r>
            <a:r>
              <a:rPr lang="en-US" sz="11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  —  [additional context]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[Process / How-To Title]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0" cy="365760"/>
          </a:xfrm>
          <a:prstGeom prst="line">
            <a:avLst/>
          </a:prstGeom>
          <a:noFill/>
          <a:ln w="254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258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[Step Title]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444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to do and why]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0" cy="365760"/>
          </a:xfrm>
          <a:prstGeom prst="line">
            <a:avLst/>
          </a:prstGeom>
          <a:noFill/>
          <a:ln w="254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[Step Title]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404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to do and why]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0" cy="365760"/>
          </a:xfrm>
          <a:prstGeom prst="line">
            <a:avLst/>
          </a:prstGeom>
          <a:noFill/>
          <a:ln w="254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258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[Step Title]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3649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to do and why]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[Step Title]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4325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to do and why]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nline Media 8" descr="What are skills?">
            <a:hlinkClick r:id="" action="ppaction://media"/>
            <a:extLst>
              <a:ext uri="{FF2B5EF4-FFF2-40B4-BE49-F238E27FC236}">
                <a16:creationId xmlns:a16="http://schemas.microsoft.com/office/drawing/2014/main" id="{63FE801A-0387-EEA4-3573-B39F38AF7C7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66674" y="-98201"/>
            <a:ext cx="9277347" cy="52417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27432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[Code example / Demo title]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solidFill>
            <a:srgbClr val="E8E6D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solidFill>
            <a:srgbClr val="D4D2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630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[filename.py / terminal]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46304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code example here]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[Use monospace font — Consolas or Courier New]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[Keep to 12-15 lines maximum]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[Highlight key lines with comments]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788C5D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4160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[Key takeaway or important note about this code example]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[Comparison Title]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749040" cy="457200"/>
          </a:xfrm>
          <a:prstGeom prst="rect">
            <a:avLst/>
          </a:prstGeom>
          <a:solidFill>
            <a:srgbClr val="B0AE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[Before / Option A / Without]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1051560"/>
            <a:ext cx="3749040" cy="457200"/>
          </a:xfrm>
          <a:prstGeom prst="rect">
            <a:avLst/>
          </a:prstGeom>
          <a:solidFill>
            <a:srgbClr val="D9775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[After / Option B / With]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[Point 1 for this side]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[Point 2 for this side]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[Point 3 for this side]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54864" cy="30175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[Point 1 for this side]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[Point 2 for this side]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[Point 3 for this side]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Area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D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IconCircle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D97757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ImageIcon"/>
          <p:cNvSpPr/>
          <p:nvPr/>
        </p:nvSpPr>
        <p:spPr>
          <a:xfrm>
            <a:off x="4343400" y="2057400"/>
            <a:ext cx="457200" cy="457200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5" y="10"/>
                </a:moveTo>
                <a:lnTo>
                  <a:pt x="95" y="10"/>
                </a:lnTo>
                <a:lnTo>
                  <a:pt x="95" y="90"/>
                </a:lnTo>
                <a:lnTo>
                  <a:pt x="5" y="90"/>
                </a:lnTo>
                <a:close/>
                <a:moveTo>
                  <a:pt x="5" y="90"/>
                </a:moveTo>
                <a:lnTo>
                  <a:pt x="30" y="60"/>
                </a:lnTo>
                <a:lnTo>
                  <a:pt x="50" y="75"/>
                </a:lnTo>
                <a:lnTo>
                  <a:pt x="70" y="45"/>
                </a:lnTo>
                <a:lnTo>
                  <a:pt x="95" y="70"/>
                </a:lnTo>
                <a:moveTo>
                  <a:pt x="25" y="35"/>
                </a:moveTo>
                <a:lnTo>
                  <a:pt x="30" y="30"/>
                </a:lnTo>
                <a:lnTo>
                  <a:pt x="35" y="35"/>
                </a:lnTo>
                <a:lnTo>
                  <a:pt x="30" y="40"/>
                </a:lnTo>
                <a:close/>
              </a:path>
            </a:pathLst>
          </a:custGeom>
          <a:noFill/>
          <a:ln w="12700">
            <a:solidFill>
              <a:srgbClr val="D977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PlaceholderLabel"/>
          <p:cNvSpPr/>
          <p:nvPr/>
        </p:nvSpPr>
        <p:spPr>
          <a:xfrm>
            <a:off x="228600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FULL-SCREEN IMAGE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[Replace this slide with a full-screen image]</a:t>
            </a:r>
            <a:endParaRPr lang="en-US" sz="1000" dirty="0"/>
          </a:p>
        </p:txBody>
      </p:sp>
      <p:sp>
        <p:nvSpPr>
          <p:cNvPr id="6" name="CaptionBar"/>
          <p:cNvSpPr/>
          <p:nvPr/>
        </p:nvSpPr>
        <p:spPr>
          <a:xfrm>
            <a:off x="0" y="4571999"/>
            <a:ext cx="9144000" cy="571501"/>
          </a:xfrm>
          <a:prstGeom prst="rect">
            <a:avLst/>
          </a:prstGeom>
          <a:solidFill>
            <a:srgbClr val="141413">
              <a:alpha val="70000"/>
            </a:srgbClr>
          </a:solidFill>
          <a:ln>
            <a:noFill/>
          </a:ln>
        </p:spPr>
        <p:txBody>
          <a:bodyPr wrap="square" lIns="457200" rIns="4572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5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[Image Caption]</a:t>
            </a:r>
            <a:r>
              <a:rPr lang="en-US" sz="11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  —  [Source or additional context]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[Video Title]</a:t>
            </a:r>
            <a:endParaRPr lang="en-US" sz="2400" dirty="0"/>
          </a:p>
        </p:txBody>
      </p:sp>
      <p:sp>
        <p:nvSpPr>
          <p:cNvPr id="3" name="Subtitle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participants will learn from this video]</a:t>
            </a:r>
            <a:endParaRPr lang="en-US" sz="1200" dirty="0"/>
          </a:p>
        </p:txBody>
      </p:sp>
      <p:sp>
        <p:nvSpPr>
          <p:cNvPr id="4" name="VideoArea"/>
          <p:cNvSpPr/>
          <p:nvPr/>
        </p:nvSpPr>
        <p:spPr>
          <a:xfrm>
            <a:off x="914400" y="1097280"/>
            <a:ext cx="7315200" cy="3429000"/>
          </a:xfrm>
          <a:prstGeom prst="roundRect">
            <a:avLst>
              <a:gd name="adj" fmla="val 3000"/>
            </a:avLst>
          </a:prstGeom>
          <a:solidFill>
            <a:srgbClr val="141413"/>
          </a:solidFill>
          <a:ln w="6350">
            <a:solidFill>
              <a:srgbClr val="E8E6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PlayCircle"/>
          <p:cNvSpPr/>
          <p:nvPr/>
        </p:nvSpPr>
        <p:spPr>
          <a:xfrm>
            <a:off x="4114800" y="2400300"/>
            <a:ext cx="914400" cy="914400"/>
          </a:xfrm>
          <a:prstGeom prst="ellipse">
            <a:avLst/>
          </a:prstGeom>
          <a:solidFill>
            <a:srgbClr val="D97757">
              <a:alpha val="8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layTriangle"/>
          <p:cNvSpPr/>
          <p:nvPr/>
        </p:nvSpPr>
        <p:spPr>
          <a:xfrm>
            <a:off x="4343400" y="2606040"/>
            <a:ext cx="457200" cy="502920"/>
          </a:xfrm>
          <a:custGeom>
            <a:avLst/>
            <a:gdLst/>
            <a:ahLst/>
            <a:cxnLst/>
            <a:rect l="0" t="0" r="0" b="0"/>
            <a:pathLst>
              <a:path w="100" h="100">
                <a:moveTo>
                  <a:pt x="0" y="0"/>
                </a:moveTo>
                <a:lnTo>
                  <a:pt x="100" y="50"/>
                </a:lnTo>
                <a:lnTo>
                  <a:pt x="0" y="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VideoLabel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VIDEO TUTORIAL</a:t>
            </a:r>
            <a:endParaRPr lang="en-US" sz="1000" dirty="0"/>
          </a:p>
        </p:txBody>
      </p:sp>
      <p:sp>
        <p:nvSpPr>
          <p:cNvPr id="8" name="URLPlaceholder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16667"/>
            </a:avLst>
          </a:prstGeom>
          <a:solidFill>
            <a:srgbClr val="E8E6DC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9BCC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[Video URL from anthropic.com/learn or youtube.com/@claude]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82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Knowledge check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8580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A9BCC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MULTIPLE CHOICE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[Question text goes here? Make it scenario-based when possible.]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92024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[Answer option A]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67004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2761488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67004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[Answer option B]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341985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" y="3511296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63040" y="3419856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[Answer option C]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16966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" y="4261104"/>
            <a:ext cx="411480" cy="411480"/>
          </a:xfrm>
          <a:prstGeom prst="ellipse">
            <a:avLst/>
          </a:prstGeom>
          <a:solidFill>
            <a:srgbClr val="B0AE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4261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63040" y="4169664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[Answer option D]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82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Knowledge check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85800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A9BCC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[Statement to evaluate — make it specific and unambiguous]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3749040" cy="54864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5146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TRUE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1440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[Why this would be true]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228600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54880" y="2286000"/>
            <a:ext cx="374904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309360" y="25280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57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X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75488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57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FALSE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02920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[Why this would be false]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82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4864" cy="14630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8827" y="1371600"/>
            <a:ext cx="758509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[Open-ended question or scenario for discussion]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Discussion Guide: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[Guiding question 1 to steer discussion]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[Guiding question 2 to deepen thinking]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[Guiding question 3 to connect to practice]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82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Hands-on exercise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[Exercise Title]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[Describe what participants will build, configure, or implement]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303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Task 1: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592980" y="2194560"/>
            <a:ext cx="4259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[First task description]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074670"/>
            <a:ext cx="5303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8155" y="3074670"/>
            <a:ext cx="54864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1035" y="307467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Task 2: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92980" y="3154680"/>
            <a:ext cx="4259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[Second task description]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046220"/>
            <a:ext cx="5303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38155" y="4046220"/>
            <a:ext cx="54864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68680" y="40462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Task 3: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92980" y="4137660"/>
            <a:ext cx="4259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[Third task description]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2103120"/>
            <a:ext cx="2286000" cy="26974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Time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179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[X min]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492240" y="3108960"/>
            <a:ext cx="1737360" cy="0"/>
          </a:xfrm>
          <a:prstGeom prst="line">
            <a:avLst/>
          </a:prstGeom>
          <a:noFill/>
          <a:ln w="12700">
            <a:solidFill>
              <a:srgbClr val="B0AEA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1792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Success Criteria</a:t>
            </a:r>
            <a:endParaRPr lang="en-US" sz="1100" dirty="0">
              <a:solidFill>
                <a:schemeClr val="accent6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0080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'done' looks like]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Accent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88C5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Band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788C5D">
              <a:alpha val="12000"/>
            </a:srgbClr>
          </a:solidFill>
          <a:ln>
            <a:noFill/>
          </a:ln>
        </p:spPr>
        <p:txBody>
          <a:bodyPr wrap="square" lIns="457200" rIns="4572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lIns="0" rIns="0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Reflect and apply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 lIns="0" r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Take a moment to consider how you will apply what you've learned</a:t>
            </a:r>
            <a:endParaRPr lang="en-US" sz="1200" dirty="0"/>
          </a:p>
        </p:txBody>
      </p:sp>
      <p:sp>
        <p:nvSpPr>
          <p:cNvPr id="6" name="Prompt1Card"/>
          <p:cNvSpPr/>
          <p:nvPr/>
        </p:nvSpPr>
        <p:spPr>
          <a:xfrm>
            <a:off x="457200" y="1828800"/>
            <a:ext cx="3886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88C5D">
                <a:alpha val="40000"/>
              </a:srgbClr>
            </a:solidFill>
          </a:ln>
        </p:spPr>
        <p:txBody>
          <a:bodyPr wrap="square" lIns="228600" tIns="182880" rIns="22860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WHAT I LEARNED</a:t>
            </a:r>
            <a:endParaRPr lang="en-US" sz="10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was the most important concept or skill you gained from this training?]</a:t>
            </a:r>
            <a:endParaRPr lang="en-US" sz="1200" dirty="0"/>
          </a:p>
        </p:txBody>
      </p:sp>
      <p:sp>
        <p:nvSpPr>
          <p:cNvPr id="7" name="Prompt2Card"/>
          <p:cNvSpPr/>
          <p:nvPr/>
        </p:nvSpPr>
        <p:spPr>
          <a:xfrm>
            <a:off x="4800600" y="1828800"/>
            <a:ext cx="3886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88C5D">
                <a:alpha val="40000"/>
              </a:srgbClr>
            </a:solidFill>
          </a:ln>
        </p:spPr>
        <p:txBody>
          <a:bodyPr wrap="square" lIns="228600" tIns="182880" rIns="22860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HOW I'LL USE IT</a:t>
            </a:r>
            <a:endParaRPr lang="en-US" sz="10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[How will you apply what you learned in your day-to-day work within the next week?]</a:t>
            </a:r>
            <a:endParaRPr lang="en-US" sz="1200" dirty="0"/>
          </a:p>
        </p:txBody>
      </p:sp>
      <p:sp>
        <p:nvSpPr>
          <p:cNvPr id="8" name="Prompt3Card"/>
          <p:cNvSpPr/>
          <p:nvPr/>
        </p:nvSpPr>
        <p:spPr>
          <a:xfrm>
            <a:off x="457200" y="3383280"/>
            <a:ext cx="3886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88C5D">
                <a:alpha val="40000"/>
              </a:srgbClr>
            </a:solidFill>
          </a:ln>
        </p:spPr>
        <p:txBody>
          <a:bodyPr wrap="square" lIns="228600" tIns="182880" rIns="22860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WHAT SURPRISED ME</a:t>
            </a:r>
            <a:endParaRPr lang="en-US" sz="10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[Was there anything unexpected or that changed the way you think about this topic?]</a:t>
            </a:r>
            <a:endParaRPr lang="en-US" sz="1200" dirty="0"/>
          </a:p>
        </p:txBody>
      </p:sp>
      <p:sp>
        <p:nvSpPr>
          <p:cNvPr id="9" name="Prompt4Card"/>
          <p:cNvSpPr/>
          <p:nvPr/>
        </p:nvSpPr>
        <p:spPr>
          <a:xfrm>
            <a:off x="4800600" y="3383280"/>
            <a:ext cx="38862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88C5D">
                <a:alpha val="40000"/>
              </a:srgbClr>
            </a:solidFill>
          </a:ln>
        </p:spPr>
        <p:txBody>
          <a:bodyPr wrap="square" lIns="228600" tIns="182880" rIns="228600" bIns="18288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QUESTIONS I STILL HAVE</a:t>
            </a:r>
            <a:endParaRPr lang="en-US" sz="1000" dirty="0"/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[What areas do you want to explore further or need more clarity on?]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18872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54864" cy="9601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91640" y="11887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[First key takeaway — what should they remember?]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54864" cy="96012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91640" y="237744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[Second key takeaway — what should they be able to do?]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356616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40080" y="3566160"/>
            <a:ext cx="54864" cy="96012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4400" y="374904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91640" y="356616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[Third key takeaway — what should they apply?]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200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Resources and next steps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4790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A9BCC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[Resource 1: API Documentation]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A9BCC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[Resource 2: Getting Started Guide]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A9BCC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[Resource 3: Code Examples Repository]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A9BCC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[Resource 4: Community Forum / Support]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[Action item 1 with timeline]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[Action item 2 with timeline]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[Action item 3 with timeline]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solidFill>
            <a:srgbClr val="1414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5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Questions or need help?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[support-channel@anthropic.com] | [Slack #channel-name] | [Office hours schedule]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[Presenter Name] | [Email] | [Slack Handle]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[Training Feedback Form URL]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75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[Chapter 2]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this section covers and why it matters]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141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[~X minutes]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D8F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[Chapter 3]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this section covers and why it matters]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141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[~X minutes]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EA5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[Chapter 4]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this section covers and why it matters]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141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[~X minutes]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DB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[Chapter 5]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this section covers and why it matters]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141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[~X minutes]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CC0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[Chapter 6]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141413"/>
                </a:solidFill>
                <a:latin typeface="Test Tiempos Headline Light" pitchFamily="34" charset="0"/>
                <a:ea typeface="Test Tiempos Headline Light" pitchFamily="34" charset="-122"/>
                <a:cs typeface="Test Tiempos Headline Light" pitchFamily="34" charset="-120"/>
              </a:rPr>
              <a:t>[Section title]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1413"/>
                </a:solidFill>
                <a:latin typeface="Test Tiempos Text" pitchFamily="34" charset="0"/>
                <a:ea typeface="Test Tiempos Text" pitchFamily="34" charset="-122"/>
                <a:cs typeface="Test Tiempos Text" pitchFamily="34" charset="-120"/>
              </a:rPr>
              <a:t>[Brief description of what this section covers and why it matters]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4141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413"/>
                </a:solidFill>
                <a:latin typeface="Styrene A Medium Trial" pitchFamily="34" charset="0"/>
                <a:ea typeface="Styrene A Medium Trial" pitchFamily="34" charset="-122"/>
                <a:cs typeface="Styrene A Medium Trial" pitchFamily="34" charset="-120"/>
              </a:rPr>
              <a:t>[~X minutes]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theme">
  <a:themeElements>
    <a:clrScheme name="Custom 2">
      <a:dk1>
        <a:srgbClr val="141413"/>
      </a:dk1>
      <a:lt1>
        <a:srgbClr val="FAF9F5"/>
      </a:lt1>
      <a:dk2>
        <a:srgbClr val="B0AEA5"/>
      </a:dk2>
      <a:lt2>
        <a:srgbClr val="E8E6DC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D4A47F"/>
      </a:accent5>
      <a:accent6>
        <a:srgbClr val="141413"/>
      </a:accent6>
      <a:hlink>
        <a:srgbClr val="6A9BCC"/>
      </a:hlink>
      <a:folHlink>
        <a:srgbClr val="D97757"/>
      </a:folHlink>
    </a:clrScheme>
    <a:fontScheme name="Anthropic">
      <a:majorFont>
        <a:latin typeface="Test Tiempo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yrene A Medium T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thropic theme" id="{5F584736-ACA1-6F4F-BBB6-7971DA643673}" vid="{0C1CBA2A-7D55-8C40-82F9-92E088EEFF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3151</Words>
  <Application>Microsoft Macintosh PowerPoint</Application>
  <PresentationFormat>On-screen Show (16:9)</PresentationFormat>
  <Paragraphs>237</Paragraphs>
  <Slides>25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Courier New</vt:lpstr>
      <vt:lpstr>Styrene A Medium Trial</vt:lpstr>
      <vt:lpstr>Test Tiempos Headline Light</vt:lpstr>
      <vt:lpstr>Test Tiempos Text</vt:lpstr>
      <vt:lpstr>Anthropic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Training Template</dc:title>
  <dc:subject>PptxGenJS Presentation</dc:subject>
  <dc:creator>Anthropic Training Team</dc:creator>
  <cp:lastModifiedBy>Kylie Cowden</cp:lastModifiedBy>
  <cp:revision>7</cp:revision>
  <dcterms:created xsi:type="dcterms:W3CDTF">2026-02-28T19:46:15Z</dcterms:created>
  <dcterms:modified xsi:type="dcterms:W3CDTF">2026-03-02T04:07:27Z</dcterms:modified>
</cp:coreProperties>
</file>